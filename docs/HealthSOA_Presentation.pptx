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72" r:id="rId14"/>
    <p:sldId id="273" r:id="rId15"/>
    <p:sldId id="274" r:id="rId16"/>
    <p:sldId id="275" r:id="rId17"/>
    <p:sldId id="271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97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5632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8138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HealthSOA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02920" y="2057400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Platform for Pre-Procedure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" y="324612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B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Service-Oriented Software Engineering  ·  A.A. 2025/2026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361188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B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dell'Aquila  ·  DISIM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— Domain, Architecture &amp; Infrastructure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B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&amp; Motivation · System Overview · Infrastructure · Load Balancing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&amp; Motivation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" cy="822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685800" y="127101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SOAP Integration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57276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regional Anagrafe Sanitaria is a real-world institutional system that exposes typed contracts via WSDL (HL7-style). Contract-first SOAP is imposed by the interoperability requirement — not an aesthetic choice.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39696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457200" y="2139696"/>
            <a:ext cx="64008" cy="822960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685800" y="2203704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Lab Processing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50545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 panel ordered urgently has real latency while the biological sample is processed. A synchronous call would hold threads and connections; asynchrony is mandated by the physics of the problem.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72384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457200" y="3072384"/>
            <a:ext cx="64008" cy="822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685800" y="31363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Parallel Branches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343814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fitness assessment needs the diagnostic bundle (lab + imaging) AND the clinical history (registry + prescriptions) at the same time. The two data-collection branches are logically independent; sequential execution would needlessly double latency.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005072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457200" y="4005072"/>
            <a:ext cx="64008" cy="822960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85800" y="4069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Bursty Peak Load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43708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Anagrafe and Laboratorio sit on the critical path of every workflow and are hit by many clinicians simultaneously during morning rounds and ER rushes. Load is bursty and read-heavy — replication is motivated by specific system behaviour.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6903720" y="3547872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449884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pic>
        <p:nvPicPr>
          <p:cNvPr id="42" name="Immagine 41">
            <a:extLst>
              <a:ext uri="{FF2B5EF4-FFF2-40B4-BE49-F238E27FC236}">
                <a16:creationId xmlns:a16="http://schemas.microsoft.com/office/drawing/2014/main" id="{065B3CD0-C9D3-6B25-D905-E60BC72A2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7187" y="790525"/>
            <a:ext cx="4909625" cy="41518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Services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Server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132320" y="1280160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7132320" y="1280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:8888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60934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Centralises all service properties in a sibling git repository (healthsoa-properties-repository)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1847088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microservice reads its entire config on startup via spring.config.import — no hardcoded values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8368" y="2084832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Runtime refresh: POST /actuator/refresh + @RefreshScope pushes config changes without restarting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640080" y="25420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Server — Eureka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32320" y="2542032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7132320" y="25420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:8761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services self-register at startup via @EnableDiscoveryClient — no static address book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8368" y="3108960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Gateway and Feign clients resolve service names dynamically; load balancing is transparent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8368" y="334670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Health dashboard at http://localhost:8761 shows registered instances and their status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730752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640080" y="3803904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132320" y="3803904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7132320" y="380390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:9000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4133088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Single public entry point — clients never call services directly, only /api/&lt;prefix&gt;/**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58368" y="4370832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Routes use lb://service-name URIs; Spring Cloud LoadBalancer picks a healthy replica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58368" y="4608576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Balancing &amp; Scalability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Services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169164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Anagrafe  :9101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1965960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Read-heavy on every workflow — demographics, history, allergies queried by every request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58368" y="244144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 :9102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8368" y="271576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order bursts during morning rounds and ER rushes; async processing with per-instance thread pools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319125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 :9104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8368" y="3465576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bursty profile as Laboratorio; stateless — any replica handles any request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58368" y="394106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Aggregator  :9201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4215384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 of UC-3; stateless trackingId design enables transparent horizontal scaling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58368" y="457200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54880" y="118872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493776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37760" y="169164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Eureka registration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194767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replica self-registers; gateway and Feign query the live registry at call time — no static routes.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37760" y="2359152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lb:// routing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37760" y="261518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routes contain lb://service-name; Spring Cloud LoadBalancer distributes across healthy instances.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37760" y="3026664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@FeignClient(name=…)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328269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Feign resolves the name via Eureka — no IP, no port. Round-robin load balancing is implicit.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3694176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--scale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395020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up --scale laboratorio-service=3 spins up replicas with zero code changes.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37760" y="436168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37760" y="46177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937760" y="4572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— Providers, Prosumers &amp; Data Model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6459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521208" y="82296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03120" y="822960"/>
            <a:ext cx="11887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2167128" y="82296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822960"/>
            <a:ext cx="7315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3355848" y="822960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23360" y="822960"/>
            <a:ext cx="512064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087368" y="82296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18488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521208" y="1618488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Anagrafe Pazienti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03120" y="1618488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2167128" y="1618488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(CXF)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91840" y="1618488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3355848" y="1618488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9101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023360" y="1618488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4087368" y="1618488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demographics, medical history (conditions), known allergies — contract-first WSDL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414016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521208" y="2414016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Analisi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103120" y="2414016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2167128" y="2414016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async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91840" y="2414016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3355848" y="2414016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9102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023360" y="2414016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4087368" y="2414016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test orders (202 Accepted), status polling, result retrieval, callback/webhook support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09544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521208" y="3209544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 / Prescrizioni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03120" y="3209544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2167128" y="3209544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91840" y="3209544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3355848" y="3209544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9103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023360" y="3209544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4087368" y="3209544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prescriptions per patient, drug interaction check endpoint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4005072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35"/>
          <p:cNvSpPr/>
          <p:nvPr/>
        </p:nvSpPr>
        <p:spPr>
          <a:xfrm>
            <a:off x="521208" y="4005072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Diagnostica per Immagini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103120" y="4005072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9" name="Text 37"/>
          <p:cNvSpPr/>
          <p:nvPr/>
        </p:nvSpPr>
        <p:spPr>
          <a:xfrm>
            <a:off x="2167128" y="4005072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91840" y="4005072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1" name="Text 39"/>
          <p:cNvSpPr/>
          <p:nvPr/>
        </p:nvSpPr>
        <p:spPr>
          <a:xfrm>
            <a:off x="3355848" y="4005072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9104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4023360" y="4005072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Text 41"/>
          <p:cNvSpPr/>
          <p:nvPr/>
        </p:nvSpPr>
        <p:spPr>
          <a:xfrm>
            <a:off x="4087368" y="4005072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Radiology and imaging reports — same async model as Laboratorio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57200" y="479145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Prosumers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29768" y="772668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429768" y="882396"/>
            <a:ext cx="128016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493776" y="882396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709928" y="882396"/>
            <a:ext cx="64008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1773936" y="882396"/>
            <a:ext cx="548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350008" y="882396"/>
            <a:ext cx="228600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2414016" y="882396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 Consumed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36008" y="882396"/>
            <a:ext cx="448056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700016" y="882396"/>
            <a:ext cx="4389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768" y="132130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493776" y="132130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709928" y="132130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1773936" y="132130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4E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9201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350008" y="132130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2414016" y="132130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(REST async) +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(REST async)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36008" y="132130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4700016" y="132130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UC-3: Order tests, manage async lifecycle, aggregate DiagnosticBundle — stateless via Base64URL trackingId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" y="251002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493776" y="251002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709928" y="251002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1773936" y="251002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4E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9202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350008" y="251002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2414016" y="251002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Anagrafe (SOAP/CXF) +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 (REST)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36008" y="251002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4700016" y="251002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UC-2: Bridge SOAP↔REST, compose demographics + history + prescriptions → ClinicalProfile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9768" y="369874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493776" y="369874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709928" y="369874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1773936" y="369874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4E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9203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350008" y="369874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2414016" y="369874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Aggregator (REST) +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Aggregator (REST)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636008" y="369874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4700016" y="369874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UC-1: Parallel orchestration, sync barrier (allOf().join()), risk analysis → FitnessReport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29768" y="481431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Data Structures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Objects (Providers)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74520" y="16459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· fiscalCode · name · dob · gender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74520" y="21031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icdCode · description · diagnosisDate · status (ACTIVE/RESOLVED)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603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74520" y="25603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allergen · severity (MILD/SEVERE/ANAPHYLACTIC) · detectedDate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74520" y="30175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drugName · atcCode · dosage · frequency · start/end dates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34747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TestOrder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74520" y="34747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orderId · examCode · status (PENDING/PROCESSING/COMPLETED/ERROR)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9319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74520" y="39319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· value · unit · refRange · anomalyFlag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43891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ImagingReport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74520" y="43891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reportId · examType · date · findings · criticalFlag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1158122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1" name="Text 19"/>
          <p:cNvSpPr/>
          <p:nvPr/>
        </p:nvSpPr>
        <p:spPr>
          <a:xfrm>
            <a:off x="493776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Composed Objects (Prosumers)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37760" y="164592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DiagnosticBundle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0" y="1572768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List&lt;TestResult&gt;  +  List&lt;ImagingReport&gt;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937760" y="2304288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ClinicalProfile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0" y="217170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 +  List&lt;Condition&gt;  +  List&lt;Allergy&gt;  +  List&lt;Prescription&gt;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937760" y="3099816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RiskFlag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0" y="2980944"/>
            <a:ext cx="2148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(DRUG_CONTRAINDICATION / CRITICAL_VALUE / ALLERGY / OTHER)  ·  severity (INFO/WARNING/CRITICAL)  ·  description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937760" y="405079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FitnessReport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0" y="3881628"/>
            <a:ext cx="2148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 FIT  |  FIT_WITH_RESERVATION  |  UNFIT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patientId  ·  generatedAt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ClinicalProfile  +  DiagnosticBundle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List&lt;RiskFlag&gt;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— Use Cases, Sequence Diagrams, Technological Stack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 Summary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09489" y="694944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309489" y="804672"/>
            <a:ext cx="64008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364353" y="804672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49569" y="804672"/>
            <a:ext cx="13716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1004433" y="804672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321169" y="804672"/>
            <a:ext cx="41148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2376033" y="804672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81689" y="804672"/>
            <a:ext cx="25146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6536553" y="804672"/>
            <a:ext cx="2441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9489" y="1188720"/>
            <a:ext cx="64008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64353" y="1188720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49569" y="1188720"/>
            <a:ext cx="1371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1004433" y="1188720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Fitness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321169" y="1188720"/>
            <a:ext cx="41148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2376033" y="1188720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→ Gateway → Care Coordinator →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Agg + Diagnostic Agg → providers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81689" y="1188720"/>
            <a:ext cx="2514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6536553" y="1188720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branches +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barrier (allOf)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09489" y="2167128"/>
            <a:ext cx="640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364353" y="2167128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UC-2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49569" y="2167128"/>
            <a:ext cx="1371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1004433" y="2167128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History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321169" y="2167128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2376033" y="2167128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→ Gateway → Clinical Aggregator →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Anagrafe (SOAP) + Farmacia (REST)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81689" y="21671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6536553" y="2167128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09489" y="3145536"/>
            <a:ext cx="64008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364353" y="3145536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UC-3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49569" y="3145536"/>
            <a:ext cx="1371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1004433" y="3145536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Test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&amp; Poll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321169" y="3145536"/>
            <a:ext cx="41148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2376033" y="3145536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→ Gateway → Diagnostic Aggregator →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(async) + Imaging (async)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81689" y="3145536"/>
            <a:ext cx="2514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6536553" y="3145536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request-reply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polling/callback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09489" y="4123944"/>
            <a:ext cx="640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35"/>
          <p:cNvSpPr/>
          <p:nvPr/>
        </p:nvSpPr>
        <p:spPr>
          <a:xfrm>
            <a:off x="364353" y="4123944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UC-4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949569" y="4123944"/>
            <a:ext cx="1371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1004433" y="4123944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Prescription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(direct)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321169" y="4123944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1" name="Text 39"/>
          <p:cNvSpPr/>
          <p:nvPr/>
        </p:nvSpPr>
        <p:spPr>
          <a:xfrm>
            <a:off x="2376033" y="4123944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→ Gateway → Farmacia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prosumer involved)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81689" y="4123944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Text 41"/>
          <p:cNvSpPr/>
          <p:nvPr/>
        </p:nvSpPr>
        <p:spPr>
          <a:xfrm>
            <a:off x="6536553" y="4123944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client→provider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CRUD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3850C4C7-4103-2574-5E53-BC5967F6D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37" y="147710"/>
            <a:ext cx="8249513" cy="46001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 11">
            <a:extLst>
              <a:ext uri="{FF2B5EF4-FFF2-40B4-BE49-F238E27FC236}">
                <a16:creationId xmlns:a16="http://schemas.microsoft.com/office/drawing/2014/main" id="{09D93C77-A3BB-E2DD-FA98-202E93B3284B}"/>
              </a:ext>
            </a:extLst>
          </p:cNvPr>
          <p:cNvSpPr/>
          <p:nvPr/>
        </p:nvSpPr>
        <p:spPr>
          <a:xfrm>
            <a:off x="464937" y="84406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6" name="Text 13">
            <a:extLst>
              <a:ext uri="{FF2B5EF4-FFF2-40B4-BE49-F238E27FC236}">
                <a16:creationId xmlns:a16="http://schemas.microsoft.com/office/drawing/2014/main" id="{52FDAC33-77A8-AC67-0F83-7746EA2AF228}"/>
              </a:ext>
            </a:extLst>
          </p:cNvPr>
          <p:cNvSpPr/>
          <p:nvPr/>
        </p:nvSpPr>
        <p:spPr>
          <a:xfrm>
            <a:off x="1105017" y="84406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5CB82151-A15F-B4A3-C29C-4B1D4B286106}"/>
              </a:ext>
            </a:extLst>
          </p:cNvPr>
          <p:cNvSpPr/>
          <p:nvPr/>
        </p:nvSpPr>
        <p:spPr>
          <a:xfrm>
            <a:off x="2476617" y="84406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9488797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84C4DB0A-EAFC-C417-FBAA-6147CD0281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5901" y="248323"/>
            <a:ext cx="5531679" cy="46468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904338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AEBCA3EA-9EBE-D884-413D-2CFD1B0D8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277" y="193382"/>
            <a:ext cx="6103363" cy="464214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354350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98CC63BA-0E5E-E840-D657-CBB34BBF1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738" y="396240"/>
            <a:ext cx="6924338" cy="39976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174121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&amp; Libraries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66420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17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487168" y="16642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LTS runtime (pinned)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40080" y="208483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3.2.x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487168" y="208483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base + embedded Tomcat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Cloud 2023.0.x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487168" y="250545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Eureka, Gateway, Config, OpenFeign, LoadBalancer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2926080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CXF 4.0.x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487168" y="29260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contract-first — Anagrafe service + JAX-WS client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0080" y="33467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Resilience4j 2.2.x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487168" y="334670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 on Care Coordinator Feign calls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0080" y="37673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springdoc-openapi 2.3.x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487168" y="376732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on all REST services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418795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487168" y="41879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layer over MySQL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0080" y="460857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Maven 3.9.x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487168" y="460857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independent per-service POMs (no parent)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75488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493776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1664208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56832" y="166420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persistence, one schema per provider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937760" y="2084832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Compose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56832" y="2084832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Single-command full-stack deployment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250545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Eureka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656832" y="2505456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registry, self-registration, health checks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937760" y="292608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Cloud Gateway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656832" y="2926080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Gateway, lb:// routing, path rewriting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937760" y="334670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Cloud Config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56832" y="3346704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Centralised externalised config from git repo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937760" y="3767328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Cloud OpenFeign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656832" y="376732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client with Eureka name resolution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937760" y="4187952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@Async / ThreadPool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656832" y="4187952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Non-blocking processing in Laboratorio &amp; Imaging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937760" y="460857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CompletableFuture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656832" y="4608576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Fork-join parallel orchestration in Care Coordinator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1152</Words>
  <Application>Microsoft Office PowerPoint</Application>
  <PresentationFormat>Presentazione su schermo (16:9)</PresentationFormat>
  <Paragraphs>207</Paragraphs>
  <Slides>17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1" baseType="lpstr">
      <vt:lpstr>Arial</vt:lpstr>
      <vt:lpstr>Calibri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Edoardo Di Giuseppe</cp:lastModifiedBy>
  <cp:revision>2</cp:revision>
  <dcterms:created xsi:type="dcterms:W3CDTF">2026-06-22T13:52:18Z</dcterms:created>
  <dcterms:modified xsi:type="dcterms:W3CDTF">2026-06-22T14:39:13Z</dcterms:modified>
</cp:coreProperties>
</file>