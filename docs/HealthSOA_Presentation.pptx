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7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 type="screen16x9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09" d="100"/>
          <a:sy n="109" d="100"/>
        </p:scale>
        <p:origin x="867" y="85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66790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9495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87746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9452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44904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74047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90979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70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2092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97986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23295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80832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97368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2648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82747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42315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93967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058570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62103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9560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Thank you, Edoardo.</a:t>
            </a:r>
            <a:r>
              <a:rPr lang="it-IT" sz="1400"/>
              <a:t> </a:t>
            </a:r>
            <a:r>
              <a:rPr sz="1400"/>
              <a:t>Now, we will now look at</a:t>
            </a:r>
            <a:r>
              <a:rPr lang="it-IT" sz="1400"/>
              <a:t> the second block</a:t>
            </a:r>
            <a:r>
              <a:rPr sz="1400"/>
              <a:t> of our presentation. In this section, I will explain the business components of our system</a:t>
            </a:r>
            <a:r>
              <a:rPr lang="it-IT" sz="1400"/>
              <a:t>, w</a:t>
            </a:r>
            <a:r>
              <a:rPr lang="it-IT" sz="1400"/>
              <a:t>e’</a:t>
            </a:r>
            <a:r>
              <a:rPr sz="1400"/>
              <a:t>ll see who are the main </a:t>
            </a:r>
            <a:r>
              <a:rPr lang="it-IT" sz="1400"/>
              <a:t>software a</a:t>
            </a:r>
            <a:r>
              <a:rPr sz="1400"/>
              <a:t>ctors, what responsibilities they have and how our data is structured.</a:t>
            </a:r>
            <a:endParaRPr lang="en-US"/>
          </a:p>
        </p:txBody>
      </p:sp>
      <p:sp>
        <p:nvSpPr>
          <p:cNvPr id="393895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05584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35647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sz="1400"/>
              <a:t>On this slide, we have the Service Providers</a:t>
            </a:r>
            <a:r>
              <a:rPr lang="it-IT" sz="1400"/>
              <a:t> which </a:t>
            </a:r>
            <a:r>
              <a:rPr sz="1400"/>
              <a:t>are the foundational services of our platform. Each provider is independent</a:t>
            </a:r>
            <a:r>
              <a:rPr lang="it-IT" sz="1400"/>
              <a:t> from the others</a:t>
            </a:r>
            <a:r>
              <a:rPr sz="1400"/>
              <a:t>, manages its own specific da</a:t>
            </a:r>
            <a:r>
              <a:rPr lang="it-IT" sz="1400"/>
              <a:t>ta </a:t>
            </a:r>
            <a:r>
              <a:rPr sz="1400"/>
              <a:t>and has its own separate database to ensure decoupling.</a:t>
            </a:r>
            <a:endParaRPr sz="1400"/>
          </a:p>
          <a:p>
            <a:pPr>
              <a:defRPr/>
            </a:pPr>
            <a:r>
              <a:rPr sz="1400"/>
              <a:t>We have </a:t>
            </a:r>
            <a:r>
              <a:rPr lang="it-IT" sz="1400" b="1"/>
              <a:t>4</a:t>
            </a:r>
            <a:r>
              <a:rPr sz="1400" b="1"/>
              <a:t> providers</a:t>
            </a:r>
            <a:r>
              <a:rPr sz="1400"/>
              <a:t> in total: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First</a:t>
            </a:r>
            <a:r>
              <a:rPr lang="it-IT" sz="1400"/>
              <a:t> we have</a:t>
            </a:r>
            <a:r>
              <a:rPr sz="1400"/>
              <a:t> the </a:t>
            </a:r>
            <a:r>
              <a:rPr sz="1400" b="1"/>
              <a:t>Anagrafe Service</a:t>
            </a:r>
            <a:r>
              <a:rPr lang="it-IT" sz="1400"/>
              <a:t>, which </a:t>
            </a:r>
            <a:r>
              <a:rPr sz="1400"/>
              <a:t>simulates an external registry</a:t>
            </a:r>
            <a:r>
              <a:rPr lang="it-IT" sz="1400"/>
              <a:t> </a:t>
            </a:r>
            <a:r>
              <a:rPr sz="1400"/>
              <a:t>manag</a:t>
            </a:r>
            <a:r>
              <a:rPr lang="it-IT" sz="1400"/>
              <a:t>ing</a:t>
            </a:r>
            <a:r>
              <a:rPr sz="1400"/>
              <a:t> patient details, medical history and allergies. Because it simulates a real-world legacy system, it uses the SOAP protocol instead of the more modern REST</a:t>
            </a:r>
            <a:r>
              <a:rPr lang="it-IT" sz="1400"/>
              <a:t> to send its data.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Next, we have three modern REST services. </a:t>
            </a:r>
            <a:r>
              <a:rPr lang="it-IT" sz="1400"/>
              <a:t>Starting from the</a:t>
            </a:r>
            <a:r>
              <a:rPr lang="it-IT" sz="1400"/>
              <a:t> </a:t>
            </a:r>
            <a:r>
              <a:rPr sz="1400" b="1"/>
              <a:t>Laboratorio Service</a:t>
            </a:r>
            <a:r>
              <a:rPr sz="1400"/>
              <a:t> </a:t>
            </a:r>
            <a:r>
              <a:rPr lang="it-IT" sz="1400"/>
              <a:t>which </a:t>
            </a:r>
            <a:r>
              <a:rPr sz="1400"/>
              <a:t>handles medical test orders and results. In the real world, processing a biological sample takes time</a:t>
            </a:r>
            <a:r>
              <a:rPr lang="it-IT" sz="1400"/>
              <a:t>, t</a:t>
            </a:r>
            <a:r>
              <a:rPr sz="1400"/>
              <a:t>herefore this service works asynchronously</a:t>
            </a:r>
            <a:r>
              <a:rPr lang="it-IT" sz="1400"/>
              <a:t>, </a:t>
            </a:r>
            <a:r>
              <a:rPr sz="1400"/>
              <a:t>accept</a:t>
            </a:r>
            <a:r>
              <a:rPr lang="it-IT" sz="1400"/>
              <a:t>ing </a:t>
            </a:r>
            <a:r>
              <a:rPr sz="1400"/>
              <a:t>order</a:t>
            </a:r>
            <a:r>
              <a:rPr lang="it-IT" sz="1400"/>
              <a:t>s</a:t>
            </a:r>
            <a:r>
              <a:rPr sz="1400"/>
              <a:t> immediatel</a:t>
            </a:r>
            <a:r>
              <a:rPr lang="it-IT" sz="1400"/>
              <a:t>y</a:t>
            </a:r>
            <a:r>
              <a:rPr sz="1400"/>
              <a:t> and deliver</a:t>
            </a:r>
            <a:r>
              <a:rPr lang="it-IT" sz="1400"/>
              <a:t>ing</a:t>
            </a:r>
            <a:r>
              <a:rPr sz="1400"/>
              <a:t> the results</a:t>
            </a:r>
            <a:r>
              <a:rPr lang="it-IT" sz="1400"/>
              <a:t> at a</a:t>
            </a:r>
            <a:r>
              <a:rPr sz="1400"/>
              <a:t> later</a:t>
            </a:r>
            <a:r>
              <a:rPr lang="it-IT" sz="1400"/>
              <a:t> time</a:t>
            </a:r>
            <a:r>
              <a:rPr sz="1400"/>
              <a:t>.</a:t>
            </a:r>
            <a:endParaRPr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</a:t>
            </a:r>
            <a:r>
              <a:rPr sz="1400" b="1"/>
              <a:t>Imaging Service</a:t>
            </a:r>
            <a:r>
              <a:rPr sz="1400"/>
              <a:t> works exactly the same way</a:t>
            </a:r>
            <a:r>
              <a:rPr lang="it-IT" sz="1400"/>
              <a:t> as the Laboratorio Service</a:t>
            </a:r>
            <a:r>
              <a:rPr sz="1400"/>
              <a:t>, but </a:t>
            </a:r>
            <a:r>
              <a:rPr lang="it-IT" sz="1400"/>
              <a:t>instead it</a:t>
            </a:r>
            <a:r>
              <a:rPr sz="1400"/>
              <a:t> manages </a:t>
            </a:r>
            <a:r>
              <a:rPr lang="it-IT" sz="1400"/>
              <a:t>very different data such as </a:t>
            </a:r>
            <a:r>
              <a:rPr sz="1400"/>
              <a:t>radiology reports</a:t>
            </a:r>
            <a:r>
              <a:rPr lang="it-IT" sz="1400"/>
              <a:t>, X-Rays and MRI scans.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Finally, the </a:t>
            </a:r>
            <a:r>
              <a:rPr sz="1400" b="1"/>
              <a:t>Farmacia Service</a:t>
            </a:r>
            <a:r>
              <a:rPr sz="1400"/>
              <a:t> manages active drug prescriptions and includes a</a:t>
            </a:r>
            <a:r>
              <a:rPr lang="it-IT" sz="1400"/>
              <a:t>n endpoint </a:t>
            </a:r>
            <a:r>
              <a:rPr sz="1400"/>
              <a:t>to check for dangerous drug interactions.</a:t>
            </a:r>
            <a:endParaRPr/>
          </a:p>
          <a:p>
            <a:pPr>
              <a:defRPr/>
            </a:pPr>
            <a:r>
              <a:rPr sz="1400"/>
              <a:t>Now, let’s see how we combine all this information</a:t>
            </a:r>
            <a:r>
              <a:rPr lang="it-IT" sz="1400"/>
              <a:t>s</a:t>
            </a:r>
            <a:endParaRPr lang="en-US"/>
          </a:p>
        </p:txBody>
      </p:sp>
      <p:sp>
        <p:nvSpPr>
          <p:cNvPr id="1748045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89789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9138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sz="1400"/>
              <a:t>Here are </a:t>
            </a:r>
            <a:r>
              <a:rPr lang="it-IT" sz="1400"/>
              <a:t>the</a:t>
            </a:r>
            <a:r>
              <a:rPr sz="1400"/>
              <a:t> Service Prosumers</a:t>
            </a:r>
            <a:r>
              <a:rPr lang="it-IT" sz="1400"/>
              <a:t>, </a:t>
            </a:r>
            <a:r>
              <a:rPr lang="it-IT" sz="1400"/>
              <a:t>we use them t</a:t>
            </a:r>
            <a:r>
              <a:rPr sz="1400"/>
              <a:t>o create a complete view for the clinical staff, </a:t>
            </a:r>
            <a:r>
              <a:rPr lang="it-IT" sz="1400"/>
              <a:t>therefore these</a:t>
            </a:r>
            <a:r>
              <a:rPr sz="1400"/>
              <a:t> components do not just store data but they consume data from the providers and aggregate it.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first one is the </a:t>
            </a:r>
            <a:r>
              <a:rPr sz="1400" b="1"/>
              <a:t>Diagnostic Aggregator</a:t>
            </a:r>
            <a:r>
              <a:rPr lang="it-IT" sz="1400"/>
              <a:t>, which </a:t>
            </a:r>
            <a:r>
              <a:rPr sz="1400"/>
              <a:t>communicates with the Laboratorio </a:t>
            </a:r>
            <a:r>
              <a:rPr lang="it-IT" sz="1400"/>
              <a:t>service </a:t>
            </a:r>
            <a:r>
              <a:rPr sz="1400"/>
              <a:t>and </a:t>
            </a:r>
            <a:r>
              <a:rPr lang="it-IT" sz="1400"/>
              <a:t>the </a:t>
            </a:r>
            <a:r>
              <a:rPr sz="1400"/>
              <a:t>Imaging service. It collects the asynchronous test results and combines them into a single complete Diagnostic Bundle</a:t>
            </a:r>
            <a:r>
              <a:rPr lang="it-IT" sz="1400"/>
              <a:t>, it can be customized based on the panel value selectable from the index page.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The second one is the </a:t>
            </a:r>
            <a:r>
              <a:rPr sz="1400" b="1"/>
              <a:t>Clinical Aggregator</a:t>
            </a:r>
            <a:r>
              <a:rPr lang="it-IT" sz="1400"/>
              <a:t>, which</a:t>
            </a:r>
            <a:r>
              <a:rPr sz="1400"/>
              <a:t> acts as a technological bridge</a:t>
            </a:r>
            <a:r>
              <a:rPr lang="it-IT" sz="1400"/>
              <a:t> because i</a:t>
            </a:r>
            <a:r>
              <a:rPr sz="1400"/>
              <a:t>t talks to </a:t>
            </a:r>
            <a:r>
              <a:rPr lang="it-IT" sz="1400"/>
              <a:t>both t</a:t>
            </a:r>
            <a:r>
              <a:rPr sz="1400"/>
              <a:t>he SOAP Anagrafe service and the REST Farmacia service, </a:t>
            </a:r>
            <a:r>
              <a:rPr lang="it-IT" sz="1400"/>
              <a:t>unifying</a:t>
            </a:r>
            <a:r>
              <a:rPr lang="it-IT" sz="1400"/>
              <a:t> </a:t>
            </a:r>
            <a:r>
              <a:rPr sz="1400"/>
              <a:t>the</a:t>
            </a:r>
            <a:r>
              <a:rPr lang="it-IT" sz="1400"/>
              <a:t>ir</a:t>
            </a:r>
            <a:r>
              <a:rPr sz="1400"/>
              <a:t> data and return</a:t>
            </a:r>
            <a:r>
              <a:rPr lang="it-IT" sz="1400"/>
              <a:t>ing</a:t>
            </a:r>
            <a:r>
              <a:rPr sz="1400"/>
              <a:t> a full Clinical Profile of the patient.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At the very </a:t>
            </a:r>
            <a:r>
              <a:rPr lang="it-IT" sz="1400"/>
              <a:t>end</a:t>
            </a:r>
            <a:r>
              <a:rPr sz="1400"/>
              <a:t> we have the </a:t>
            </a:r>
            <a:r>
              <a:rPr sz="1400" b="1"/>
              <a:t>Care Coordinator</a:t>
            </a:r>
            <a:r>
              <a:rPr lang="it-IT" sz="1400"/>
              <a:t>, which</a:t>
            </a:r>
            <a:r>
              <a:rPr sz="1400"/>
              <a:t> is the main orchestrator of our platform. It calls both the Clinical and Diagnostic aggregators in parallel, it waits for both </a:t>
            </a:r>
            <a:r>
              <a:rPr lang="it-IT" sz="1400"/>
              <a:t>of them t</a:t>
            </a:r>
            <a:r>
              <a:rPr sz="1400"/>
              <a:t>o finish</a:t>
            </a:r>
            <a:r>
              <a:rPr lang="it-IT" sz="1400"/>
              <a:t> and then </a:t>
            </a:r>
            <a:r>
              <a:rPr sz="1400"/>
              <a:t>cross-references all the data</a:t>
            </a:r>
            <a:r>
              <a:rPr lang="it-IT" sz="1400"/>
              <a:t> </a:t>
            </a:r>
            <a:r>
              <a:rPr sz="1400"/>
              <a:t>applies </a:t>
            </a:r>
            <a:r>
              <a:rPr lang="it-IT" sz="1400"/>
              <a:t>its own </a:t>
            </a:r>
            <a:r>
              <a:rPr sz="1400"/>
              <a:t>business rules to </a:t>
            </a:r>
            <a:r>
              <a:rPr sz="1400"/>
              <a:t>generate</a:t>
            </a:r>
            <a:r>
              <a:rPr lang="it-IT" sz="1400"/>
              <a:t> </a:t>
            </a:r>
            <a:r>
              <a:rPr sz="1400"/>
              <a:t>the final report.</a:t>
            </a:r>
            <a:endParaRPr lang="en-US"/>
          </a:p>
        </p:txBody>
      </p:sp>
      <p:sp>
        <p:nvSpPr>
          <p:cNvPr id="201728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29802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343171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it-IT" sz="1400"/>
              <a:t>Now l</a:t>
            </a:r>
            <a:r>
              <a:rPr sz="1400"/>
              <a:t>et’s look at our Key Data Structures to see how our data is managed by </a:t>
            </a:r>
            <a:r>
              <a:rPr lang="it-IT" sz="1400"/>
              <a:t>all </a:t>
            </a:r>
            <a:r>
              <a:rPr sz="1400"/>
              <a:t>the components I just described.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On the left side we </a:t>
            </a:r>
            <a:r>
              <a:rPr lang="it-IT" sz="1400"/>
              <a:t>can see</a:t>
            </a:r>
            <a:r>
              <a:rPr lang="it-IT" sz="1400"/>
              <a:t> </a:t>
            </a:r>
            <a:r>
              <a:rPr sz="1400"/>
              <a:t>the </a:t>
            </a:r>
            <a:r>
              <a:rPr sz="1400" b="1"/>
              <a:t>Domain Objects</a:t>
            </a:r>
            <a:r>
              <a:rPr lang="it-IT" sz="1400"/>
              <a:t>, t</a:t>
            </a:r>
            <a:r>
              <a:rPr sz="1400"/>
              <a:t>hese are the simple data units managed by our providers, such as patient</a:t>
            </a:r>
            <a:r>
              <a:rPr lang="it-IT" sz="1400"/>
              <a:t>s</a:t>
            </a:r>
            <a:r>
              <a:rPr sz="1400"/>
              <a:t>, conditions, allergies a</a:t>
            </a:r>
            <a:r>
              <a:rPr lang="it-IT" sz="1400"/>
              <a:t>nd </a:t>
            </a:r>
            <a:r>
              <a:rPr sz="1400"/>
              <a:t>measurements, </a:t>
            </a:r>
            <a:r>
              <a:rPr lang="it-IT" sz="1400"/>
              <a:t>each one of them with all of their</a:t>
            </a:r>
            <a:r>
              <a:rPr lang="it-IT" sz="1400"/>
              <a:t> </a:t>
            </a:r>
            <a:r>
              <a:rPr sz="1400"/>
              <a:t>attributes on screen.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On the right side we have the </a:t>
            </a:r>
            <a:r>
              <a:rPr sz="1400" b="1"/>
              <a:t>Composed Objects</a:t>
            </a:r>
            <a:r>
              <a:rPr sz="1400"/>
              <a:t> created by our Prosumers.</a:t>
            </a:r>
            <a:r>
              <a:rPr lang="it-IT" sz="1400"/>
              <a:t> </a:t>
            </a:r>
            <a:r>
              <a:rPr lang="it-IT" sz="1400"/>
              <a:t>T</a:t>
            </a:r>
            <a:r>
              <a:rPr sz="1400"/>
              <a:t>he Diagnostic Bundle and the Clinical Profile represent the first level of </a:t>
            </a:r>
            <a:r>
              <a:rPr lang="it-IT" sz="1400"/>
              <a:t>composed</a:t>
            </a:r>
            <a:r>
              <a:rPr lang="it-IT" sz="1400"/>
              <a:t> data</a:t>
            </a:r>
            <a:r>
              <a:rPr lang="it-IT" sz="1400"/>
              <a:t>, respectively managed by the Diagnostic and Clinical aggregators.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</a:t>
            </a:r>
            <a:r>
              <a:rPr lang="it-IT" sz="1400"/>
              <a:t>nother</a:t>
            </a:r>
            <a:r>
              <a:rPr sz="1400"/>
              <a:t> important </a:t>
            </a:r>
            <a:r>
              <a:rPr lang="it-IT" sz="1400"/>
              <a:t>data </a:t>
            </a:r>
            <a:r>
              <a:rPr sz="1400"/>
              <a:t>structure</a:t>
            </a:r>
            <a:r>
              <a:rPr lang="it-IT" sz="1400"/>
              <a:t> </a:t>
            </a:r>
            <a:r>
              <a:rPr sz="1400"/>
              <a:t>is the Risk Flag</a:t>
            </a:r>
            <a:r>
              <a:rPr lang="it-IT" sz="1400"/>
              <a:t>, they ar</a:t>
            </a:r>
            <a:r>
              <a:rPr sz="1400"/>
              <a:t>e </a:t>
            </a:r>
            <a:r>
              <a:rPr lang="it-IT" sz="1400"/>
              <a:t> managed by the </a:t>
            </a:r>
            <a:r>
              <a:rPr sz="1400"/>
              <a:t>Care Coordinator</a:t>
            </a:r>
            <a:r>
              <a:rPr lang="it-IT" sz="1400"/>
              <a:t>, which </a:t>
            </a:r>
            <a:r>
              <a:rPr sz="1400"/>
              <a:t>creates these flags automatically if it detects a dangerous situation. For example, if a doctor prescribes a drug that conflicts with a patient's allergy, or if a lab</a:t>
            </a:r>
            <a:r>
              <a:rPr lang="it-IT" sz="1400"/>
              <a:t>oratory</a:t>
            </a:r>
            <a:r>
              <a:rPr sz="1400"/>
              <a:t> test value is criti</a:t>
            </a:r>
            <a:r>
              <a:rPr sz="1400"/>
              <a:t>cally bad, the system generates a warning flag.</a:t>
            </a:r>
            <a:endParaRPr sz="1400"/>
          </a:p>
          <a:p>
            <a:pPr marL="239821" indent="-239821">
              <a:buFont typeface="Arial"/>
              <a:buChar char="•"/>
              <a:defRPr/>
            </a:pPr>
            <a:r>
              <a:rPr sz="1400"/>
              <a:t>All of this information is packed into the final Fitness Report</a:t>
            </a:r>
            <a:r>
              <a:rPr lang="it-IT" sz="1400"/>
              <a:t>, which gives</a:t>
            </a:r>
            <a:r>
              <a:rPr lang="it-IT" sz="1400"/>
              <a:t> to </a:t>
            </a:r>
            <a:r>
              <a:rPr sz="1400"/>
              <a:t>the doctor a clear evaluation summary</a:t>
            </a:r>
            <a:r>
              <a:rPr lang="it-IT" sz="1400"/>
              <a:t>, and it can assume 3 values</a:t>
            </a:r>
            <a:r>
              <a:rPr lang="it-IT" sz="1400"/>
              <a:t>: “</a:t>
            </a:r>
            <a:r>
              <a:rPr sz="1400"/>
              <a:t>Fit</a:t>
            </a:r>
            <a:r>
              <a:rPr lang="it-IT" sz="1400"/>
              <a:t>”</a:t>
            </a:r>
            <a:r>
              <a:rPr sz="1400"/>
              <a:t>, </a:t>
            </a:r>
            <a:r>
              <a:rPr lang="it-IT" sz="1400"/>
              <a:t>“</a:t>
            </a:r>
            <a:r>
              <a:rPr sz="1400"/>
              <a:t>Fit with Reservation</a:t>
            </a:r>
            <a:r>
              <a:rPr lang="it-IT" sz="1400"/>
              <a:t>”</a:t>
            </a:r>
            <a:r>
              <a:rPr sz="1400"/>
              <a:t> or </a:t>
            </a:r>
            <a:r>
              <a:rPr lang="it-IT" sz="1400"/>
              <a:t>“</a:t>
            </a:r>
            <a:r>
              <a:rPr sz="1400"/>
              <a:t>Unfit</a:t>
            </a:r>
            <a:r>
              <a:rPr lang="it-IT" sz="1400"/>
              <a:t>”</a:t>
            </a:r>
            <a:r>
              <a:rPr lang="it-IT" sz="1400"/>
              <a:t>,</a:t>
            </a:r>
            <a:r>
              <a:rPr sz="1400"/>
              <a:t> along with the patient summary and the list of risk factors.</a:t>
            </a:r>
            <a:endParaRPr lang="en-US"/>
          </a:p>
        </p:txBody>
      </p:sp>
      <p:sp>
        <p:nvSpPr>
          <p:cNvPr id="7016886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519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46890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40716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1769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813796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538988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59018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677100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75002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242196-202C-F19F-E59B-19A0C2A48E0E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8726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74082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8669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8B224E-5401-2944-BD9E-177ABE848A1D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6810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23150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916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D4132B-99D2-A016-0E8A-93AF35626232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625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212135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766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EBE06E-E069-3376-C5E3-792169FA5BE7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715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46388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588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417838" name="Shape 0"/>
          <p:cNvSpPr/>
          <p:nvPr/>
        </p:nvSpPr>
        <p:spPr bwMode="auto">
          <a:xfrm>
            <a:off x="0" y="0"/>
            <a:ext cx="164592" cy="51480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14044834" name="Text 1"/>
          <p:cNvSpPr/>
          <p:nvPr/>
        </p:nvSpPr>
        <p:spPr bwMode="auto">
          <a:xfrm>
            <a:off x="502920" y="82296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HealthSOA</a:t>
            </a:r>
            <a:endParaRPr lang="en-US" sz="6000"/>
          </a:p>
        </p:txBody>
      </p:sp>
      <p:sp>
        <p:nvSpPr>
          <p:cNvPr id="1999010290" name="Text 2"/>
          <p:cNvSpPr/>
          <p:nvPr/>
        </p:nvSpPr>
        <p:spPr bwMode="auto">
          <a:xfrm>
            <a:off x="502920" y="2057400"/>
            <a:ext cx="8138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Hospital Platform for Pre-Procedure</a:t>
            </a:r>
            <a:endParaRPr lang="en-US" sz="2400"/>
          </a:p>
          <a:p>
            <a:pPr marL="0" indent="0">
              <a:buNone/>
              <a:defRPr/>
            </a:pPr>
            <a:r>
              <a:rPr lang="en-US" sz="24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Clinical Assessment</a:t>
            </a:r>
            <a:endParaRPr lang="en-US" sz="2400"/>
          </a:p>
        </p:txBody>
      </p:sp>
      <p:sp>
        <p:nvSpPr>
          <p:cNvPr id="1718697966" name="Text 3"/>
          <p:cNvSpPr/>
          <p:nvPr/>
        </p:nvSpPr>
        <p:spPr bwMode="auto">
          <a:xfrm>
            <a:off x="502920" y="324612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Service-Oriented Software Engineering  ·  A.A. 2025/2026</a:t>
            </a:r>
            <a:endParaRPr lang="en-US" sz="1500"/>
          </a:p>
        </p:txBody>
      </p:sp>
      <p:sp>
        <p:nvSpPr>
          <p:cNvPr id="213551221" name="Text 4"/>
          <p:cNvSpPr/>
          <p:nvPr/>
        </p:nvSpPr>
        <p:spPr bwMode="auto">
          <a:xfrm>
            <a:off x="502920" y="3611880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Università degli Studi dell'Aquila  ·  DISIM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730830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1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Domain, Architecture &amp; Infrastructure</a:t>
            </a:r>
            <a:endParaRPr lang="en-US" sz="4200"/>
          </a:p>
        </p:txBody>
      </p:sp>
      <p:sp>
        <p:nvSpPr>
          <p:cNvPr id="107575423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Edoardo Di Giuseppe</a:t>
            </a:r>
            <a:endParaRPr lang="en-US" sz="2000"/>
          </a:p>
        </p:txBody>
      </p:sp>
      <p:sp>
        <p:nvSpPr>
          <p:cNvPr id="63731328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i="1">
                <a:solidFill>
                  <a:srgbClr val="7BA8C8"/>
                </a:solidFill>
                <a:latin typeface="Calibri"/>
                <a:ea typeface="Calibri"/>
                <a:cs typeface="Calibri"/>
              </a:rPr>
              <a:t>Domain &amp; Motivation · System Overview · Infrastructure · Load Balancing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0579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Domain &amp; Motivation</a:t>
            </a:r>
            <a:endParaRPr lang="en-US" sz="3400"/>
          </a:p>
        </p:txBody>
      </p:sp>
      <p:sp>
        <p:nvSpPr>
          <p:cNvPr id="95681206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30525047" name="Shape 2"/>
          <p:cNvSpPr/>
          <p:nvPr/>
        </p:nvSpPr>
        <p:spPr bwMode="auto">
          <a:xfrm>
            <a:off x="457200" y="1207008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82491536" name="Shape 3"/>
          <p:cNvSpPr/>
          <p:nvPr/>
        </p:nvSpPr>
        <p:spPr bwMode="auto">
          <a:xfrm>
            <a:off x="457200" y="1207008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12050244" name="Text 4"/>
          <p:cNvSpPr/>
          <p:nvPr/>
        </p:nvSpPr>
        <p:spPr bwMode="auto">
          <a:xfrm>
            <a:off x="685800" y="1271016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Legacy SOAP Integration</a:t>
            </a:r>
            <a:endParaRPr lang="en-US" sz="1300"/>
          </a:p>
        </p:txBody>
      </p:sp>
      <p:sp>
        <p:nvSpPr>
          <p:cNvPr id="104652036" name="Text 5"/>
          <p:cNvSpPr/>
          <p:nvPr/>
        </p:nvSpPr>
        <p:spPr bwMode="auto">
          <a:xfrm>
            <a:off x="685800" y="1572768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regional Anagrafe Sanitaria is a real-world institutional system that exposes typed contracts via WSDL (HL7-style). Contract-first SOAP is imposed by the interoperability requirement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not an aesthetic choice.</a:t>
            </a:r>
            <a:endParaRPr lang="en-US" sz="1050"/>
          </a:p>
        </p:txBody>
      </p:sp>
      <p:sp>
        <p:nvSpPr>
          <p:cNvPr id="1670982810" name="Shape 6"/>
          <p:cNvSpPr/>
          <p:nvPr/>
        </p:nvSpPr>
        <p:spPr bwMode="auto">
          <a:xfrm>
            <a:off x="457200" y="2139696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44524862" name="Shape 7"/>
          <p:cNvSpPr/>
          <p:nvPr/>
        </p:nvSpPr>
        <p:spPr bwMode="auto">
          <a:xfrm>
            <a:off x="457200" y="2139696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04947914" name="Text 8"/>
          <p:cNvSpPr/>
          <p:nvPr/>
        </p:nvSpPr>
        <p:spPr bwMode="auto">
          <a:xfrm>
            <a:off x="685800" y="2203704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Asynchronous Lab Processing</a:t>
            </a:r>
            <a:endParaRPr lang="en-US" sz="1300"/>
          </a:p>
        </p:txBody>
      </p:sp>
      <p:sp>
        <p:nvSpPr>
          <p:cNvPr id="122175728" name="Text 9"/>
          <p:cNvSpPr/>
          <p:nvPr/>
        </p:nvSpPr>
        <p:spPr bwMode="auto">
          <a:xfrm>
            <a:off x="685800" y="2505456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lab panel ordered urgently has real latency while the biological sample is processed. A synchronous call would hold threads and connections; asynchrony is mandated by the physics of the problem.</a:t>
            </a:r>
            <a:endParaRPr lang="en-US" sz="1050"/>
          </a:p>
        </p:txBody>
      </p:sp>
      <p:sp>
        <p:nvSpPr>
          <p:cNvPr id="709816053" name="Shape 10"/>
          <p:cNvSpPr/>
          <p:nvPr/>
        </p:nvSpPr>
        <p:spPr bwMode="auto">
          <a:xfrm>
            <a:off x="457200" y="3072384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47946382" name="Shape 11"/>
          <p:cNvSpPr/>
          <p:nvPr/>
        </p:nvSpPr>
        <p:spPr bwMode="auto">
          <a:xfrm>
            <a:off x="457200" y="3072384"/>
            <a:ext cx="64008" cy="822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10499697" name="Text 12"/>
          <p:cNvSpPr/>
          <p:nvPr/>
        </p:nvSpPr>
        <p:spPr bwMode="auto">
          <a:xfrm>
            <a:off x="685800" y="3136392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Independent Parallel Branches</a:t>
            </a:r>
            <a:endParaRPr lang="en-US" sz="1300"/>
          </a:p>
        </p:txBody>
      </p:sp>
      <p:sp>
        <p:nvSpPr>
          <p:cNvPr id="1590825534" name="Text 13"/>
          <p:cNvSpPr/>
          <p:nvPr/>
        </p:nvSpPr>
        <p:spPr bwMode="auto">
          <a:xfrm>
            <a:off x="685800" y="3438144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fitness assessment needs the diagnostic bundle (lab + imaging) AND the clinical history (registry + prescriptions) at the same time. The two data-collection branches are logically independent; sequential execution would needlessly double latency.</a:t>
            </a:r>
            <a:endParaRPr lang="en-US" sz="1050"/>
          </a:p>
        </p:txBody>
      </p:sp>
      <p:sp>
        <p:nvSpPr>
          <p:cNvPr id="465905597" name="Shape 14"/>
          <p:cNvSpPr/>
          <p:nvPr/>
        </p:nvSpPr>
        <p:spPr bwMode="auto">
          <a:xfrm>
            <a:off x="457200" y="4005072"/>
            <a:ext cx="8229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88013962" name="Shape 15"/>
          <p:cNvSpPr/>
          <p:nvPr/>
        </p:nvSpPr>
        <p:spPr bwMode="auto">
          <a:xfrm>
            <a:off x="457200" y="4005072"/>
            <a:ext cx="64008" cy="822960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20532244" name="Text 16"/>
          <p:cNvSpPr/>
          <p:nvPr/>
        </p:nvSpPr>
        <p:spPr bwMode="auto">
          <a:xfrm>
            <a:off x="685800" y="4069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Bursty Peak Load</a:t>
            </a:r>
            <a:endParaRPr lang="en-US" sz="1300"/>
          </a:p>
        </p:txBody>
      </p:sp>
      <p:sp>
        <p:nvSpPr>
          <p:cNvPr id="490003497" name="Text 17"/>
          <p:cNvSpPr/>
          <p:nvPr/>
        </p:nvSpPr>
        <p:spPr bwMode="auto">
          <a:xfrm>
            <a:off x="685800" y="4370832"/>
            <a:ext cx="7772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and Laboratorio sit on the critical path of every workflow and are hit by many clinicians simultaneously during morning rounds and ER rushes. Load is bursty and read-heavy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replication is motivated by specific system behaviour.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5638091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System Overview</a:t>
            </a:r>
            <a:endParaRPr lang="en-US" sz="3400"/>
          </a:p>
        </p:txBody>
      </p:sp>
      <p:sp>
        <p:nvSpPr>
          <p:cNvPr id="1724946929" name="Text 24"/>
          <p:cNvSpPr/>
          <p:nvPr/>
        </p:nvSpPr>
        <p:spPr bwMode="auto">
          <a:xfrm>
            <a:off x="6903720" y="3547872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950"/>
          </a:p>
        </p:txBody>
      </p:sp>
      <p:sp>
        <p:nvSpPr>
          <p:cNvPr id="1951069133" name="Text 30"/>
          <p:cNvSpPr/>
          <p:nvPr/>
        </p:nvSpPr>
        <p:spPr bwMode="auto">
          <a:xfrm>
            <a:off x="457200" y="449884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endParaRPr lang="en-US" sz="1000"/>
          </a:p>
        </p:txBody>
      </p:sp>
      <p:pic>
        <p:nvPicPr>
          <p:cNvPr id="375641513" name="Immagine 4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17187" y="856670"/>
            <a:ext cx="4909625" cy="415180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1978560" name="Shape 1"/>
          <p:cNvSpPr/>
          <p:nvPr/>
        </p:nvSpPr>
        <p:spPr bwMode="auto">
          <a:xfrm>
            <a:off x="457200" y="745235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3577363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 Services</a:t>
            </a:r>
            <a:endParaRPr lang="en-US" sz="3400"/>
          </a:p>
        </p:txBody>
      </p:sp>
      <p:sp>
        <p:nvSpPr>
          <p:cNvPr id="30562354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95519111" name="Shape 2"/>
          <p:cNvSpPr/>
          <p:nvPr/>
        </p:nvSpPr>
        <p:spPr bwMode="auto">
          <a:xfrm>
            <a:off x="457200" y="1207008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27476990" name="Text 3"/>
          <p:cNvSpPr/>
          <p:nvPr/>
        </p:nvSpPr>
        <p:spPr bwMode="auto">
          <a:xfrm>
            <a:off x="640080" y="1280160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Config Server</a:t>
            </a:r>
            <a:endParaRPr lang="en-US" sz="1400"/>
          </a:p>
        </p:txBody>
      </p:sp>
      <p:sp>
        <p:nvSpPr>
          <p:cNvPr id="1657618406" name="Shape 4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51880698" name="Text 5"/>
          <p:cNvSpPr/>
          <p:nvPr/>
        </p:nvSpPr>
        <p:spPr bwMode="auto">
          <a:xfrm>
            <a:off x="7132320" y="1280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:8888</a:t>
            </a:r>
            <a:endParaRPr lang="en-US" sz="1200"/>
          </a:p>
        </p:txBody>
      </p:sp>
      <p:sp>
        <p:nvSpPr>
          <p:cNvPr id="1088173630" name="Text 6"/>
          <p:cNvSpPr/>
          <p:nvPr/>
        </p:nvSpPr>
        <p:spPr bwMode="auto">
          <a:xfrm>
            <a:off x="658368" y="160934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Centralises all service properties in a sibling git repository (healthsoa-properties-repository)</a:t>
            </a:r>
            <a:endParaRPr lang="en-US" sz="1050"/>
          </a:p>
        </p:txBody>
      </p:sp>
      <p:sp>
        <p:nvSpPr>
          <p:cNvPr id="1109583465" name="Text 7"/>
          <p:cNvSpPr/>
          <p:nvPr/>
        </p:nvSpPr>
        <p:spPr bwMode="auto">
          <a:xfrm>
            <a:off x="658368" y="1847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Each microservice reads its entire config on startup via spring.config.import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hardcoded values</a:t>
            </a:r>
            <a:endParaRPr lang="en-US" sz="1050"/>
          </a:p>
        </p:txBody>
      </p:sp>
      <p:sp>
        <p:nvSpPr>
          <p:cNvPr id="1358789866" name="Text 8"/>
          <p:cNvSpPr/>
          <p:nvPr/>
        </p:nvSpPr>
        <p:spPr bwMode="auto">
          <a:xfrm>
            <a:off x="658368" y="2084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Runtime refresh: POST /actuator/refresh + @RefreshScope pushes config changes without restarting</a:t>
            </a:r>
            <a:endParaRPr lang="en-US" sz="1050"/>
          </a:p>
        </p:txBody>
      </p:sp>
      <p:sp>
        <p:nvSpPr>
          <p:cNvPr id="1820282680" name="Shape 9"/>
          <p:cNvSpPr/>
          <p:nvPr/>
        </p:nvSpPr>
        <p:spPr bwMode="auto">
          <a:xfrm>
            <a:off x="457200" y="2468880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1132456" name="Text 10"/>
          <p:cNvSpPr/>
          <p:nvPr/>
        </p:nvSpPr>
        <p:spPr bwMode="auto">
          <a:xfrm>
            <a:off x="640080" y="2542032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Discovery Server — Eureka</a:t>
            </a:r>
            <a:endParaRPr lang="en-US" sz="1400"/>
          </a:p>
        </p:txBody>
      </p:sp>
      <p:sp>
        <p:nvSpPr>
          <p:cNvPr id="1186187687" name="Shape 11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8596220" name="Text 12"/>
          <p:cNvSpPr/>
          <p:nvPr/>
        </p:nvSpPr>
        <p:spPr bwMode="auto">
          <a:xfrm>
            <a:off x="7132320" y="25420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:8761</a:t>
            </a:r>
            <a:endParaRPr lang="en-US" sz="1200"/>
          </a:p>
        </p:txBody>
      </p:sp>
      <p:sp>
        <p:nvSpPr>
          <p:cNvPr id="1254891635" name="Text 13"/>
          <p:cNvSpPr/>
          <p:nvPr/>
        </p:nvSpPr>
        <p:spPr bwMode="auto">
          <a:xfrm>
            <a:off x="658368" y="287121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All services self-register at startup via @EnableDiscoveryClient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static address book</a:t>
            </a:r>
            <a:endParaRPr lang="en-US" sz="1050"/>
          </a:p>
        </p:txBody>
      </p:sp>
      <p:sp>
        <p:nvSpPr>
          <p:cNvPr id="342921176" name="Text 14"/>
          <p:cNvSpPr/>
          <p:nvPr/>
        </p:nvSpPr>
        <p:spPr bwMode="auto">
          <a:xfrm>
            <a:off x="658368" y="3108960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Gateway and Feign clients resolve service names dynamically; load balancing is transparent</a:t>
            </a:r>
            <a:endParaRPr lang="en-US" sz="1050"/>
          </a:p>
        </p:txBody>
      </p:sp>
      <p:sp>
        <p:nvSpPr>
          <p:cNvPr id="1005370097" name="Text 15"/>
          <p:cNvSpPr/>
          <p:nvPr/>
        </p:nvSpPr>
        <p:spPr bwMode="auto">
          <a:xfrm>
            <a:off x="658368" y="3346704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Health dashboard at http://localhost:8761 shows registered instances and their status</a:t>
            </a:r>
            <a:endParaRPr lang="en-US" sz="1050"/>
          </a:p>
        </p:txBody>
      </p:sp>
      <p:sp>
        <p:nvSpPr>
          <p:cNvPr id="2121887939" name="Shape 16"/>
          <p:cNvSpPr/>
          <p:nvPr/>
        </p:nvSpPr>
        <p:spPr bwMode="auto">
          <a:xfrm>
            <a:off x="457200" y="3730752"/>
            <a:ext cx="82296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5900348" name="Text 17"/>
          <p:cNvSpPr/>
          <p:nvPr/>
        </p:nvSpPr>
        <p:spPr bwMode="auto">
          <a:xfrm>
            <a:off x="640080" y="3803904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API Gateway</a:t>
            </a:r>
            <a:endParaRPr lang="en-US" sz="1400"/>
          </a:p>
        </p:txBody>
      </p:sp>
      <p:sp>
        <p:nvSpPr>
          <p:cNvPr id="1744271713" name="Shape 18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91210902" name="Text 19"/>
          <p:cNvSpPr/>
          <p:nvPr/>
        </p:nvSpPr>
        <p:spPr bwMode="auto">
          <a:xfrm>
            <a:off x="7132320" y="380390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:9000</a:t>
            </a:r>
            <a:endParaRPr lang="en-US" sz="1200"/>
          </a:p>
        </p:txBody>
      </p:sp>
      <p:sp>
        <p:nvSpPr>
          <p:cNvPr id="1392476972" name="Text 20"/>
          <p:cNvSpPr/>
          <p:nvPr/>
        </p:nvSpPr>
        <p:spPr bwMode="auto">
          <a:xfrm>
            <a:off x="658368" y="4133088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Single public entry point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clients never call services directly, only /api/&lt;prefix&gt;/**</a:t>
            </a:r>
            <a:endParaRPr lang="en-US" sz="1050"/>
          </a:p>
        </p:txBody>
      </p:sp>
      <p:sp>
        <p:nvSpPr>
          <p:cNvPr id="676738367" name="Text 21"/>
          <p:cNvSpPr/>
          <p:nvPr/>
        </p:nvSpPr>
        <p:spPr bwMode="auto">
          <a:xfrm>
            <a:off x="658368" y="4370832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• Routes use lb://service-name URIs; Spring Cloud LoadBalancer picks a healthy replica</a:t>
            </a:r>
            <a:endParaRPr lang="en-US" sz="1050"/>
          </a:p>
        </p:txBody>
      </p:sp>
      <p:sp>
        <p:nvSpPr>
          <p:cNvPr id="1507461996" name="Text 22"/>
          <p:cNvSpPr/>
          <p:nvPr/>
        </p:nvSpPr>
        <p:spPr bwMode="auto">
          <a:xfrm>
            <a:off x="658368" y="4608576"/>
            <a:ext cx="7863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2797603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Load Balancing &amp; Scalability</a:t>
            </a:r>
            <a:endParaRPr lang="en-US" sz="3400"/>
          </a:p>
        </p:txBody>
      </p:sp>
      <p:sp>
        <p:nvSpPr>
          <p:cNvPr id="829249830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36823967" name="Shape 2"/>
          <p:cNvSpPr/>
          <p:nvPr/>
        </p:nvSpPr>
        <p:spPr bwMode="auto">
          <a:xfrm>
            <a:off x="45720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64008049" name="Text 3"/>
          <p:cNvSpPr/>
          <p:nvPr/>
        </p:nvSpPr>
        <p:spPr bwMode="auto">
          <a:xfrm>
            <a:off x="64008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Scalable Services</a:t>
            </a:r>
            <a:endParaRPr lang="en-US" sz="1400"/>
          </a:p>
        </p:txBody>
      </p:sp>
      <p:sp>
        <p:nvSpPr>
          <p:cNvPr id="2054126594" name="Text 4"/>
          <p:cNvSpPr/>
          <p:nvPr/>
        </p:nvSpPr>
        <p:spPr bwMode="auto">
          <a:xfrm>
            <a:off x="658368" y="169164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 :9101</a:t>
            </a:r>
            <a:endParaRPr lang="en-US" sz="1150"/>
          </a:p>
        </p:txBody>
      </p:sp>
      <p:sp>
        <p:nvSpPr>
          <p:cNvPr id="390164850" name="Text 5"/>
          <p:cNvSpPr/>
          <p:nvPr/>
        </p:nvSpPr>
        <p:spPr bwMode="auto">
          <a:xfrm>
            <a:off x="658368" y="1965960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Read-heavy on every workflow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demographics, history, allergies queried by every request</a:t>
            </a:r>
            <a:endParaRPr lang="en-US" sz="950"/>
          </a:p>
        </p:txBody>
      </p:sp>
      <p:sp>
        <p:nvSpPr>
          <p:cNvPr id="1296381110" name="Text 6"/>
          <p:cNvSpPr/>
          <p:nvPr/>
        </p:nvSpPr>
        <p:spPr bwMode="auto">
          <a:xfrm>
            <a:off x="658368" y="2441448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 :9102</a:t>
            </a:r>
            <a:endParaRPr lang="en-US" sz="1150"/>
          </a:p>
        </p:txBody>
      </p:sp>
      <p:sp>
        <p:nvSpPr>
          <p:cNvPr id="742701073" name="Text 7"/>
          <p:cNvSpPr/>
          <p:nvPr/>
        </p:nvSpPr>
        <p:spPr bwMode="auto">
          <a:xfrm>
            <a:off x="658368" y="27157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Peak order bursts during morning rounds and ER rushes; async processing with per-instance thread pools</a:t>
            </a:r>
            <a:endParaRPr lang="en-US" sz="950"/>
          </a:p>
        </p:txBody>
      </p:sp>
      <p:sp>
        <p:nvSpPr>
          <p:cNvPr id="1463013701" name="Text 8"/>
          <p:cNvSpPr/>
          <p:nvPr/>
        </p:nvSpPr>
        <p:spPr bwMode="auto">
          <a:xfrm>
            <a:off x="658368" y="3191256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 :9104</a:t>
            </a:r>
            <a:endParaRPr lang="en-US" sz="1150"/>
          </a:p>
        </p:txBody>
      </p:sp>
      <p:sp>
        <p:nvSpPr>
          <p:cNvPr id="669968490" name="Text 9"/>
          <p:cNvSpPr/>
          <p:nvPr/>
        </p:nvSpPr>
        <p:spPr bwMode="auto">
          <a:xfrm>
            <a:off x="658368" y="3465576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Same bursty profile as Laboratorio; stateless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any replica handles any request</a:t>
            </a:r>
            <a:endParaRPr lang="en-US" sz="950"/>
          </a:p>
        </p:txBody>
      </p:sp>
      <p:sp>
        <p:nvSpPr>
          <p:cNvPr id="1972141548" name="Text 10"/>
          <p:cNvSpPr/>
          <p:nvPr/>
        </p:nvSpPr>
        <p:spPr bwMode="auto">
          <a:xfrm>
            <a:off x="658368" y="394106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Diagnostic Aggregator  :9201</a:t>
            </a:r>
            <a:endParaRPr lang="en-US" sz="1150"/>
          </a:p>
        </p:txBody>
      </p:sp>
      <p:sp>
        <p:nvSpPr>
          <p:cNvPr id="104052548" name="Text 11"/>
          <p:cNvSpPr/>
          <p:nvPr/>
        </p:nvSpPr>
        <p:spPr bwMode="auto">
          <a:xfrm>
            <a:off x="658368" y="4215384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 path of UC-3; stateless trackingId design enables transparent horizontal scaling</a:t>
            </a:r>
            <a:endParaRPr lang="en-US" sz="950"/>
          </a:p>
        </p:txBody>
      </p:sp>
      <p:sp>
        <p:nvSpPr>
          <p:cNvPr id="1564560463" name="Text 12"/>
          <p:cNvSpPr/>
          <p:nvPr/>
        </p:nvSpPr>
        <p:spPr bwMode="auto">
          <a:xfrm>
            <a:off x="658368" y="45720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50"/>
          </a:p>
        </p:txBody>
      </p:sp>
      <p:sp>
        <p:nvSpPr>
          <p:cNvPr id="2139003122" name="Shape 13"/>
          <p:cNvSpPr/>
          <p:nvPr/>
        </p:nvSpPr>
        <p:spPr bwMode="auto">
          <a:xfrm>
            <a:off x="4754880" y="1188720"/>
            <a:ext cx="39319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85747817" name="Text 14"/>
          <p:cNvSpPr/>
          <p:nvPr/>
        </p:nvSpPr>
        <p:spPr bwMode="auto"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How It Works</a:t>
            </a:r>
            <a:endParaRPr lang="en-US" sz="1400"/>
          </a:p>
        </p:txBody>
      </p:sp>
      <p:sp>
        <p:nvSpPr>
          <p:cNvPr id="750999019" name="Text 15"/>
          <p:cNvSpPr/>
          <p:nvPr/>
        </p:nvSpPr>
        <p:spPr bwMode="auto">
          <a:xfrm>
            <a:off x="4937760" y="16916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Eureka registration</a:t>
            </a:r>
            <a:endParaRPr lang="en-US" sz="1100"/>
          </a:p>
        </p:txBody>
      </p:sp>
      <p:sp>
        <p:nvSpPr>
          <p:cNvPr id="1040812025" name="Text 16"/>
          <p:cNvSpPr/>
          <p:nvPr/>
        </p:nvSpPr>
        <p:spPr bwMode="auto">
          <a:xfrm>
            <a:off x="4937760" y="1947671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Every replica self-registers; gateway and Feign query the live registry at call time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static routes.</a:t>
            </a:r>
            <a:endParaRPr lang="en-US" sz="950"/>
          </a:p>
        </p:txBody>
      </p:sp>
      <p:sp>
        <p:nvSpPr>
          <p:cNvPr id="720982071" name="Text 17"/>
          <p:cNvSpPr/>
          <p:nvPr/>
        </p:nvSpPr>
        <p:spPr bwMode="auto">
          <a:xfrm>
            <a:off x="4937760" y="2359152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lb:// routing</a:t>
            </a:r>
            <a:endParaRPr lang="en-US" sz="1100"/>
          </a:p>
        </p:txBody>
      </p:sp>
      <p:sp>
        <p:nvSpPr>
          <p:cNvPr id="93218318" name="Text 18"/>
          <p:cNvSpPr/>
          <p:nvPr/>
        </p:nvSpPr>
        <p:spPr bwMode="auto">
          <a:xfrm>
            <a:off x="4937760" y="261518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Gateway routes contain lb://service-name; Spring Cloud LoadBalancer distributes across healthy instances.</a:t>
            </a:r>
            <a:endParaRPr lang="en-US" sz="950"/>
          </a:p>
        </p:txBody>
      </p:sp>
      <p:sp>
        <p:nvSpPr>
          <p:cNvPr id="1744517707" name="Text 19"/>
          <p:cNvSpPr/>
          <p:nvPr/>
        </p:nvSpPr>
        <p:spPr bwMode="auto">
          <a:xfrm>
            <a:off x="4937760" y="3026664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@FeignClient(name=…)</a:t>
            </a:r>
            <a:endParaRPr lang="en-US" sz="1100"/>
          </a:p>
        </p:txBody>
      </p:sp>
      <p:sp>
        <p:nvSpPr>
          <p:cNvPr id="1476473062" name="Text 20"/>
          <p:cNvSpPr/>
          <p:nvPr/>
        </p:nvSpPr>
        <p:spPr bwMode="auto">
          <a:xfrm>
            <a:off x="4937760" y="328269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Feign resolves the name via Eureka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no IP, no port. Round-robin load balancing is implicit.</a:t>
            </a:r>
            <a:endParaRPr lang="en-US" sz="950"/>
          </a:p>
        </p:txBody>
      </p:sp>
      <p:sp>
        <p:nvSpPr>
          <p:cNvPr id="570344958" name="Text 21"/>
          <p:cNvSpPr/>
          <p:nvPr/>
        </p:nvSpPr>
        <p:spPr bwMode="auto">
          <a:xfrm>
            <a:off x="4937760" y="369417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docker-compose --scale</a:t>
            </a:r>
            <a:endParaRPr lang="en-US" sz="1100"/>
          </a:p>
        </p:txBody>
      </p:sp>
      <p:sp>
        <p:nvSpPr>
          <p:cNvPr id="532804055" name="Text 22"/>
          <p:cNvSpPr/>
          <p:nvPr/>
        </p:nvSpPr>
        <p:spPr bwMode="auto">
          <a:xfrm>
            <a:off x="4937760" y="395020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docker-compose up --scale laboratorio-service=3 spins up replicas with zero code changes.</a:t>
            </a:r>
            <a:endParaRPr lang="en-US" sz="950"/>
          </a:p>
        </p:txBody>
      </p:sp>
      <p:sp>
        <p:nvSpPr>
          <p:cNvPr id="816072832" name="Text 23"/>
          <p:cNvSpPr/>
          <p:nvPr/>
        </p:nvSpPr>
        <p:spPr bwMode="auto">
          <a:xfrm>
            <a:off x="4937760" y="4361688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sp>
        <p:nvSpPr>
          <p:cNvPr id="1200861142" name="Text 24"/>
          <p:cNvSpPr/>
          <p:nvPr/>
        </p:nvSpPr>
        <p:spPr bwMode="auto">
          <a:xfrm>
            <a:off x="4937760" y="46177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  <p:sp>
        <p:nvSpPr>
          <p:cNvPr id="601266230" name="Text 25"/>
          <p:cNvSpPr/>
          <p:nvPr/>
        </p:nvSpPr>
        <p:spPr bwMode="auto">
          <a:xfrm>
            <a:off x="4937760" y="4572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7836505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2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Providers, Prosumers &amp; Data Model</a:t>
            </a:r>
            <a:endParaRPr lang="en-US" sz="4200"/>
          </a:p>
        </p:txBody>
      </p:sp>
      <p:sp>
        <p:nvSpPr>
          <p:cNvPr id="529519752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636357855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  <p:sp>
        <p:nvSpPr>
          <p:cNvPr id="1860872839" name="Text 1"/>
          <p:cNvSpPr/>
          <p:nvPr/>
        </p:nvSpPr>
        <p:spPr bwMode="auto">
          <a:xfrm>
            <a:off x="883919" y="2666999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Lorenzo Di Giandomenico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6763659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Providers</a:t>
            </a:r>
            <a:endParaRPr lang="en-US" sz="3400"/>
          </a:p>
        </p:txBody>
      </p:sp>
      <p:sp>
        <p:nvSpPr>
          <p:cNvPr id="683329230" name="Shape 1"/>
          <p:cNvSpPr/>
          <p:nvPr/>
        </p:nvSpPr>
        <p:spPr bwMode="auto">
          <a:xfrm>
            <a:off x="457200" y="71323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74855460" name="Shape 2"/>
          <p:cNvSpPr/>
          <p:nvPr/>
        </p:nvSpPr>
        <p:spPr bwMode="auto">
          <a:xfrm>
            <a:off x="264115" y="886968"/>
            <a:ext cx="16459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8558619" name="Text 3"/>
          <p:cNvSpPr/>
          <p:nvPr/>
        </p:nvSpPr>
        <p:spPr bwMode="auto">
          <a:xfrm>
            <a:off x="328123" y="886968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1974748444" name="Shape 4"/>
          <p:cNvSpPr/>
          <p:nvPr/>
        </p:nvSpPr>
        <p:spPr bwMode="auto">
          <a:xfrm>
            <a:off x="1910035" y="886968"/>
            <a:ext cx="11887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7872573" name="Text 5"/>
          <p:cNvSpPr/>
          <p:nvPr/>
        </p:nvSpPr>
        <p:spPr bwMode="auto">
          <a:xfrm>
            <a:off x="1974043" y="886968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Protocol</a:t>
            </a:r>
            <a:endParaRPr lang="en-US" sz="1200"/>
          </a:p>
        </p:txBody>
      </p:sp>
      <p:sp>
        <p:nvSpPr>
          <p:cNvPr id="706276269" name="Shape 6"/>
          <p:cNvSpPr/>
          <p:nvPr/>
        </p:nvSpPr>
        <p:spPr bwMode="auto">
          <a:xfrm>
            <a:off x="3098755" y="886968"/>
            <a:ext cx="73152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41165888" name="Text 7"/>
          <p:cNvSpPr/>
          <p:nvPr/>
        </p:nvSpPr>
        <p:spPr bwMode="auto">
          <a:xfrm>
            <a:off x="3162763" y="886968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528790195" name="Shape 8"/>
          <p:cNvSpPr/>
          <p:nvPr/>
        </p:nvSpPr>
        <p:spPr bwMode="auto">
          <a:xfrm>
            <a:off x="3830275" y="886968"/>
            <a:ext cx="5120640" cy="73152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59443354" name="Text 9"/>
          <p:cNvSpPr/>
          <p:nvPr/>
        </p:nvSpPr>
        <p:spPr bwMode="auto">
          <a:xfrm>
            <a:off x="3894283" y="886968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Responsibility</a:t>
            </a:r>
            <a:endParaRPr lang="en-US" sz="1200"/>
          </a:p>
        </p:txBody>
      </p:sp>
      <p:sp>
        <p:nvSpPr>
          <p:cNvPr id="1287625416" name="Shape 10"/>
          <p:cNvSpPr/>
          <p:nvPr/>
        </p:nvSpPr>
        <p:spPr bwMode="auto">
          <a:xfrm>
            <a:off x="264115" y="1682496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75835630" name="Text 11"/>
          <p:cNvSpPr/>
          <p:nvPr/>
        </p:nvSpPr>
        <p:spPr bwMode="auto">
          <a:xfrm>
            <a:off x="328123" y="1682496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Anagrafe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1939995725" name="Shape 12"/>
          <p:cNvSpPr/>
          <p:nvPr/>
        </p:nvSpPr>
        <p:spPr bwMode="auto">
          <a:xfrm>
            <a:off x="1910035" y="1682496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50278526" name="Text 13"/>
          <p:cNvSpPr/>
          <p:nvPr/>
        </p:nvSpPr>
        <p:spPr bwMode="auto">
          <a:xfrm>
            <a:off x="1974043" y="1682496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(CXF)</a:t>
            </a:r>
            <a:endParaRPr lang="en-US" sz="1100"/>
          </a:p>
        </p:txBody>
      </p:sp>
      <p:sp>
        <p:nvSpPr>
          <p:cNvPr id="2019155346" name="Shape 14"/>
          <p:cNvSpPr/>
          <p:nvPr/>
        </p:nvSpPr>
        <p:spPr bwMode="auto">
          <a:xfrm>
            <a:off x="3098755" y="1682496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2967426" name="Text 15"/>
          <p:cNvSpPr/>
          <p:nvPr/>
        </p:nvSpPr>
        <p:spPr bwMode="auto">
          <a:xfrm>
            <a:off x="3162763" y="1682496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9101</a:t>
            </a:r>
            <a:endParaRPr lang="en-US" sz="1300"/>
          </a:p>
        </p:txBody>
      </p:sp>
      <p:sp>
        <p:nvSpPr>
          <p:cNvPr id="90152017" name="Shape 16"/>
          <p:cNvSpPr/>
          <p:nvPr/>
        </p:nvSpPr>
        <p:spPr bwMode="auto">
          <a:xfrm>
            <a:off x="3830275" y="1682496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42755974" name="Text 17"/>
          <p:cNvSpPr/>
          <p:nvPr/>
        </p:nvSpPr>
        <p:spPr bwMode="auto">
          <a:xfrm>
            <a:off x="3894283" y="1682496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demographics, medical history (conditions)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and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known allergies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b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</a:b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ontract-first WSDL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933986529" name="Shape 18"/>
          <p:cNvSpPr/>
          <p:nvPr/>
        </p:nvSpPr>
        <p:spPr bwMode="auto">
          <a:xfrm>
            <a:off x="264115" y="2478024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59088664" name="Text 19"/>
          <p:cNvSpPr/>
          <p:nvPr/>
        </p:nvSpPr>
        <p:spPr bwMode="auto">
          <a:xfrm>
            <a:off x="328123" y="2478024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Laboratorio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1616532796" name="Shape 20"/>
          <p:cNvSpPr/>
          <p:nvPr/>
        </p:nvSpPr>
        <p:spPr bwMode="auto">
          <a:xfrm>
            <a:off x="1910035" y="2478024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04395104" name="Text 21"/>
          <p:cNvSpPr/>
          <p:nvPr/>
        </p:nvSpPr>
        <p:spPr bwMode="auto">
          <a:xfrm>
            <a:off x="1974043" y="2478024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async</a:t>
            </a:r>
            <a:endParaRPr lang="en-US" sz="1100"/>
          </a:p>
        </p:txBody>
      </p:sp>
      <p:sp>
        <p:nvSpPr>
          <p:cNvPr id="539501800" name="Shape 22"/>
          <p:cNvSpPr/>
          <p:nvPr/>
        </p:nvSpPr>
        <p:spPr bwMode="auto">
          <a:xfrm>
            <a:off x="3098755" y="2478024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29669388" name="Text 23"/>
          <p:cNvSpPr/>
          <p:nvPr/>
        </p:nvSpPr>
        <p:spPr bwMode="auto">
          <a:xfrm>
            <a:off x="3162763" y="2478024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9102</a:t>
            </a:r>
            <a:endParaRPr lang="en-US" sz="1300"/>
          </a:p>
        </p:txBody>
      </p:sp>
      <p:sp>
        <p:nvSpPr>
          <p:cNvPr id="508220233" name="Shape 24"/>
          <p:cNvSpPr/>
          <p:nvPr/>
        </p:nvSpPr>
        <p:spPr bwMode="auto">
          <a:xfrm>
            <a:off x="3830275" y="2478024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52965512" name="Text 25"/>
          <p:cNvSpPr/>
          <p:nvPr/>
        </p:nvSpPr>
        <p:spPr bwMode="auto">
          <a:xfrm>
            <a:off x="3894283" y="2478024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 test orders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and measurements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status polling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for 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result retrieval, callback/webhook support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1148059192" name="Shape 26"/>
          <p:cNvSpPr/>
          <p:nvPr/>
        </p:nvSpPr>
        <p:spPr bwMode="auto">
          <a:xfrm>
            <a:off x="264115" y="3273552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39441960" name="Text 27"/>
          <p:cNvSpPr/>
          <p:nvPr/>
        </p:nvSpPr>
        <p:spPr bwMode="auto">
          <a:xfrm>
            <a:off x="328123" y="3273552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Farmacia </a:t>
            </a: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100"/>
          </a:p>
        </p:txBody>
      </p:sp>
      <p:sp>
        <p:nvSpPr>
          <p:cNvPr id="1111193462" name="Shape 28"/>
          <p:cNvSpPr/>
          <p:nvPr/>
        </p:nvSpPr>
        <p:spPr bwMode="auto">
          <a:xfrm>
            <a:off x="1910035" y="3273552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11020085" name="Text 29"/>
          <p:cNvSpPr/>
          <p:nvPr/>
        </p:nvSpPr>
        <p:spPr bwMode="auto">
          <a:xfrm>
            <a:off x="1974043" y="3273552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endParaRPr lang="en-US" sz="1100"/>
          </a:p>
        </p:txBody>
      </p:sp>
      <p:sp>
        <p:nvSpPr>
          <p:cNvPr id="873825360" name="Shape 30"/>
          <p:cNvSpPr/>
          <p:nvPr/>
        </p:nvSpPr>
        <p:spPr bwMode="auto">
          <a:xfrm>
            <a:off x="3098755" y="3273552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6924756" name="Text 31"/>
          <p:cNvSpPr/>
          <p:nvPr/>
        </p:nvSpPr>
        <p:spPr bwMode="auto">
          <a:xfrm>
            <a:off x="3162763" y="3273552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9103</a:t>
            </a:r>
            <a:endParaRPr lang="en-US" sz="1300"/>
          </a:p>
        </p:txBody>
      </p:sp>
      <p:sp>
        <p:nvSpPr>
          <p:cNvPr id="208197850" name="Shape 32"/>
          <p:cNvSpPr/>
          <p:nvPr/>
        </p:nvSpPr>
        <p:spPr bwMode="auto">
          <a:xfrm>
            <a:off x="3830275" y="3273552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32757933" name="Text 33"/>
          <p:cNvSpPr/>
          <p:nvPr/>
        </p:nvSpPr>
        <p:spPr bwMode="auto">
          <a:xfrm>
            <a:off x="3894283" y="3273552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Active prescriptions per patient, drug interaction check endpoint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100"/>
          </a:p>
        </p:txBody>
      </p:sp>
      <p:sp>
        <p:nvSpPr>
          <p:cNvPr id="139730003" name="Shape 34"/>
          <p:cNvSpPr/>
          <p:nvPr/>
        </p:nvSpPr>
        <p:spPr bwMode="auto">
          <a:xfrm>
            <a:off x="264115" y="4069080"/>
            <a:ext cx="1645920" cy="731520"/>
          </a:xfrm>
          <a:prstGeom prst="rect">
            <a:avLst/>
          </a:prstGeom>
          <a:solidFill>
            <a:srgbClr val="D4EDE6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68035595" name="Text 35"/>
          <p:cNvSpPr/>
          <p:nvPr/>
        </p:nvSpPr>
        <p:spPr bwMode="auto">
          <a:xfrm>
            <a:off x="328123" y="4069080"/>
            <a:ext cx="1554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1100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 Service</a:t>
            </a:r>
            <a:endParaRPr lang="en-US" sz="1100"/>
          </a:p>
        </p:txBody>
      </p:sp>
      <p:sp>
        <p:nvSpPr>
          <p:cNvPr id="1801335460" name="Shape 36"/>
          <p:cNvSpPr/>
          <p:nvPr/>
        </p:nvSpPr>
        <p:spPr bwMode="auto">
          <a:xfrm>
            <a:off x="1910035" y="4069080"/>
            <a:ext cx="11887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73431458" name="Text 37"/>
          <p:cNvSpPr/>
          <p:nvPr/>
        </p:nvSpPr>
        <p:spPr bwMode="auto">
          <a:xfrm>
            <a:off x="1974043" y="406908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async</a:t>
            </a:r>
            <a:endParaRPr lang="en-US" sz="1100"/>
          </a:p>
        </p:txBody>
      </p:sp>
      <p:sp>
        <p:nvSpPr>
          <p:cNvPr id="165053705" name="Shape 38"/>
          <p:cNvSpPr/>
          <p:nvPr/>
        </p:nvSpPr>
        <p:spPr bwMode="auto">
          <a:xfrm>
            <a:off x="3098755" y="4069080"/>
            <a:ext cx="731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00197340" name="Text 39"/>
          <p:cNvSpPr/>
          <p:nvPr/>
        </p:nvSpPr>
        <p:spPr bwMode="auto">
          <a:xfrm>
            <a:off x="3162763" y="406908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9104</a:t>
            </a:r>
            <a:endParaRPr lang="en-US" sz="1300"/>
          </a:p>
        </p:txBody>
      </p:sp>
      <p:sp>
        <p:nvSpPr>
          <p:cNvPr id="470374539" name="Shape 40"/>
          <p:cNvSpPr/>
          <p:nvPr/>
        </p:nvSpPr>
        <p:spPr bwMode="auto">
          <a:xfrm>
            <a:off x="3830275" y="4069080"/>
            <a:ext cx="5120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65506043" name="Text 41"/>
          <p:cNvSpPr/>
          <p:nvPr/>
        </p:nvSpPr>
        <p:spPr bwMode="auto">
          <a:xfrm>
            <a:off x="3894283" y="406908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Radiology and imaging reports 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same async model as Laboratorio</a:t>
            </a:r>
            <a:r>
              <a:rPr lang="it-IT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Service.</a:t>
            </a:r>
            <a:endParaRPr lang="en-US" sz="1100"/>
          </a:p>
        </p:txBody>
      </p:sp>
      <p:sp>
        <p:nvSpPr>
          <p:cNvPr id="1039207794" name="Text 42"/>
          <p:cNvSpPr/>
          <p:nvPr/>
        </p:nvSpPr>
        <p:spPr bwMode="auto">
          <a:xfrm>
            <a:off x="457200" y="479145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412332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Service Prosumers</a:t>
            </a:r>
            <a:endParaRPr lang="en-US" sz="3400"/>
          </a:p>
        </p:txBody>
      </p:sp>
      <p:sp>
        <p:nvSpPr>
          <p:cNvPr id="868705947" name="Shape 1"/>
          <p:cNvSpPr/>
          <p:nvPr/>
        </p:nvSpPr>
        <p:spPr bwMode="auto">
          <a:xfrm>
            <a:off x="429768" y="772668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592993" name="Shape 2"/>
          <p:cNvSpPr/>
          <p:nvPr/>
        </p:nvSpPr>
        <p:spPr bwMode="auto">
          <a:xfrm>
            <a:off x="274319" y="882396"/>
            <a:ext cx="12801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82769866" name="Text 3"/>
          <p:cNvSpPr/>
          <p:nvPr/>
        </p:nvSpPr>
        <p:spPr bwMode="auto">
          <a:xfrm>
            <a:off x="338327" y="882396"/>
            <a:ext cx="1188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Service</a:t>
            </a:r>
            <a:endParaRPr lang="en-US" sz="1200"/>
          </a:p>
        </p:txBody>
      </p:sp>
      <p:sp>
        <p:nvSpPr>
          <p:cNvPr id="223052451" name="Shape 4"/>
          <p:cNvSpPr/>
          <p:nvPr/>
        </p:nvSpPr>
        <p:spPr bwMode="auto">
          <a:xfrm>
            <a:off x="1554479" y="882396"/>
            <a:ext cx="64008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45903175" name="Text 5"/>
          <p:cNvSpPr/>
          <p:nvPr/>
        </p:nvSpPr>
        <p:spPr bwMode="auto">
          <a:xfrm>
            <a:off x="1618487" y="882396"/>
            <a:ext cx="548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Port</a:t>
            </a:r>
            <a:endParaRPr lang="en-US" sz="1200"/>
          </a:p>
        </p:txBody>
      </p:sp>
      <p:sp>
        <p:nvSpPr>
          <p:cNvPr id="1709248165" name="Shape 6"/>
          <p:cNvSpPr/>
          <p:nvPr/>
        </p:nvSpPr>
        <p:spPr bwMode="auto">
          <a:xfrm>
            <a:off x="2194559" y="882396"/>
            <a:ext cx="228600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3400296" name="Text 7"/>
          <p:cNvSpPr/>
          <p:nvPr/>
        </p:nvSpPr>
        <p:spPr bwMode="auto">
          <a:xfrm>
            <a:off x="2258567" y="882396"/>
            <a:ext cx="21945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Providers Consumed</a:t>
            </a:r>
            <a:endParaRPr lang="en-US" sz="1200"/>
          </a:p>
        </p:txBody>
      </p:sp>
      <p:sp>
        <p:nvSpPr>
          <p:cNvPr id="451302702" name="Shape 8"/>
          <p:cNvSpPr/>
          <p:nvPr/>
        </p:nvSpPr>
        <p:spPr bwMode="auto">
          <a:xfrm>
            <a:off x="4480559" y="882396"/>
            <a:ext cx="4480560" cy="43891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54330110" name="Text 9"/>
          <p:cNvSpPr/>
          <p:nvPr/>
        </p:nvSpPr>
        <p:spPr bwMode="auto">
          <a:xfrm>
            <a:off x="4544568" y="882396"/>
            <a:ext cx="4389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</a:t>
            </a:r>
            <a:endParaRPr lang="en-US" sz="1200"/>
          </a:p>
        </p:txBody>
      </p:sp>
      <p:sp>
        <p:nvSpPr>
          <p:cNvPr id="1769544355" name="Shape 10"/>
          <p:cNvSpPr/>
          <p:nvPr/>
        </p:nvSpPr>
        <p:spPr bwMode="auto">
          <a:xfrm>
            <a:off x="274319" y="132130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6793059" name="Text 11"/>
          <p:cNvSpPr/>
          <p:nvPr/>
        </p:nvSpPr>
        <p:spPr bwMode="auto">
          <a:xfrm>
            <a:off x="338327" y="132130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268969913" name="Shape 12"/>
          <p:cNvSpPr/>
          <p:nvPr/>
        </p:nvSpPr>
        <p:spPr bwMode="auto">
          <a:xfrm>
            <a:off x="1554479" y="132130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24979861" name="Text 13"/>
          <p:cNvSpPr/>
          <p:nvPr/>
        </p:nvSpPr>
        <p:spPr bwMode="auto">
          <a:xfrm>
            <a:off x="1618487" y="132130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9201</a:t>
            </a:r>
            <a:endParaRPr lang="en-US" sz="1200"/>
          </a:p>
        </p:txBody>
      </p:sp>
      <p:sp>
        <p:nvSpPr>
          <p:cNvPr id="13798968" name="Shape 14"/>
          <p:cNvSpPr/>
          <p:nvPr/>
        </p:nvSpPr>
        <p:spPr bwMode="auto">
          <a:xfrm>
            <a:off x="2194559" y="132130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55464366" name="Text 15"/>
          <p:cNvSpPr/>
          <p:nvPr/>
        </p:nvSpPr>
        <p:spPr bwMode="auto">
          <a:xfrm>
            <a:off x="2258567" y="132130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Serivce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 async)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Imaging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 async)</a:t>
            </a:r>
            <a:endParaRPr lang="en-US" sz="1050"/>
          </a:p>
        </p:txBody>
      </p:sp>
      <p:sp>
        <p:nvSpPr>
          <p:cNvPr id="1561890535" name="Shape 16"/>
          <p:cNvSpPr/>
          <p:nvPr/>
        </p:nvSpPr>
        <p:spPr bwMode="auto">
          <a:xfrm>
            <a:off x="4480559" y="132130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74169007" name="Text 17"/>
          <p:cNvSpPr/>
          <p:nvPr/>
        </p:nvSpPr>
        <p:spPr bwMode="auto">
          <a:xfrm>
            <a:off x="4544568" y="132130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UC-3: Order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diagnostic panel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process the request asynchronously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compose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TestResults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ImagingReports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filtered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by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panel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value, to build a Diagno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stic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Bundle.</a:t>
            </a:r>
            <a:endParaRPr lang="en-US" sz="1050"/>
          </a:p>
        </p:txBody>
      </p:sp>
      <p:sp>
        <p:nvSpPr>
          <p:cNvPr id="2097580143" name="Shape 18"/>
          <p:cNvSpPr/>
          <p:nvPr/>
        </p:nvSpPr>
        <p:spPr bwMode="auto">
          <a:xfrm>
            <a:off x="274319" y="251002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53515629" name="Text 19"/>
          <p:cNvSpPr/>
          <p:nvPr/>
        </p:nvSpPr>
        <p:spPr bwMode="auto">
          <a:xfrm>
            <a:off x="338327" y="251002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Aggregator</a:t>
            </a:r>
            <a:endParaRPr lang="en-US" sz="1050"/>
          </a:p>
        </p:txBody>
      </p:sp>
      <p:sp>
        <p:nvSpPr>
          <p:cNvPr id="272988781" name="Shape 20"/>
          <p:cNvSpPr/>
          <p:nvPr/>
        </p:nvSpPr>
        <p:spPr bwMode="auto">
          <a:xfrm>
            <a:off x="1554479" y="251002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774070349" name="Text 21"/>
          <p:cNvSpPr/>
          <p:nvPr/>
        </p:nvSpPr>
        <p:spPr bwMode="auto">
          <a:xfrm>
            <a:off x="1618487" y="251002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9202</a:t>
            </a:r>
            <a:endParaRPr lang="en-US" sz="1200"/>
          </a:p>
        </p:txBody>
      </p:sp>
      <p:sp>
        <p:nvSpPr>
          <p:cNvPr id="948098601" name="Shape 22"/>
          <p:cNvSpPr/>
          <p:nvPr/>
        </p:nvSpPr>
        <p:spPr bwMode="auto">
          <a:xfrm>
            <a:off x="2194559" y="251002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789141154" name="Text 23"/>
          <p:cNvSpPr/>
          <p:nvPr/>
        </p:nvSpPr>
        <p:spPr bwMode="auto">
          <a:xfrm>
            <a:off x="2258567" y="251002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(SOAP/CXF)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Farmacia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(REST)</a:t>
            </a:r>
            <a:endParaRPr lang="en-US" sz="1050"/>
          </a:p>
        </p:txBody>
      </p:sp>
      <p:sp>
        <p:nvSpPr>
          <p:cNvPr id="639852824" name="Shape 24"/>
          <p:cNvSpPr/>
          <p:nvPr/>
        </p:nvSpPr>
        <p:spPr bwMode="auto">
          <a:xfrm>
            <a:off x="4480559" y="251002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94596966" name="Text 25"/>
          <p:cNvSpPr/>
          <p:nvPr/>
        </p:nvSpPr>
        <p:spPr bwMode="auto">
          <a:xfrm>
            <a:off x="4544568" y="251002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UC-2: Bridge SOAP↔RES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compose demographics + history + prescriptions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to build a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ClinicalProfile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.</a:t>
            </a:r>
            <a:endParaRPr lang="en-US" sz="1050"/>
          </a:p>
        </p:txBody>
      </p:sp>
      <p:sp>
        <p:nvSpPr>
          <p:cNvPr id="980807932" name="Shape 26"/>
          <p:cNvSpPr/>
          <p:nvPr/>
        </p:nvSpPr>
        <p:spPr bwMode="auto">
          <a:xfrm>
            <a:off x="274319" y="3698748"/>
            <a:ext cx="1280160" cy="1115568"/>
          </a:xfrm>
          <a:prstGeom prst="rect">
            <a:avLst/>
          </a:prstGeom>
          <a:solidFill>
            <a:srgbClr val="EAE8F8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754047" name="Text 27"/>
          <p:cNvSpPr/>
          <p:nvPr/>
        </p:nvSpPr>
        <p:spPr bwMode="auto">
          <a:xfrm>
            <a:off x="338327" y="3698748"/>
            <a:ext cx="11887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Care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Coordinator</a:t>
            </a:r>
            <a:endParaRPr lang="en-US" sz="1050"/>
          </a:p>
        </p:txBody>
      </p:sp>
      <p:sp>
        <p:nvSpPr>
          <p:cNvPr id="1608839020" name="Shape 28"/>
          <p:cNvSpPr/>
          <p:nvPr/>
        </p:nvSpPr>
        <p:spPr bwMode="auto">
          <a:xfrm>
            <a:off x="1554479" y="3698748"/>
            <a:ext cx="640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00283240" name="Text 29"/>
          <p:cNvSpPr/>
          <p:nvPr/>
        </p:nvSpPr>
        <p:spPr bwMode="auto">
          <a:xfrm>
            <a:off x="1618487" y="3698748"/>
            <a:ext cx="54864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onsolas"/>
                <a:ea typeface="Consolas"/>
                <a:cs typeface="Consolas"/>
              </a:rPr>
              <a:t>9203</a:t>
            </a:r>
            <a:endParaRPr lang="en-US" sz="1200"/>
          </a:p>
        </p:txBody>
      </p:sp>
      <p:sp>
        <p:nvSpPr>
          <p:cNvPr id="200263514" name="Shape 30"/>
          <p:cNvSpPr/>
          <p:nvPr/>
        </p:nvSpPr>
        <p:spPr bwMode="auto">
          <a:xfrm>
            <a:off x="2194559" y="3698748"/>
            <a:ext cx="228600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88554372" name="Text 31"/>
          <p:cNvSpPr/>
          <p:nvPr/>
        </p:nvSpPr>
        <p:spPr bwMode="auto">
          <a:xfrm>
            <a:off x="2258567" y="3698748"/>
            <a:ext cx="219456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Aggregator (REST) +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Aggregator (REST)</a:t>
            </a:r>
            <a:endParaRPr lang="en-US" sz="1050">
              <a:solidFill>
                <a:srgbClr val="595959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  <a:defRPr/>
            </a:pPr>
            <a:r>
              <a:rPr lang="it-IT" sz="1050" i="1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Here we consume Prosumers!</a:t>
            </a:r>
            <a:endParaRPr sz="1050" i="1">
              <a:solidFill>
                <a:srgbClr val="595959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3512486" name="Shape 32"/>
          <p:cNvSpPr/>
          <p:nvPr/>
        </p:nvSpPr>
        <p:spPr bwMode="auto">
          <a:xfrm>
            <a:off x="4480559" y="3698748"/>
            <a:ext cx="448056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46983195" name="Text 33"/>
          <p:cNvSpPr/>
          <p:nvPr/>
        </p:nvSpPr>
        <p:spPr bwMode="auto">
          <a:xfrm>
            <a:off x="4544568" y="3698748"/>
            <a:ext cx="43891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UC-1: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omplete fitness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assessment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for a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, done with 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</a:t>
            </a: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arallel orchestration</a:t>
            </a:r>
            <a:r>
              <a:rPr lang="it-IT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- </a:t>
            </a:r>
            <a:r>
              <a:rPr>
                <a:solidFill>
                  <a:srgbClr val="595959"/>
                </a:solidFill>
              </a:rPr>
              <a:t> 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results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cross-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reference</a:t>
            </a:r>
            <a:r>
              <a:rPr lang="it-IT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 into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 </a:t>
            </a:r>
            <a:r>
              <a:rPr lang="en-US" sz="10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FitnessReport</a:t>
            </a:r>
            <a:r>
              <a:rPr lang="it-IT" sz="1050"/>
              <a:t>.</a:t>
            </a:r>
            <a:endParaRPr lang="en-US" sz="1050"/>
          </a:p>
        </p:txBody>
      </p:sp>
      <p:sp>
        <p:nvSpPr>
          <p:cNvPr id="69191390" name="Text 34"/>
          <p:cNvSpPr/>
          <p:nvPr/>
        </p:nvSpPr>
        <p:spPr bwMode="auto">
          <a:xfrm>
            <a:off x="274319" y="4814316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8045218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Key Data Structures</a:t>
            </a:r>
            <a:endParaRPr lang="en-US" sz="3400"/>
          </a:p>
        </p:txBody>
      </p:sp>
      <p:sp>
        <p:nvSpPr>
          <p:cNvPr id="528561758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72568622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9474782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Domain Objects (Providers)</a:t>
            </a:r>
            <a:endParaRPr lang="en-US" sz="1300"/>
          </a:p>
        </p:txBody>
      </p:sp>
      <p:sp>
        <p:nvSpPr>
          <p:cNvPr id="1179412029" name="Text 4"/>
          <p:cNvSpPr/>
          <p:nvPr/>
        </p:nvSpPr>
        <p:spPr bwMode="auto">
          <a:xfrm>
            <a:off x="640079" y="17922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Patient</a:t>
            </a:r>
            <a:endParaRPr lang="en-US" sz="1100"/>
          </a:p>
        </p:txBody>
      </p:sp>
      <p:sp>
        <p:nvSpPr>
          <p:cNvPr id="1616332113" name="Text 5"/>
          <p:cNvSpPr/>
          <p:nvPr/>
        </p:nvSpPr>
        <p:spPr bwMode="auto">
          <a:xfrm>
            <a:off x="1874519" y="17465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id · fiscal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first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name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last name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of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irth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· gender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phone number</a:t>
            </a:r>
            <a:endParaRPr lang="en-US" sz="900"/>
          </a:p>
        </p:txBody>
      </p:sp>
      <p:sp>
        <p:nvSpPr>
          <p:cNvPr id="1198445622" name="Text 6"/>
          <p:cNvSpPr/>
          <p:nvPr/>
        </p:nvSpPr>
        <p:spPr bwMode="auto">
          <a:xfrm>
            <a:off x="640079" y="22494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Condition</a:t>
            </a:r>
            <a:endParaRPr lang="en-US" sz="1100"/>
          </a:p>
        </p:txBody>
      </p:sp>
      <p:sp>
        <p:nvSpPr>
          <p:cNvPr id="982274871" name="Text 7"/>
          <p:cNvSpPr/>
          <p:nvPr/>
        </p:nvSpPr>
        <p:spPr bwMode="auto">
          <a:xfrm>
            <a:off x="1874519" y="22037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icd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10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description · diagnosis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· status (ACTIVE/RESOLVED)</a:t>
            </a:r>
            <a:endParaRPr lang="en-US" sz="900"/>
          </a:p>
        </p:txBody>
      </p:sp>
      <p:sp>
        <p:nvSpPr>
          <p:cNvPr id="1804010435" name="Text 8"/>
          <p:cNvSpPr/>
          <p:nvPr/>
        </p:nvSpPr>
        <p:spPr bwMode="auto">
          <a:xfrm>
            <a:off x="640079" y="27066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Allergy</a:t>
            </a:r>
            <a:endParaRPr lang="en-US" sz="1100"/>
          </a:p>
        </p:txBody>
      </p:sp>
      <p:sp>
        <p:nvSpPr>
          <p:cNvPr id="1876287052" name="Text 9"/>
          <p:cNvSpPr/>
          <p:nvPr/>
        </p:nvSpPr>
        <p:spPr bwMode="auto">
          <a:xfrm>
            <a:off x="1874519" y="26609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substance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severity (MILD/SEVERE/ANAPHYLACTIC) · detected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</a:t>
            </a:r>
            <a:endParaRPr lang="en-US" sz="900"/>
          </a:p>
        </p:txBody>
      </p:sp>
      <p:sp>
        <p:nvSpPr>
          <p:cNvPr id="1800540494" name="Text 10"/>
          <p:cNvSpPr/>
          <p:nvPr/>
        </p:nvSpPr>
        <p:spPr bwMode="auto">
          <a:xfrm>
            <a:off x="640079" y="316382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Prescription</a:t>
            </a:r>
            <a:endParaRPr lang="en-US" sz="1100"/>
          </a:p>
        </p:txBody>
      </p:sp>
      <p:sp>
        <p:nvSpPr>
          <p:cNvPr id="970207017" name="Text 11"/>
          <p:cNvSpPr/>
          <p:nvPr/>
        </p:nvSpPr>
        <p:spPr bwMode="auto">
          <a:xfrm>
            <a:off x="1874519" y="312724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drug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ame · atc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dosage · frequency · start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date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end date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prescribing doctor.</a:t>
            </a:r>
            <a:endParaRPr lang="en-US" sz="900"/>
          </a:p>
        </p:txBody>
      </p:sp>
      <p:sp>
        <p:nvSpPr>
          <p:cNvPr id="984372768" name="Text 12"/>
          <p:cNvSpPr/>
          <p:nvPr/>
        </p:nvSpPr>
        <p:spPr bwMode="auto">
          <a:xfrm>
            <a:off x="640079" y="3621023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Test</a:t>
            </a:r>
            <a:r>
              <a:rPr lang="it-IT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Order</a:t>
            </a:r>
            <a:endParaRPr lang="en-US" sz="1100"/>
          </a:p>
        </p:txBody>
      </p:sp>
      <p:sp>
        <p:nvSpPr>
          <p:cNvPr id="1047005773" name="Text 13"/>
          <p:cNvSpPr/>
          <p:nvPr/>
        </p:nvSpPr>
        <p:spPr bwMode="auto">
          <a:xfrm>
            <a:off x="1874519" y="3575303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 ·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patient id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exam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ode · status (PENDING/PROCESSING/COMPLETED/ERROR)</a:t>
            </a:r>
            <a:r>
              <a:rPr lang="it-IT" sz="900"/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ate of creation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date of update</a:t>
            </a:r>
            <a:endParaRPr lang="en-US" sz="900" b="0" i="0" u="none" strike="noStrike" cap="none" spc="0">
              <a:solidFill>
                <a:srgbClr val="595959"/>
              </a:solidFill>
              <a:latin typeface="Calibri"/>
              <a:cs typeface="Calibri"/>
            </a:endParaRPr>
          </a:p>
        </p:txBody>
      </p:sp>
      <p:sp>
        <p:nvSpPr>
          <p:cNvPr id="2101665279" name="Text 14"/>
          <p:cNvSpPr/>
          <p:nvPr/>
        </p:nvSpPr>
        <p:spPr bwMode="auto">
          <a:xfrm>
            <a:off x="640079" y="40782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Measurement</a:t>
            </a:r>
            <a:endParaRPr lang="en-US" sz="1100"/>
          </a:p>
        </p:txBody>
      </p:sp>
      <p:sp>
        <p:nvSpPr>
          <p:cNvPr id="898521247" name="Text 15"/>
          <p:cNvSpPr/>
          <p:nvPr/>
        </p:nvSpPr>
        <p:spPr bwMode="auto">
          <a:xfrm>
            <a:off x="1874519" y="40325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id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parameter · value · unit · ref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erence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ange · anomaly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(TRUE/FALSE)</a:t>
            </a:r>
            <a:endParaRPr lang="en-US" sz="900"/>
          </a:p>
        </p:txBody>
      </p:sp>
      <p:sp>
        <p:nvSpPr>
          <p:cNvPr id="1310731210" name="Text 16"/>
          <p:cNvSpPr/>
          <p:nvPr/>
        </p:nvSpPr>
        <p:spPr bwMode="auto">
          <a:xfrm>
            <a:off x="640079" y="4535424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Imaging</a:t>
            </a:r>
            <a:r>
              <a:rPr lang="it-IT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Report</a:t>
            </a:r>
            <a:endParaRPr lang="en-US" sz="1100"/>
          </a:p>
        </p:txBody>
      </p:sp>
      <p:sp>
        <p:nvSpPr>
          <p:cNvPr id="1312369041" name="Text 17"/>
          <p:cNvSpPr/>
          <p:nvPr/>
        </p:nvSpPr>
        <p:spPr bwMode="auto">
          <a:xfrm>
            <a:off x="1874519" y="4489704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 id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exam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t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ype 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status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findings ·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conclusion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critical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f</a:t>
            </a:r>
            <a:r>
              <a:rPr lang="en-US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lag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90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 </a:t>
            </a:r>
            <a:r>
              <a:rPr lang="it-IT" sz="9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report date</a:t>
            </a:r>
            <a:endParaRPr lang="en-US" sz="900"/>
          </a:p>
        </p:txBody>
      </p:sp>
      <p:sp>
        <p:nvSpPr>
          <p:cNvPr id="82846198" name="Shape 18"/>
          <p:cNvSpPr/>
          <p:nvPr/>
        </p:nvSpPr>
        <p:spPr bwMode="auto">
          <a:xfrm>
            <a:off x="4754880" y="1179575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130720" name="Text 19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Composed Objects (Prosumers)</a:t>
            </a:r>
            <a:endParaRPr lang="en-US" sz="1300"/>
          </a:p>
        </p:txBody>
      </p:sp>
      <p:sp>
        <p:nvSpPr>
          <p:cNvPr id="2094211923" name="Text 20"/>
          <p:cNvSpPr/>
          <p:nvPr/>
        </p:nvSpPr>
        <p:spPr bwMode="auto">
          <a:xfrm>
            <a:off x="4937760" y="189280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Diagnostic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Bundle</a:t>
            </a:r>
            <a:endParaRPr lang="en-US" sz="1100"/>
          </a:p>
        </p:txBody>
      </p:sp>
      <p:sp>
        <p:nvSpPr>
          <p:cNvPr id="2136243752" name="Text 21"/>
          <p:cNvSpPr/>
          <p:nvPr/>
        </p:nvSpPr>
        <p:spPr bwMode="auto">
          <a:xfrm>
            <a:off x="6400800" y="1792222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TestResult (</a:t>
            </a:r>
            <a:r>
              <a:rPr lang="it-IT" sz="850" i="1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Test Order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List&lt;ImagingReport&gt;</a:t>
            </a:r>
            <a:endParaRPr lang="en-US" sz="850"/>
          </a:p>
        </p:txBody>
      </p:sp>
      <p:sp>
        <p:nvSpPr>
          <p:cNvPr id="1364632384" name="Text 22"/>
          <p:cNvSpPr/>
          <p:nvPr/>
        </p:nvSpPr>
        <p:spPr bwMode="auto">
          <a:xfrm>
            <a:off x="4937760" y="2551173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Clinical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Profile</a:t>
            </a:r>
            <a:endParaRPr lang="en-US" sz="1100"/>
          </a:p>
        </p:txBody>
      </p:sp>
      <p:sp>
        <p:nvSpPr>
          <p:cNvPr id="573045302" name="Text 23"/>
          <p:cNvSpPr/>
          <p:nvPr/>
        </p:nvSpPr>
        <p:spPr bwMode="auto">
          <a:xfrm>
            <a:off x="6400800" y="238201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List&lt;Condition&gt;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List&lt;Allergy&gt;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List&lt;Prescription&gt;</a:t>
            </a:r>
            <a:endParaRPr lang="en-US" sz="850"/>
          </a:p>
        </p:txBody>
      </p:sp>
      <p:sp>
        <p:nvSpPr>
          <p:cNvPr id="1593153168" name="Text 24"/>
          <p:cNvSpPr/>
          <p:nvPr/>
        </p:nvSpPr>
        <p:spPr bwMode="auto">
          <a:xfrm>
            <a:off x="4937760" y="3346704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Risk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Flag</a:t>
            </a:r>
            <a:endParaRPr lang="en-US" sz="1100"/>
          </a:p>
        </p:txBody>
      </p:sp>
      <p:sp>
        <p:nvSpPr>
          <p:cNvPr id="1009765390" name="Text 25"/>
          <p:cNvSpPr/>
          <p:nvPr/>
        </p:nvSpPr>
        <p:spPr bwMode="auto">
          <a:xfrm>
            <a:off x="6400800" y="3145533"/>
            <a:ext cx="2148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type (DRUG_CONTRAINDICATION / CRITICAL_VALUE / ALLERGY / OTHER)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severity (INFO/WARNING/CRITICAL)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description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source</a:t>
            </a:r>
            <a:r>
              <a:rPr lang="it-IT"/>
              <a:t> </a:t>
            </a:r>
            <a:endParaRPr lang="en-US"/>
          </a:p>
        </p:txBody>
      </p:sp>
      <p:sp>
        <p:nvSpPr>
          <p:cNvPr id="1139423510" name="Text 26"/>
          <p:cNvSpPr/>
          <p:nvPr/>
        </p:nvSpPr>
        <p:spPr bwMode="auto">
          <a:xfrm>
            <a:off x="4937760" y="429768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Fitness</a:t>
            </a:r>
            <a:r>
              <a:rPr lang="it-IT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110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Report</a:t>
            </a:r>
            <a:endParaRPr lang="en-US" sz="1100"/>
          </a:p>
        </p:txBody>
      </p:sp>
      <p:sp>
        <p:nvSpPr>
          <p:cNvPr id="263103992" name="Text 27"/>
          <p:cNvSpPr/>
          <p:nvPr/>
        </p:nvSpPr>
        <p:spPr bwMode="auto">
          <a:xfrm>
            <a:off x="6400800" y="4078224"/>
            <a:ext cx="214884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outcome: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FIT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| WITH_RESERVATION |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UNFIT</a:t>
            </a:r>
            <a:endParaRPr lang="en-US" sz="850"/>
          </a:p>
          <a:p>
            <a:pPr marL="0" indent="0">
              <a:buNone/>
              <a:defRPr/>
            </a:pP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patientId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generatedAt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linicalProfile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iagnosticBundle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 b="0" i="0" u="none" strike="noStrike" cap="none" spc="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·</a:t>
            </a:r>
            <a:r>
              <a:rPr lang="it-IT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8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List&lt;RiskFlag&gt;</a:t>
            </a:r>
            <a:endParaRPr lang="en-US" sz="8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1F4E79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2884865" name="Text 0"/>
          <p:cNvSpPr/>
          <p:nvPr/>
        </p:nvSpPr>
        <p:spPr bwMode="auto">
          <a:xfrm>
            <a:off x="731520" y="146304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Block 3 </a:t>
            </a:r>
            <a:r>
              <a:rPr lang="it-IT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4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Use Cases, Sequence Diagrams, Technological Stack</a:t>
            </a:r>
            <a:endParaRPr lang="en-US" sz="4200"/>
          </a:p>
        </p:txBody>
      </p:sp>
      <p:sp>
        <p:nvSpPr>
          <p:cNvPr id="2011369957" name="Text 1"/>
          <p:cNvSpPr/>
          <p:nvPr/>
        </p:nvSpPr>
        <p:spPr bwMode="auto">
          <a:xfrm>
            <a:off x="731520" y="25146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2000"/>
          </a:p>
        </p:txBody>
      </p:sp>
      <p:sp>
        <p:nvSpPr>
          <p:cNvPr id="354141629" name="Text 2"/>
          <p:cNvSpPr/>
          <p:nvPr/>
        </p:nvSpPr>
        <p:spPr bwMode="auto">
          <a:xfrm>
            <a:off x="731520" y="3017519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endParaRPr lang="en-US" sz="1400"/>
          </a:p>
        </p:txBody>
      </p:sp>
      <p:sp>
        <p:nvSpPr>
          <p:cNvPr id="979448960" name="Text 1"/>
          <p:cNvSpPr/>
          <p:nvPr/>
        </p:nvSpPr>
        <p:spPr bwMode="auto">
          <a:xfrm>
            <a:off x="883919" y="2666999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it-IT" sz="2000">
                <a:solidFill>
                  <a:srgbClr val="A8C4E0"/>
                </a:solidFill>
                <a:latin typeface="Calibri"/>
                <a:ea typeface="Calibri"/>
                <a:cs typeface="Calibri"/>
              </a:rPr>
              <a:t>Federico Capricci</a:t>
            </a:r>
            <a:endParaRPr lang="en-US"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270449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Use Cases Summary</a:t>
            </a:r>
            <a:endParaRPr lang="en-US" sz="3400"/>
          </a:p>
        </p:txBody>
      </p:sp>
      <p:sp>
        <p:nvSpPr>
          <p:cNvPr id="239086865" name="Shape 1"/>
          <p:cNvSpPr/>
          <p:nvPr/>
        </p:nvSpPr>
        <p:spPr bwMode="auto">
          <a:xfrm>
            <a:off x="309489" y="694944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943988369" name="Shape 2"/>
          <p:cNvSpPr/>
          <p:nvPr/>
        </p:nvSpPr>
        <p:spPr bwMode="auto">
          <a:xfrm>
            <a:off x="309489" y="804672"/>
            <a:ext cx="64008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11753355" name="Text 3"/>
          <p:cNvSpPr/>
          <p:nvPr/>
        </p:nvSpPr>
        <p:spPr bwMode="auto">
          <a:xfrm>
            <a:off x="364353" y="804672"/>
            <a:ext cx="5669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UC</a:t>
            </a:r>
            <a:endParaRPr lang="en-US" sz="1200"/>
          </a:p>
        </p:txBody>
      </p:sp>
      <p:sp>
        <p:nvSpPr>
          <p:cNvPr id="743039172" name="Shape 4"/>
          <p:cNvSpPr/>
          <p:nvPr/>
        </p:nvSpPr>
        <p:spPr bwMode="auto">
          <a:xfrm>
            <a:off x="949569" y="804672"/>
            <a:ext cx="1371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36545836" name="Text 5"/>
          <p:cNvSpPr/>
          <p:nvPr/>
        </p:nvSpPr>
        <p:spPr bwMode="auto">
          <a:xfrm>
            <a:off x="1004433" y="804672"/>
            <a:ext cx="1298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Name</a:t>
            </a:r>
            <a:endParaRPr lang="en-US" sz="1200"/>
          </a:p>
        </p:txBody>
      </p:sp>
      <p:sp>
        <p:nvSpPr>
          <p:cNvPr id="1556289881" name="Shape 6"/>
          <p:cNvSpPr/>
          <p:nvPr/>
        </p:nvSpPr>
        <p:spPr bwMode="auto">
          <a:xfrm>
            <a:off x="2321169" y="804672"/>
            <a:ext cx="41148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10579087" name="Text 7"/>
          <p:cNvSpPr/>
          <p:nvPr/>
        </p:nvSpPr>
        <p:spPr bwMode="auto">
          <a:xfrm>
            <a:off x="2376033" y="804672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Components</a:t>
            </a:r>
            <a:endParaRPr lang="en-US" sz="1200"/>
          </a:p>
        </p:txBody>
      </p:sp>
      <p:sp>
        <p:nvSpPr>
          <p:cNvPr id="1966812803" name="Shape 8"/>
          <p:cNvSpPr/>
          <p:nvPr/>
        </p:nvSpPr>
        <p:spPr bwMode="auto">
          <a:xfrm>
            <a:off x="6481689" y="804672"/>
            <a:ext cx="2514600" cy="384048"/>
          </a:xfrm>
          <a:prstGeom prst="rect">
            <a:avLst/>
          </a:prstGeom>
          <a:solidFill>
            <a:srgbClr val="1F4E79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330468040" name="Text 9"/>
          <p:cNvSpPr/>
          <p:nvPr/>
        </p:nvSpPr>
        <p:spPr bwMode="auto">
          <a:xfrm>
            <a:off x="6536553" y="804672"/>
            <a:ext cx="24414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Interaction</a:t>
            </a:r>
            <a:endParaRPr lang="en-US" sz="1200"/>
          </a:p>
        </p:txBody>
      </p:sp>
      <p:sp>
        <p:nvSpPr>
          <p:cNvPr id="757610092" name="Shape 10"/>
          <p:cNvSpPr/>
          <p:nvPr/>
        </p:nvSpPr>
        <p:spPr bwMode="auto">
          <a:xfrm>
            <a:off x="309489" y="1188720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54248781" name="Text 11"/>
          <p:cNvSpPr/>
          <p:nvPr/>
        </p:nvSpPr>
        <p:spPr bwMode="auto">
          <a:xfrm>
            <a:off x="364353" y="1188720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UC-1</a:t>
            </a:r>
            <a:endParaRPr lang="en-US" sz="1300"/>
          </a:p>
        </p:txBody>
      </p:sp>
      <p:sp>
        <p:nvSpPr>
          <p:cNvPr id="732765097" name="Shape 12"/>
          <p:cNvSpPr/>
          <p:nvPr/>
        </p:nvSpPr>
        <p:spPr bwMode="auto">
          <a:xfrm>
            <a:off x="949569" y="1188720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022694411" name="Text 13"/>
          <p:cNvSpPr/>
          <p:nvPr/>
        </p:nvSpPr>
        <p:spPr bwMode="auto">
          <a:xfrm>
            <a:off x="1004433" y="1188720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Full Fitness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Assessment</a:t>
            </a:r>
            <a:endParaRPr lang="en-US" sz="1050"/>
          </a:p>
        </p:txBody>
      </p:sp>
      <p:sp>
        <p:nvSpPr>
          <p:cNvPr id="1433185698" name="Shape 14"/>
          <p:cNvSpPr/>
          <p:nvPr/>
        </p:nvSpPr>
        <p:spPr bwMode="auto">
          <a:xfrm>
            <a:off x="2321169" y="1188720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301922626" name="Text 15"/>
          <p:cNvSpPr/>
          <p:nvPr/>
        </p:nvSpPr>
        <p:spPr bwMode="auto">
          <a:xfrm>
            <a:off x="2376033" y="1188720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Care Coordinator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Agg + Diagnostic Agg → providers</a:t>
            </a:r>
            <a:endParaRPr lang="en-US" sz="1050"/>
          </a:p>
        </p:txBody>
      </p:sp>
      <p:sp>
        <p:nvSpPr>
          <p:cNvPr id="600438132" name="Shape 16"/>
          <p:cNvSpPr/>
          <p:nvPr/>
        </p:nvSpPr>
        <p:spPr bwMode="auto">
          <a:xfrm>
            <a:off x="6481689" y="1188720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976313300" name="Text 17"/>
          <p:cNvSpPr/>
          <p:nvPr/>
        </p:nvSpPr>
        <p:spPr bwMode="auto">
          <a:xfrm>
            <a:off x="6536553" y="1188720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Parallel branches +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 barrier (allOf)</a:t>
            </a:r>
            <a:endParaRPr lang="en-US" sz="1100"/>
          </a:p>
        </p:txBody>
      </p:sp>
      <p:sp>
        <p:nvSpPr>
          <p:cNvPr id="541108036" name="Shape 18"/>
          <p:cNvSpPr/>
          <p:nvPr/>
        </p:nvSpPr>
        <p:spPr bwMode="auto">
          <a:xfrm>
            <a:off x="309489" y="2167128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644156800" name="Text 19"/>
          <p:cNvSpPr/>
          <p:nvPr/>
        </p:nvSpPr>
        <p:spPr bwMode="auto">
          <a:xfrm>
            <a:off x="364353" y="2167128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UC-2</a:t>
            </a:r>
            <a:endParaRPr lang="en-US" sz="1300"/>
          </a:p>
        </p:txBody>
      </p:sp>
      <p:sp>
        <p:nvSpPr>
          <p:cNvPr id="1614775461" name="Shape 20"/>
          <p:cNvSpPr/>
          <p:nvPr/>
        </p:nvSpPr>
        <p:spPr bwMode="auto">
          <a:xfrm>
            <a:off x="949569" y="2167128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642527269" name="Text 21"/>
          <p:cNvSpPr/>
          <p:nvPr/>
        </p:nvSpPr>
        <p:spPr bwMode="auto">
          <a:xfrm>
            <a:off x="1004433" y="2167128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Clinical History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Consultation</a:t>
            </a:r>
            <a:endParaRPr lang="en-US" sz="1050"/>
          </a:p>
        </p:txBody>
      </p:sp>
      <p:sp>
        <p:nvSpPr>
          <p:cNvPr id="451656741" name="Shape 22"/>
          <p:cNvSpPr/>
          <p:nvPr/>
        </p:nvSpPr>
        <p:spPr bwMode="auto">
          <a:xfrm>
            <a:off x="2321169" y="2167128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898853599" name="Text 23"/>
          <p:cNvSpPr/>
          <p:nvPr/>
        </p:nvSpPr>
        <p:spPr bwMode="auto">
          <a:xfrm>
            <a:off x="2376033" y="2167128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Clinical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Anagrafe (SOAP) + Farmacia (REST)</a:t>
            </a:r>
            <a:endParaRPr lang="en-US" sz="1050"/>
          </a:p>
        </p:txBody>
      </p:sp>
      <p:sp>
        <p:nvSpPr>
          <p:cNvPr id="1850147867" name="Shape 24"/>
          <p:cNvSpPr/>
          <p:nvPr/>
        </p:nvSpPr>
        <p:spPr bwMode="auto">
          <a:xfrm>
            <a:off x="6481689" y="2167128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519393112" name="Text 25"/>
          <p:cNvSpPr/>
          <p:nvPr/>
        </p:nvSpPr>
        <p:spPr bwMode="auto">
          <a:xfrm>
            <a:off x="6536553" y="2167128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Synchronous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composition</a:t>
            </a:r>
            <a:endParaRPr lang="en-US" sz="1100"/>
          </a:p>
        </p:txBody>
      </p:sp>
      <p:sp>
        <p:nvSpPr>
          <p:cNvPr id="786489560" name="Shape 26"/>
          <p:cNvSpPr/>
          <p:nvPr/>
        </p:nvSpPr>
        <p:spPr bwMode="auto">
          <a:xfrm>
            <a:off x="309489" y="3145536"/>
            <a:ext cx="64008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75470612" name="Text 27"/>
          <p:cNvSpPr/>
          <p:nvPr/>
        </p:nvSpPr>
        <p:spPr bwMode="auto">
          <a:xfrm>
            <a:off x="364353" y="3145536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UC-3</a:t>
            </a:r>
            <a:endParaRPr lang="en-US" sz="1300"/>
          </a:p>
        </p:txBody>
      </p:sp>
      <p:sp>
        <p:nvSpPr>
          <p:cNvPr id="5613338" name="Shape 28"/>
          <p:cNvSpPr/>
          <p:nvPr/>
        </p:nvSpPr>
        <p:spPr bwMode="auto">
          <a:xfrm>
            <a:off x="949569" y="3145536"/>
            <a:ext cx="1371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093359866" name="Text 29"/>
          <p:cNvSpPr/>
          <p:nvPr/>
        </p:nvSpPr>
        <p:spPr bwMode="auto">
          <a:xfrm>
            <a:off x="1004433" y="3145536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Diagnostic Test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Order &amp; Poll</a:t>
            </a:r>
            <a:endParaRPr lang="en-US" sz="1050"/>
          </a:p>
        </p:txBody>
      </p:sp>
      <p:sp>
        <p:nvSpPr>
          <p:cNvPr id="1365823250" name="Shape 30"/>
          <p:cNvSpPr/>
          <p:nvPr/>
        </p:nvSpPr>
        <p:spPr bwMode="auto">
          <a:xfrm>
            <a:off x="2321169" y="3145536"/>
            <a:ext cx="41148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209187585" name="Text 31"/>
          <p:cNvSpPr/>
          <p:nvPr/>
        </p:nvSpPr>
        <p:spPr bwMode="auto">
          <a:xfrm>
            <a:off x="2376033" y="3145536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Diagnostic Aggregator →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Laboratorio (async) + Imaging (async)</a:t>
            </a:r>
            <a:endParaRPr lang="en-US" sz="1050"/>
          </a:p>
        </p:txBody>
      </p:sp>
      <p:sp>
        <p:nvSpPr>
          <p:cNvPr id="1187795662" name="Shape 32"/>
          <p:cNvSpPr/>
          <p:nvPr/>
        </p:nvSpPr>
        <p:spPr bwMode="auto">
          <a:xfrm>
            <a:off x="6481689" y="3145536"/>
            <a:ext cx="2514600" cy="914400"/>
          </a:xfrm>
          <a:prstGeom prst="rect">
            <a:avLst/>
          </a:prstGeom>
          <a:solidFill>
            <a:srgbClr val="EFF3F7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1568521" name="Text 33"/>
          <p:cNvSpPr/>
          <p:nvPr/>
        </p:nvSpPr>
        <p:spPr bwMode="auto">
          <a:xfrm>
            <a:off x="6536553" y="3145536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Async request-reply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with polling/callback</a:t>
            </a:r>
            <a:endParaRPr lang="en-US" sz="1100"/>
          </a:p>
        </p:txBody>
      </p:sp>
      <p:sp>
        <p:nvSpPr>
          <p:cNvPr id="2142760624" name="Shape 34"/>
          <p:cNvSpPr/>
          <p:nvPr/>
        </p:nvSpPr>
        <p:spPr bwMode="auto">
          <a:xfrm>
            <a:off x="309489" y="4123944"/>
            <a:ext cx="6400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469353674" name="Text 35"/>
          <p:cNvSpPr/>
          <p:nvPr/>
        </p:nvSpPr>
        <p:spPr bwMode="auto">
          <a:xfrm>
            <a:off x="364353" y="4123944"/>
            <a:ext cx="56692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UC-4</a:t>
            </a:r>
            <a:endParaRPr lang="en-US" sz="1300"/>
          </a:p>
        </p:txBody>
      </p:sp>
      <p:sp>
        <p:nvSpPr>
          <p:cNvPr id="1322996023" name="Shape 36"/>
          <p:cNvSpPr/>
          <p:nvPr/>
        </p:nvSpPr>
        <p:spPr bwMode="auto">
          <a:xfrm>
            <a:off x="949569" y="4123944"/>
            <a:ext cx="1371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45894158" name="Text 37"/>
          <p:cNvSpPr/>
          <p:nvPr/>
        </p:nvSpPr>
        <p:spPr bwMode="auto">
          <a:xfrm>
            <a:off x="1004433" y="4123944"/>
            <a:ext cx="1298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New Prescription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(direct)</a:t>
            </a:r>
            <a:endParaRPr lang="en-US" sz="1050"/>
          </a:p>
        </p:txBody>
      </p:sp>
      <p:sp>
        <p:nvSpPr>
          <p:cNvPr id="113395887" name="Shape 38"/>
          <p:cNvSpPr/>
          <p:nvPr/>
        </p:nvSpPr>
        <p:spPr bwMode="auto">
          <a:xfrm>
            <a:off x="2321169" y="4123944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887708606" name="Text 39"/>
          <p:cNvSpPr/>
          <p:nvPr/>
        </p:nvSpPr>
        <p:spPr bwMode="auto">
          <a:xfrm>
            <a:off x="2376033" y="4123944"/>
            <a:ext cx="40416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Client → Gateway → Farmacia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(no prosumer involved)</a:t>
            </a:r>
            <a:endParaRPr lang="en-US" sz="1050"/>
          </a:p>
        </p:txBody>
      </p:sp>
      <p:sp>
        <p:nvSpPr>
          <p:cNvPr id="1204647646" name="Shape 40"/>
          <p:cNvSpPr/>
          <p:nvPr/>
        </p:nvSpPr>
        <p:spPr bwMode="auto">
          <a:xfrm>
            <a:off x="6481689" y="4123944"/>
            <a:ext cx="2514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21381015" name="Text 41"/>
          <p:cNvSpPr/>
          <p:nvPr/>
        </p:nvSpPr>
        <p:spPr bwMode="auto">
          <a:xfrm>
            <a:off x="6536553" y="4123944"/>
            <a:ext cx="244144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Direct client→provider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CRUD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7286025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UC-1  Full Fitness Assessment</a:t>
            </a:r>
            <a:endParaRPr/>
          </a:p>
        </p:txBody>
      </p:sp>
      <p:sp>
        <p:nvSpPr>
          <p:cNvPr id="1421835661" name="ScenCard"/>
          <p:cNvSpPr/>
          <p:nvPr/>
        </p:nvSpPr>
        <p:spPr bwMode="auto">
          <a:xfrm>
            <a:off x="457200" y="1508759"/>
            <a:ext cx="356616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500" b="1">
                <a:solidFill>
                  <a:srgbClr val="1F4E79"/>
                </a:solidFill>
                <a:latin typeface="Calibri"/>
              </a:rPr>
              <a:t>The Physician Requests</a:t>
            </a:r>
            <a:endParaRPr/>
          </a:p>
          <a:p>
            <a:pPr marL="0" indent="0" algn="l">
              <a:buNone/>
              <a:defRPr/>
            </a:pPr>
            <a:r>
              <a:rPr lang="en-US" sz="1250">
                <a:solidFill>
                  <a:srgbClr val="595959"/>
                </a:solidFill>
                <a:latin typeface="Calibri"/>
              </a:rPr>
              <a:t>A complete fitness assessment for a surgical or medical procedure.</a:t>
            </a:r>
            <a:endParaRPr/>
          </a:p>
          <a:p>
            <a:pPr marL="0" indent="0" algn="l">
              <a:buNone/>
              <a:defRPr/>
            </a:pPr>
            <a:r>
              <a:rPr lang="en-US" sz="1250">
                <a:solidFill>
                  <a:srgbClr val="595959"/>
                </a:solidFill>
                <a:latin typeface="Calibri"/>
              </a:rPr>
              <a:t>The system collects data from multiple services in parallel and aggregates them into a single clinical response.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</a:rPr>
              <a:t>Assessment outcome:</a:t>
            </a:r>
            <a:endParaRPr/>
          </a:p>
        </p:txBody>
      </p:sp>
      <p:sp>
        <p:nvSpPr>
          <p:cNvPr id="1930392493" name="Bar201"/>
          <p:cNvSpPr/>
          <p:nvPr/>
        </p:nvSpPr>
        <p:spPr bwMode="auto">
          <a:xfrm>
            <a:off x="457200" y="1508759"/>
            <a:ext cx="64008" cy="31089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9233469" name="Badge210"/>
          <p:cNvSpPr/>
          <p:nvPr/>
        </p:nvSpPr>
        <p:spPr bwMode="auto">
          <a:xfrm>
            <a:off x="640080" y="3383279"/>
            <a:ext cx="583387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FIT</a:t>
            </a:r>
            <a:endParaRPr/>
          </a:p>
        </p:txBody>
      </p:sp>
      <p:sp>
        <p:nvSpPr>
          <p:cNvPr id="1366409342" name="Badge211"/>
          <p:cNvSpPr/>
          <p:nvPr/>
        </p:nvSpPr>
        <p:spPr bwMode="auto">
          <a:xfrm>
            <a:off x="1600200" y="3394525"/>
            <a:ext cx="1133856" cy="384048"/>
          </a:xfrm>
          <a:prstGeom prst="rect">
            <a:avLst/>
          </a:prstGeom>
          <a:solidFill>
            <a:srgbClr val="7B5EA7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Calibri"/>
              </a:rPr>
              <a:t>FIT WITH RESERVATION</a:t>
            </a:r>
            <a:endParaRPr/>
          </a:p>
        </p:txBody>
      </p:sp>
      <p:sp>
        <p:nvSpPr>
          <p:cNvPr id="1214170491" name="Badge212"/>
          <p:cNvSpPr/>
          <p:nvPr/>
        </p:nvSpPr>
        <p:spPr bwMode="auto">
          <a:xfrm>
            <a:off x="3148279" y="3383279"/>
            <a:ext cx="652882" cy="38404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</a:rPr>
              <a:t>UNFIT</a:t>
            </a:r>
            <a:endParaRPr/>
          </a:p>
        </p:txBody>
      </p:sp>
      <p:sp>
        <p:nvSpPr>
          <p:cNvPr id="413471440" name="RepLbl"/>
          <p:cNvSpPr/>
          <p:nvPr/>
        </p:nvSpPr>
        <p:spPr bwMode="auto">
          <a:xfrm>
            <a:off x="4572000" y="834205"/>
            <a:ext cx="4343400" cy="384048"/>
          </a:xfrm>
          <a:prstGeom prst="rect">
            <a:avLst/>
          </a:prstGeom>
          <a:solidFill>
            <a:srgbClr val="D6E4F0"/>
          </a:solidFill>
          <a:ln w="12700">
            <a:solidFill>
              <a:srgbClr val="1F4E79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FitnessReport · Response Contents</a:t>
            </a:r>
            <a:endParaRPr/>
          </a:p>
        </p:txBody>
      </p:sp>
      <p:sp>
        <p:nvSpPr>
          <p:cNvPr id="1467829419" name="Bar300"/>
          <p:cNvSpPr/>
          <p:nvPr/>
        </p:nvSpPr>
        <p:spPr bwMode="auto">
          <a:xfrm>
            <a:off x="4572000" y="1291405"/>
            <a:ext cx="64008" cy="402336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71415296" name="Item0"/>
          <p:cNvSpPr/>
          <p:nvPr/>
        </p:nvSpPr>
        <p:spPr bwMode="auto">
          <a:xfrm>
            <a:off x="4572000" y="12914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Overall outcome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FIT / FIT WITH RESERVATION / UNFIT</a:t>
            </a:r>
            <a:endParaRPr/>
          </a:p>
        </p:txBody>
      </p:sp>
      <p:sp>
        <p:nvSpPr>
          <p:cNvPr id="1359186866" name="Bar310"/>
          <p:cNvSpPr/>
          <p:nvPr/>
        </p:nvSpPr>
        <p:spPr bwMode="auto">
          <a:xfrm>
            <a:off x="4572000" y="1748605"/>
            <a:ext cx="64008" cy="402336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70941768" name="Item1"/>
          <p:cNvSpPr/>
          <p:nvPr/>
        </p:nvSpPr>
        <p:spPr bwMode="auto">
          <a:xfrm>
            <a:off x="4572000" y="17486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Patient summary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Identifying data of the patient</a:t>
            </a:r>
            <a:endParaRPr/>
          </a:p>
        </p:txBody>
      </p:sp>
      <p:sp>
        <p:nvSpPr>
          <p:cNvPr id="450975496" name="Bar320"/>
          <p:cNvSpPr/>
          <p:nvPr/>
        </p:nvSpPr>
        <p:spPr bwMode="auto">
          <a:xfrm>
            <a:off x="4572000" y="22058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9902861" name="Item2"/>
          <p:cNvSpPr/>
          <p:nvPr/>
        </p:nvSpPr>
        <p:spPr bwMode="auto">
          <a:xfrm>
            <a:off x="4572000" y="22058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Known conditions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Active and past diagnoses (ICD codes)</a:t>
            </a:r>
            <a:endParaRPr/>
          </a:p>
        </p:txBody>
      </p:sp>
      <p:sp>
        <p:nvSpPr>
          <p:cNvPr id="1988246180" name="Bar330"/>
          <p:cNvSpPr/>
          <p:nvPr/>
        </p:nvSpPr>
        <p:spPr bwMode="auto">
          <a:xfrm>
            <a:off x="4572000" y="26630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18514895" name="Item3"/>
          <p:cNvSpPr/>
          <p:nvPr/>
        </p:nvSpPr>
        <p:spPr bwMode="auto">
          <a:xfrm>
            <a:off x="4572000" y="26630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Registered allergies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Allergen, severity, date detected</a:t>
            </a:r>
            <a:endParaRPr/>
          </a:p>
        </p:txBody>
      </p:sp>
      <p:sp>
        <p:nvSpPr>
          <p:cNvPr id="1549000662" name="Bar340"/>
          <p:cNvSpPr/>
          <p:nvPr/>
        </p:nvSpPr>
        <p:spPr bwMode="auto">
          <a:xfrm>
            <a:off x="4572000" y="3120205"/>
            <a:ext cx="64008" cy="402336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0319022" name="Item4"/>
          <p:cNvSpPr/>
          <p:nvPr/>
        </p:nvSpPr>
        <p:spPr bwMode="auto">
          <a:xfrm>
            <a:off x="4572000" y="31202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Active prescriptions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Drug, dosage, frequency</a:t>
            </a:r>
            <a:endParaRPr/>
          </a:p>
        </p:txBody>
      </p:sp>
      <p:sp>
        <p:nvSpPr>
          <p:cNvPr id="1489279917" name="Bar350"/>
          <p:cNvSpPr/>
          <p:nvPr/>
        </p:nvSpPr>
        <p:spPr bwMode="auto">
          <a:xfrm>
            <a:off x="4572000" y="3577404"/>
            <a:ext cx="64008" cy="402336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42335510" name="Item5"/>
          <p:cNvSpPr/>
          <p:nvPr/>
        </p:nvSpPr>
        <p:spPr bwMode="auto">
          <a:xfrm>
            <a:off x="4572000" y="3577404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Laboratory results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Measurements with anomalyFlag</a:t>
            </a:r>
            <a:endParaRPr/>
          </a:p>
        </p:txBody>
      </p:sp>
      <p:sp>
        <p:nvSpPr>
          <p:cNvPr id="836103717" name="Bar360"/>
          <p:cNvSpPr/>
          <p:nvPr/>
        </p:nvSpPr>
        <p:spPr bwMode="auto">
          <a:xfrm>
            <a:off x="4572000" y="4034605"/>
            <a:ext cx="64008" cy="402336"/>
          </a:xfrm>
          <a:prstGeom prst="rect">
            <a:avLst/>
          </a:prstGeom>
          <a:solidFill>
            <a:srgbClr val="534AB7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64946491" name="Item6"/>
          <p:cNvSpPr/>
          <p:nvPr/>
        </p:nvSpPr>
        <p:spPr bwMode="auto">
          <a:xfrm>
            <a:off x="4572000" y="40346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Diagnostic reports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Imaging: findings, criticalFlag</a:t>
            </a:r>
            <a:endParaRPr/>
          </a:p>
        </p:txBody>
      </p:sp>
      <p:sp>
        <p:nvSpPr>
          <p:cNvPr id="1246057316" name="Bar370"/>
          <p:cNvSpPr/>
          <p:nvPr/>
        </p:nvSpPr>
        <p:spPr bwMode="auto">
          <a:xfrm>
            <a:off x="4572000" y="4491805"/>
            <a:ext cx="64008" cy="402336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7247808" name="Item7"/>
          <p:cNvSpPr/>
          <p:nvPr/>
        </p:nvSpPr>
        <p:spPr bwMode="auto">
          <a:xfrm>
            <a:off x="4572000" y="4491805"/>
            <a:ext cx="43434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Risk factors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 contraindication · Critical value · Allergy</a:t>
            </a:r>
            <a:endParaRPr/>
          </a:p>
        </p:txBody>
      </p:sp>
      <p:sp>
        <p:nvSpPr>
          <p:cNvPr id="476045766" name="Shape 1"/>
          <p:cNvSpPr/>
          <p:nvPr/>
        </p:nvSpPr>
        <p:spPr bwMode="auto">
          <a:xfrm>
            <a:off x="489203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8822546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UC-2  Clinical History Consultation</a:t>
            </a:r>
            <a:endParaRPr/>
          </a:p>
        </p:txBody>
      </p:sp>
      <p:sp>
        <p:nvSpPr>
          <p:cNvPr id="575728984" name="Intro"/>
          <p:cNvSpPr/>
          <p:nvPr/>
        </p:nvSpPr>
        <p:spPr bwMode="auto">
          <a:xfrm>
            <a:off x="457200" y="959996"/>
            <a:ext cx="27432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1F4E79"/>
                </a:solidFill>
                <a:latin typeface="Calibri"/>
              </a:rPr>
              <a:t>Scenario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needs to review the patient's medical history without requesting a full fitness assessment.</a:t>
            </a:r>
            <a:endParaRPr/>
          </a:p>
        </p:txBody>
      </p:sp>
      <p:sp>
        <p:nvSpPr>
          <p:cNvPr id="1710733905" name="Bar201"/>
          <p:cNvSpPr/>
          <p:nvPr/>
        </p:nvSpPr>
        <p:spPr bwMode="auto">
          <a:xfrm>
            <a:off x="457200" y="959996"/>
            <a:ext cx="45719" cy="10515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89445841" name="CPLbl"/>
          <p:cNvSpPr/>
          <p:nvPr/>
        </p:nvSpPr>
        <p:spPr bwMode="auto">
          <a:xfrm>
            <a:off x="3680460" y="1497639"/>
            <a:ext cx="5166360" cy="384048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ClinicalProfile · Object returned to the physician</a:t>
            </a:r>
            <a:endParaRPr/>
          </a:p>
        </p:txBody>
      </p:sp>
      <p:sp>
        <p:nvSpPr>
          <p:cNvPr id="2123672444" name="Bar220"/>
          <p:cNvSpPr/>
          <p:nvPr/>
        </p:nvSpPr>
        <p:spPr bwMode="auto">
          <a:xfrm>
            <a:off x="3680460" y="1954839"/>
            <a:ext cx="64008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780339" name="CP0"/>
          <p:cNvSpPr/>
          <p:nvPr/>
        </p:nvSpPr>
        <p:spPr bwMode="auto">
          <a:xfrm>
            <a:off x="3680460" y="1954839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Patient data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id, name, fiscal code, date of birth, gender</a:t>
            </a:r>
            <a:endParaRPr/>
          </a:p>
        </p:txBody>
      </p:sp>
      <p:sp>
        <p:nvSpPr>
          <p:cNvPr id="462185069" name="Bar230"/>
          <p:cNvSpPr/>
          <p:nvPr/>
        </p:nvSpPr>
        <p:spPr bwMode="auto">
          <a:xfrm>
            <a:off x="3680460" y="2476047"/>
            <a:ext cx="64008" cy="45720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01300255" name="CP1"/>
          <p:cNvSpPr/>
          <p:nvPr/>
        </p:nvSpPr>
        <p:spPr bwMode="auto">
          <a:xfrm>
            <a:off x="3680460" y="2476047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Past diagnoses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List of ICD conditions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 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status ACTIVE / RESOLVED</a:t>
            </a:r>
            <a:endParaRPr/>
          </a:p>
        </p:txBody>
      </p:sp>
      <p:sp>
        <p:nvSpPr>
          <p:cNvPr id="1286140208" name="Bar240"/>
          <p:cNvSpPr/>
          <p:nvPr/>
        </p:nvSpPr>
        <p:spPr bwMode="auto">
          <a:xfrm>
            <a:off x="3680460" y="2997255"/>
            <a:ext cx="64008" cy="457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75622928" name="CP2"/>
          <p:cNvSpPr/>
          <p:nvPr/>
        </p:nvSpPr>
        <p:spPr bwMode="auto">
          <a:xfrm>
            <a:off x="3680460" y="2997255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Known allergies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Allergen, severity (MILD / SEVERE / ANAPHYLACTIC)</a:t>
            </a:r>
            <a:endParaRPr/>
          </a:p>
        </p:txBody>
      </p:sp>
      <p:sp>
        <p:nvSpPr>
          <p:cNvPr id="1342651641" name="Bar250"/>
          <p:cNvSpPr/>
          <p:nvPr/>
        </p:nvSpPr>
        <p:spPr bwMode="auto">
          <a:xfrm>
            <a:off x="3680460" y="3518463"/>
            <a:ext cx="64008" cy="45720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81396400" name="CP3"/>
          <p:cNvSpPr/>
          <p:nvPr/>
        </p:nvSpPr>
        <p:spPr bwMode="auto">
          <a:xfrm>
            <a:off x="3680460" y="3518463"/>
            <a:ext cx="5166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Active prescriptions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15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150">
                <a:solidFill>
                  <a:srgbClr val="595959"/>
                </a:solidFill>
                <a:latin typeface="Calibri"/>
              </a:rPr>
              <a:t>  Drug, ATC code, dosage, frequency, dates</a:t>
            </a:r>
            <a:endParaRPr/>
          </a:p>
        </p:txBody>
      </p:sp>
      <p:sp>
        <p:nvSpPr>
          <p:cNvPr id="681690867" name="AnaSource"/>
          <p:cNvSpPr/>
          <p:nvPr/>
        </p:nvSpPr>
        <p:spPr bwMode="auto">
          <a:xfrm>
            <a:off x="457200" y="2370520"/>
            <a:ext cx="2743200" cy="1051560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0F6E56"/>
                </a:solidFill>
                <a:latin typeface="Calibri"/>
              </a:rPr>
              <a:t>Anagrafe</a:t>
            </a:r>
            <a:r>
              <a:rPr lang="en-US" sz="1400" b="1">
                <a:solidFill>
                  <a:srgbClr val="0F6E56"/>
                </a:solidFill>
                <a:latin typeface="Calibri"/>
              </a:rPr>
              <a:t> Service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Protocol: SOAP / CXF  ·  :9101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Patient data · medical history · allergies</a:t>
            </a:r>
            <a:endParaRPr/>
          </a:p>
        </p:txBody>
      </p:sp>
      <p:sp>
        <p:nvSpPr>
          <p:cNvPr id="4012424" name="Bar301"/>
          <p:cNvSpPr/>
          <p:nvPr/>
        </p:nvSpPr>
        <p:spPr bwMode="auto">
          <a:xfrm>
            <a:off x="457200" y="2370520"/>
            <a:ext cx="64008" cy="105156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9460551" name="FarmSource"/>
          <p:cNvSpPr/>
          <p:nvPr/>
        </p:nvSpPr>
        <p:spPr bwMode="auto">
          <a:xfrm>
            <a:off x="489204" y="3813172"/>
            <a:ext cx="2711196" cy="1051560"/>
          </a:xfrm>
          <a:prstGeom prst="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00" b="1">
                <a:solidFill>
                  <a:srgbClr val="C55A11"/>
                </a:solidFill>
                <a:latin typeface="Calibri"/>
              </a:rPr>
              <a:t>Farmacia Service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Protocol: REST  ·  :9103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Active prescriptions per patient</a:t>
            </a:r>
            <a:endParaRPr/>
          </a:p>
        </p:txBody>
      </p:sp>
      <p:sp>
        <p:nvSpPr>
          <p:cNvPr id="1352972437" name="Bar311"/>
          <p:cNvSpPr/>
          <p:nvPr/>
        </p:nvSpPr>
        <p:spPr bwMode="auto">
          <a:xfrm>
            <a:off x="457200" y="3813172"/>
            <a:ext cx="65556" cy="105156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943537" name="Shape 1"/>
          <p:cNvSpPr/>
          <p:nvPr/>
        </p:nvSpPr>
        <p:spPr bwMode="auto">
          <a:xfrm>
            <a:off x="480059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33327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UC-3  Diagnostic Test Order &amp; Monitoring</a:t>
            </a:r>
            <a:endParaRPr/>
          </a:p>
        </p:txBody>
      </p:sp>
      <p:sp>
        <p:nvSpPr>
          <p:cNvPr id="1562723977" name="Badge200"/>
          <p:cNvSpPr/>
          <p:nvPr/>
        </p:nvSpPr>
        <p:spPr bwMode="auto">
          <a:xfrm>
            <a:off x="685800" y="1508759"/>
            <a:ext cx="246888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① Order</a:t>
            </a:r>
            <a:endParaRPr/>
          </a:p>
        </p:txBody>
      </p:sp>
      <p:sp>
        <p:nvSpPr>
          <p:cNvPr id="1543848608" name="P1"/>
          <p:cNvSpPr/>
          <p:nvPr/>
        </p:nvSpPr>
        <p:spPr bwMode="auto">
          <a:xfrm>
            <a:off x="68580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requests a diagnostic panel (e.g. renal panel, metabolic panel).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The system responds immediately: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0F6E56"/>
                </a:solidFill>
                <a:latin typeface="Calibri"/>
              </a:rPr>
              <a:t>• trackingId  (tracking code)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0F6E56"/>
                </a:solidFill>
                <a:latin typeface="Calibri"/>
              </a:rPr>
              <a:t>• HTTP 202 Accepted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The physician can continue working without waiting.</a:t>
            </a:r>
            <a:endParaRPr/>
          </a:p>
        </p:txBody>
      </p:sp>
      <p:sp>
        <p:nvSpPr>
          <p:cNvPr id="1999305319" name="Bar202"/>
          <p:cNvSpPr/>
          <p:nvPr/>
        </p:nvSpPr>
        <p:spPr bwMode="auto">
          <a:xfrm>
            <a:off x="685800" y="1920240"/>
            <a:ext cx="64008" cy="2331720"/>
          </a:xfrm>
          <a:prstGeom prst="rect">
            <a:avLst/>
          </a:prstGeom>
          <a:solidFill>
            <a:srgbClr val="1F4E79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89416768" name="Badge210"/>
          <p:cNvSpPr/>
          <p:nvPr/>
        </p:nvSpPr>
        <p:spPr bwMode="auto">
          <a:xfrm>
            <a:off x="3337560" y="1508759"/>
            <a:ext cx="2468880" cy="411480"/>
          </a:xfrm>
          <a:prstGeom prst="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② Processing</a:t>
            </a:r>
            <a:endParaRPr/>
          </a:p>
        </p:txBody>
      </p:sp>
      <p:sp>
        <p:nvSpPr>
          <p:cNvPr id="809163280" name="P2"/>
          <p:cNvSpPr/>
          <p:nvPr/>
        </p:nvSpPr>
        <p:spPr bwMode="auto">
          <a:xfrm>
            <a:off x="333756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client polls the system using the trackingId.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1F4E79"/>
                </a:solidFill>
                <a:latin typeface="Calibri"/>
              </a:rPr>
              <a:t>While processing, the response shows:</a:t>
            </a:r>
            <a:endParaRPr/>
          </a:p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status: PROCESSING</a:t>
            </a:r>
            <a:endParaRPr/>
          </a:p>
          <a:p>
            <a:pPr marL="0" indent="0" algn="l">
              <a:buNone/>
              <a:defRPr/>
            </a:pPr>
            <a:r>
              <a:rPr lang="en-US" sz="1200" b="1">
                <a:solidFill>
                  <a:srgbClr val="1F4E79"/>
                </a:solidFill>
                <a:latin typeface="Calibri"/>
              </a:rPr>
              <a:t>In the background: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Laboratorio :9102  processes lab tests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Imaging :9104  processes radiology reports</a:t>
            </a:r>
            <a:endParaRPr/>
          </a:p>
        </p:txBody>
      </p:sp>
      <p:sp>
        <p:nvSpPr>
          <p:cNvPr id="1501742551" name="Bar212"/>
          <p:cNvSpPr/>
          <p:nvPr/>
        </p:nvSpPr>
        <p:spPr bwMode="auto">
          <a:xfrm>
            <a:off x="3337560" y="1920240"/>
            <a:ext cx="64008" cy="2331720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34907444" name="Badge220"/>
          <p:cNvSpPr/>
          <p:nvPr/>
        </p:nvSpPr>
        <p:spPr bwMode="auto">
          <a:xfrm>
            <a:off x="5989320" y="1508759"/>
            <a:ext cx="2468880" cy="411480"/>
          </a:xfrm>
          <a:prstGeom prst="rect">
            <a:avLst/>
          </a:prstGeom>
          <a:solidFill>
            <a:srgbClr val="0F6E56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FFFFFF"/>
                </a:solidFill>
                <a:latin typeface="Calibri"/>
              </a:rPr>
              <a:t>③ Final Result</a:t>
            </a:r>
            <a:endParaRPr/>
          </a:p>
        </p:txBody>
      </p:sp>
      <p:sp>
        <p:nvSpPr>
          <p:cNvPr id="169018707" name="P3"/>
          <p:cNvSpPr/>
          <p:nvPr/>
        </p:nvSpPr>
        <p:spPr bwMode="auto">
          <a:xfrm>
            <a:off x="5989320" y="1920240"/>
            <a:ext cx="24688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Once processing is complete, the system returns the DiagnosticBundle: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0F6E56"/>
                </a:solidFill>
                <a:latin typeface="Calibri"/>
              </a:rPr>
              <a:t>DiagnosticBundle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List&lt;TestResult&gt;  (lab results)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• List&lt;ImagingReport&gt;  (diagnostic reports)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The physician always interacts with a single entry point and receives an aggregated response.</a:t>
            </a:r>
            <a:endParaRPr/>
          </a:p>
        </p:txBody>
      </p:sp>
      <p:sp>
        <p:nvSpPr>
          <p:cNvPr id="1396611504" name="Bar222"/>
          <p:cNvSpPr/>
          <p:nvPr/>
        </p:nvSpPr>
        <p:spPr bwMode="auto">
          <a:xfrm>
            <a:off x="5989320" y="1920240"/>
            <a:ext cx="64008" cy="2331720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54537125" name="Shape 1"/>
          <p:cNvSpPr/>
          <p:nvPr/>
        </p:nvSpPr>
        <p:spPr bwMode="auto">
          <a:xfrm>
            <a:off x="480058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794633" name="Title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</a:rPr>
              <a:t>UC-4  New Prescription</a:t>
            </a:r>
            <a:endParaRPr/>
          </a:p>
        </p:txBody>
      </p:sp>
      <p:sp>
        <p:nvSpPr>
          <p:cNvPr id="595674928" name="Sub"/>
          <p:cNvSpPr/>
          <p:nvPr/>
        </p:nvSpPr>
        <p:spPr bwMode="auto">
          <a:xfrm>
            <a:off x="345989" y="4700016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250" i="1">
                <a:solidFill>
                  <a:srgbClr val="595959"/>
                </a:solidFill>
                <a:latin typeface="Calibri"/>
              </a:rPr>
              <a:t>Direct client → provider interaction: not every operation requires an aggregator</a:t>
            </a:r>
            <a:endParaRPr/>
          </a:p>
        </p:txBody>
      </p:sp>
      <p:sp>
        <p:nvSpPr>
          <p:cNvPr id="1244323525" name="Scenario"/>
          <p:cNvSpPr/>
          <p:nvPr/>
        </p:nvSpPr>
        <p:spPr bwMode="auto">
          <a:xfrm>
            <a:off x="457200" y="1042416"/>
            <a:ext cx="3108960" cy="2083843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91440" rIns="91440" bIns="45720" rtlCol="0" anchor="t"/>
          <a:lstStyle/>
          <a:p>
            <a:pPr marL="0" indent="0" algn="l">
              <a:buNone/>
              <a:defRPr/>
            </a:pPr>
            <a:r>
              <a:rPr lang="en-US" sz="1450" b="1">
                <a:solidFill>
                  <a:srgbClr val="1F4E79"/>
                </a:solidFill>
                <a:latin typeface="Calibri"/>
              </a:rPr>
              <a:t>Scenario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The physician enters a new pharmacological prescription for a patient.</a:t>
            </a:r>
            <a:endParaRPr/>
          </a:p>
          <a:p>
            <a:pPr marL="0" indent="0" algn="l">
              <a:buNone/>
              <a:defRPr/>
            </a:pPr>
            <a:r>
              <a:rPr lang="en-US" sz="1300" b="1">
                <a:solidFill>
                  <a:srgbClr val="C55A11"/>
                </a:solidFill>
                <a:latin typeface="Calibri"/>
              </a:rPr>
              <a:t>No prosumer involved:</a:t>
            </a:r>
            <a:endParaRPr/>
          </a:p>
          <a:p>
            <a:pPr marL="0" indent="0" algn="l">
              <a:buNone/>
              <a:defRPr/>
            </a:pPr>
            <a:r>
              <a:rPr lang="en-US" sz="1200">
                <a:solidFill>
                  <a:srgbClr val="595959"/>
                </a:solidFill>
                <a:latin typeface="Calibri"/>
              </a:rPr>
              <a:t>Farmacia is the direct provider, responsible for its own domain.</a:t>
            </a:r>
            <a:endParaRPr/>
          </a:p>
          <a:p>
            <a:pPr marL="0" indent="0" algn="l">
              <a:buNone/>
              <a:defRPr/>
            </a:pPr>
            <a:r>
              <a:rPr lang="en-US" sz="1200" i="1">
                <a:solidFill>
                  <a:srgbClr val="595959"/>
                </a:solidFill>
                <a:latin typeface="Calibri"/>
              </a:rPr>
              <a:t>This use case shows that SOA does not always mandate aggregation: when an operation belongs to a single domain, the client reaches that provider directly.</a:t>
            </a:r>
            <a:endParaRPr/>
          </a:p>
        </p:txBody>
      </p:sp>
      <p:sp>
        <p:nvSpPr>
          <p:cNvPr id="1231025550" name="Bar201"/>
          <p:cNvSpPr/>
          <p:nvPr/>
        </p:nvSpPr>
        <p:spPr bwMode="auto">
          <a:xfrm>
            <a:off x="457200" y="1042416"/>
            <a:ext cx="64008" cy="2083843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74394125" name="ReqLbl"/>
          <p:cNvSpPr/>
          <p:nvPr/>
        </p:nvSpPr>
        <p:spPr bwMode="auto">
          <a:xfrm>
            <a:off x="3886200" y="1431036"/>
            <a:ext cx="4800600" cy="384048"/>
          </a:xfrm>
          <a:prstGeom prst="rect">
            <a:avLst/>
          </a:prstGeom>
          <a:solidFill>
            <a:srgbClr val="FCE4D6"/>
          </a:solidFill>
          <a:ln w="12700">
            <a:solidFill>
              <a:srgbClr val="C55A11"/>
            </a:solidFill>
          </a:ln>
        </p:spPr>
        <p:txBody>
          <a:bodyPr wrap="square" lIns="130000" tIns="45720" rIns="91440" bIns="45720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1F4E79"/>
                </a:solidFill>
                <a:latin typeface="Calibri"/>
              </a:rPr>
              <a:t>Request Payload</a:t>
            </a:r>
            <a:endParaRPr/>
          </a:p>
        </p:txBody>
      </p:sp>
      <p:sp>
        <p:nvSpPr>
          <p:cNvPr id="1593882287" name="Bar220"/>
          <p:cNvSpPr/>
          <p:nvPr/>
        </p:nvSpPr>
        <p:spPr bwMode="auto">
          <a:xfrm>
            <a:off x="3886200" y="1888236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74702653" name="Req0"/>
          <p:cNvSpPr/>
          <p:nvPr/>
        </p:nvSpPr>
        <p:spPr bwMode="auto">
          <a:xfrm>
            <a:off x="3886200" y="1888236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drug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Drug name + ATC code</a:t>
            </a:r>
            <a:endParaRPr/>
          </a:p>
        </p:txBody>
      </p:sp>
      <p:sp>
        <p:nvSpPr>
          <p:cNvPr id="1759763204" name="Bar230"/>
          <p:cNvSpPr/>
          <p:nvPr/>
        </p:nvSpPr>
        <p:spPr bwMode="auto">
          <a:xfrm>
            <a:off x="3886200" y="2327148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503896" name="Req1"/>
          <p:cNvSpPr/>
          <p:nvPr/>
        </p:nvSpPr>
        <p:spPr bwMode="auto">
          <a:xfrm>
            <a:off x="3886200" y="2327148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dosage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Quantity per administration</a:t>
            </a:r>
            <a:endParaRPr/>
          </a:p>
        </p:txBody>
      </p:sp>
      <p:sp>
        <p:nvSpPr>
          <p:cNvPr id="474446606" name="Bar240"/>
          <p:cNvSpPr/>
          <p:nvPr/>
        </p:nvSpPr>
        <p:spPr bwMode="auto">
          <a:xfrm>
            <a:off x="3886200" y="2766060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7304285" name="Req2"/>
          <p:cNvSpPr/>
          <p:nvPr/>
        </p:nvSpPr>
        <p:spPr bwMode="auto">
          <a:xfrm>
            <a:off x="3886200" y="2766060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frequency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Administration schedule</a:t>
            </a:r>
            <a:endParaRPr/>
          </a:p>
        </p:txBody>
      </p:sp>
      <p:sp>
        <p:nvSpPr>
          <p:cNvPr id="334461986" name="Bar250"/>
          <p:cNvSpPr/>
          <p:nvPr/>
        </p:nvSpPr>
        <p:spPr bwMode="auto">
          <a:xfrm>
            <a:off x="3886200" y="3204972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01150336" name="Req3"/>
          <p:cNvSpPr/>
          <p:nvPr/>
        </p:nvSpPr>
        <p:spPr bwMode="auto">
          <a:xfrm>
            <a:off x="3886200" y="3204972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validity dates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startDate · endDate</a:t>
            </a:r>
            <a:endParaRPr/>
          </a:p>
        </p:txBody>
      </p:sp>
      <p:sp>
        <p:nvSpPr>
          <p:cNvPr id="528733309" name="Bar260"/>
          <p:cNvSpPr/>
          <p:nvPr/>
        </p:nvSpPr>
        <p:spPr bwMode="auto">
          <a:xfrm>
            <a:off x="3886200" y="3643884"/>
            <a:ext cx="64008" cy="393192"/>
          </a:xfrm>
          <a:prstGeom prst="rect">
            <a:avLst/>
          </a:prstGeom>
          <a:solidFill>
            <a:srgbClr val="C55A11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6296807" name="Req4"/>
          <p:cNvSpPr/>
          <p:nvPr/>
        </p:nvSpPr>
        <p:spPr bwMode="auto">
          <a:xfrm>
            <a:off x="3886200" y="3643884"/>
            <a:ext cx="48006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</a:ln>
        </p:spPr>
        <p:txBody>
          <a:bodyPr wrap="square" lIns="130000" tIns="27432" rIns="91440" bIns="27432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C55A11"/>
                </a:solidFill>
                <a:latin typeface="Calibri"/>
              </a:rPr>
              <a:t>prescribing physician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</a:t>
            </a:r>
            <a:r>
              <a:rPr lang="it-IT" sz="1200">
                <a:solidFill>
                  <a:srgbClr val="595959"/>
                </a:solidFill>
                <a:latin typeface="Calibri"/>
              </a:rPr>
              <a:t>-</a:t>
            </a:r>
            <a:r>
              <a:rPr lang="en-US" sz="1200">
                <a:solidFill>
                  <a:srgbClr val="595959"/>
                </a:solidFill>
                <a:latin typeface="Calibri"/>
              </a:rPr>
              <a:t>  Physician identifier</a:t>
            </a:r>
            <a:endParaRPr/>
          </a:p>
        </p:txBody>
      </p:sp>
      <p:sp>
        <p:nvSpPr>
          <p:cNvPr id="1913034046" name="ResLbl"/>
          <p:cNvSpPr/>
          <p:nvPr/>
        </p:nvSpPr>
        <p:spPr bwMode="auto">
          <a:xfrm>
            <a:off x="457199" y="3451860"/>
            <a:ext cx="3108961" cy="918972"/>
          </a:xfrm>
          <a:prstGeom prst="rect">
            <a:avLst/>
          </a:prstGeom>
          <a:solidFill>
            <a:srgbClr val="D6EFE8"/>
          </a:solidFill>
          <a:ln w="12700">
            <a:solidFill>
              <a:srgbClr val="0F6E56"/>
            </a:solidFill>
          </a:ln>
        </p:spPr>
        <p:txBody>
          <a:bodyPr wrap="square" lIns="130000" tIns="64008" rIns="91440" bIns="64008" rtlCol="0" anchor="ctr"/>
          <a:lstStyle/>
          <a:p>
            <a:pPr marL="0" indent="0" algn="l">
              <a:buNone/>
              <a:defRPr/>
            </a:pPr>
            <a:r>
              <a:rPr lang="en-US" sz="1350" b="1">
                <a:solidFill>
                  <a:srgbClr val="0F6E56"/>
                </a:solidFill>
                <a:latin typeface="Calibri"/>
              </a:rPr>
              <a:t>HTTP 201 Created  →  Prescription saved</a:t>
            </a:r>
            <a:endParaRPr/>
          </a:p>
          <a:p>
            <a:pPr marL="0" indent="0" algn="l">
              <a:buNone/>
              <a:defRPr/>
            </a:pPr>
            <a:r>
              <a:rPr lang="en-US" sz="1150">
                <a:solidFill>
                  <a:srgbClr val="595959"/>
                </a:solidFill>
                <a:latin typeface="Calibri"/>
              </a:rPr>
              <a:t>id · drugName · atcCode · dosage · frequency · startDate · endDate · prescribingPhysician</a:t>
            </a:r>
            <a:endParaRPr/>
          </a:p>
        </p:txBody>
      </p:sp>
      <p:sp>
        <p:nvSpPr>
          <p:cNvPr id="2046650576" name="Bar271"/>
          <p:cNvSpPr/>
          <p:nvPr/>
        </p:nvSpPr>
        <p:spPr bwMode="auto">
          <a:xfrm>
            <a:off x="457199" y="3451860"/>
            <a:ext cx="45719" cy="918972"/>
          </a:xfrm>
          <a:prstGeom prst="rect">
            <a:avLst/>
          </a:prstGeom>
          <a:solidFill>
            <a:srgbClr val="0F6E56"/>
          </a:solidFill>
          <a:ln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75193771" name="Shape 1"/>
          <p:cNvSpPr/>
          <p:nvPr/>
        </p:nvSpPr>
        <p:spPr bwMode="auto">
          <a:xfrm>
            <a:off x="480058" y="768096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bg>
      <p:bgPr shadeToTitle="0">
        <a:solidFill>
          <a:srgbClr val="F5F8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902283" name="Text 0"/>
          <p:cNvSpPr/>
          <p:nvPr/>
        </p:nvSpPr>
        <p:spPr bwMode="auto">
          <a:xfrm>
            <a:off x="457200" y="20116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34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Technology Stack</a:t>
            </a:r>
            <a:endParaRPr lang="en-US" sz="3400"/>
          </a:p>
        </p:txBody>
      </p:sp>
      <p:sp>
        <p:nvSpPr>
          <p:cNvPr id="1576252707" name="Shape 1"/>
          <p:cNvSpPr/>
          <p:nvPr/>
        </p:nvSpPr>
        <p:spPr bwMode="auto">
          <a:xfrm>
            <a:off x="457200" y="1078992"/>
            <a:ext cx="8229600" cy="22860"/>
          </a:xfrm>
          <a:prstGeom prst="rect">
            <a:avLst/>
          </a:prstGeom>
          <a:solidFill>
            <a:srgbClr val="E8EEF2"/>
          </a:solidFill>
          <a:ln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444117341" name="Shape 2"/>
          <p:cNvSpPr/>
          <p:nvPr/>
        </p:nvSpPr>
        <p:spPr bwMode="auto">
          <a:xfrm>
            <a:off x="45720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590158738" name="Text 3"/>
          <p:cNvSpPr/>
          <p:nvPr/>
        </p:nvSpPr>
        <p:spPr bwMode="auto">
          <a:xfrm>
            <a:off x="64008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Frameworks &amp; Libraries</a:t>
            </a:r>
            <a:endParaRPr lang="en-US" sz="1300"/>
          </a:p>
        </p:txBody>
      </p:sp>
      <p:sp>
        <p:nvSpPr>
          <p:cNvPr id="2048938242" name="Text 4"/>
          <p:cNvSpPr/>
          <p:nvPr/>
        </p:nvSpPr>
        <p:spPr bwMode="auto">
          <a:xfrm>
            <a:off x="640080" y="166420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Java 17</a:t>
            </a:r>
            <a:endParaRPr lang="en-US" sz="1050"/>
          </a:p>
        </p:txBody>
      </p:sp>
      <p:sp>
        <p:nvSpPr>
          <p:cNvPr id="1879387966" name="Text 5"/>
          <p:cNvSpPr/>
          <p:nvPr/>
        </p:nvSpPr>
        <p:spPr bwMode="auto">
          <a:xfrm>
            <a:off x="2487168" y="166420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LTS runtime (pinned)</a:t>
            </a:r>
            <a:endParaRPr lang="en-US" sz="950"/>
          </a:p>
        </p:txBody>
      </p:sp>
      <p:sp>
        <p:nvSpPr>
          <p:cNvPr id="881824758" name="Text 6"/>
          <p:cNvSpPr/>
          <p:nvPr/>
        </p:nvSpPr>
        <p:spPr bwMode="auto">
          <a:xfrm>
            <a:off x="640080" y="208483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Boot 3.2.x</a:t>
            </a:r>
            <a:endParaRPr lang="en-US" sz="1050"/>
          </a:p>
        </p:txBody>
      </p:sp>
      <p:sp>
        <p:nvSpPr>
          <p:cNvPr id="66031605" name="Text 7"/>
          <p:cNvSpPr/>
          <p:nvPr/>
        </p:nvSpPr>
        <p:spPr bwMode="auto">
          <a:xfrm>
            <a:off x="2487168" y="208483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base + embedded Tomcat</a:t>
            </a:r>
            <a:endParaRPr lang="en-US" sz="950"/>
          </a:p>
        </p:txBody>
      </p:sp>
      <p:sp>
        <p:nvSpPr>
          <p:cNvPr id="2110858569" name="Text 8"/>
          <p:cNvSpPr/>
          <p:nvPr/>
        </p:nvSpPr>
        <p:spPr bwMode="auto">
          <a:xfrm>
            <a:off x="640080" y="250545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Cloud 2023.0.x</a:t>
            </a:r>
            <a:endParaRPr lang="en-US" sz="1050"/>
          </a:p>
        </p:txBody>
      </p:sp>
      <p:sp>
        <p:nvSpPr>
          <p:cNvPr id="1703333498" name="Text 9"/>
          <p:cNvSpPr/>
          <p:nvPr/>
        </p:nvSpPr>
        <p:spPr bwMode="auto">
          <a:xfrm>
            <a:off x="2487168" y="250545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Eureka, Gateway, Config, OpenFeign, LoadBalancer</a:t>
            </a:r>
            <a:endParaRPr lang="en-US" sz="950"/>
          </a:p>
        </p:txBody>
      </p:sp>
      <p:sp>
        <p:nvSpPr>
          <p:cNvPr id="1643504856" name="Text 10"/>
          <p:cNvSpPr/>
          <p:nvPr/>
        </p:nvSpPr>
        <p:spPr bwMode="auto">
          <a:xfrm>
            <a:off x="640080" y="2926080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CXF 4.0.x</a:t>
            </a:r>
            <a:endParaRPr lang="en-US" sz="1050"/>
          </a:p>
        </p:txBody>
      </p:sp>
      <p:sp>
        <p:nvSpPr>
          <p:cNvPr id="304343089" name="Text 11"/>
          <p:cNvSpPr/>
          <p:nvPr/>
        </p:nvSpPr>
        <p:spPr bwMode="auto">
          <a:xfrm>
            <a:off x="2487168" y="2926080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SOAP contract-first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Anagrafe service + JAX-WS client</a:t>
            </a:r>
            <a:endParaRPr lang="en-US" sz="950"/>
          </a:p>
        </p:txBody>
      </p:sp>
      <p:sp>
        <p:nvSpPr>
          <p:cNvPr id="1849736477" name="Text 12"/>
          <p:cNvSpPr/>
          <p:nvPr/>
        </p:nvSpPr>
        <p:spPr bwMode="auto">
          <a:xfrm>
            <a:off x="640080" y="334670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Resilience4j 2.2.x</a:t>
            </a:r>
            <a:endParaRPr lang="en-US" sz="1050"/>
          </a:p>
        </p:txBody>
      </p:sp>
      <p:sp>
        <p:nvSpPr>
          <p:cNvPr id="2358694" name="Text 13"/>
          <p:cNvSpPr/>
          <p:nvPr/>
        </p:nvSpPr>
        <p:spPr bwMode="auto">
          <a:xfrm>
            <a:off x="2487168" y="3346704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Circuit breaker on Care Coordinator Feign calls</a:t>
            </a:r>
            <a:endParaRPr lang="en-US" sz="950"/>
          </a:p>
        </p:txBody>
      </p:sp>
      <p:sp>
        <p:nvSpPr>
          <p:cNvPr id="661138088" name="Text 14"/>
          <p:cNvSpPr/>
          <p:nvPr/>
        </p:nvSpPr>
        <p:spPr bwMode="auto">
          <a:xfrm>
            <a:off x="640080" y="37673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springdoc-openapi 2.3.x</a:t>
            </a:r>
            <a:endParaRPr lang="en-US" sz="1050"/>
          </a:p>
        </p:txBody>
      </p:sp>
      <p:sp>
        <p:nvSpPr>
          <p:cNvPr id="1328220930" name="Text 15"/>
          <p:cNvSpPr/>
          <p:nvPr/>
        </p:nvSpPr>
        <p:spPr bwMode="auto">
          <a:xfrm>
            <a:off x="2487168" y="3767328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Swagger UI on all REST services</a:t>
            </a:r>
            <a:endParaRPr lang="en-US" sz="950"/>
          </a:p>
        </p:txBody>
      </p:sp>
      <p:sp>
        <p:nvSpPr>
          <p:cNvPr id="1591208370" name="Text 16"/>
          <p:cNvSpPr/>
          <p:nvPr/>
        </p:nvSpPr>
        <p:spPr bwMode="auto">
          <a:xfrm>
            <a:off x="640080" y="4187952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Spring Data JPA</a:t>
            </a:r>
            <a:endParaRPr lang="en-US" sz="1050"/>
          </a:p>
        </p:txBody>
      </p:sp>
      <p:sp>
        <p:nvSpPr>
          <p:cNvPr id="2090644537" name="Text 17"/>
          <p:cNvSpPr/>
          <p:nvPr/>
        </p:nvSpPr>
        <p:spPr bwMode="auto">
          <a:xfrm>
            <a:off x="2487168" y="4187952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Repository layer over MySQL</a:t>
            </a:r>
            <a:endParaRPr lang="en-US" sz="950"/>
          </a:p>
        </p:txBody>
      </p:sp>
      <p:sp>
        <p:nvSpPr>
          <p:cNvPr id="1168628607" name="Text 18"/>
          <p:cNvSpPr/>
          <p:nvPr/>
        </p:nvSpPr>
        <p:spPr bwMode="auto">
          <a:xfrm>
            <a:off x="640080" y="4608576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0F6E56"/>
                </a:solidFill>
                <a:latin typeface="Calibri"/>
                <a:ea typeface="Calibri"/>
                <a:cs typeface="Calibri"/>
              </a:rPr>
              <a:t>Apache Maven 3.9.x</a:t>
            </a:r>
            <a:endParaRPr lang="en-US" sz="1050"/>
          </a:p>
        </p:txBody>
      </p:sp>
      <p:sp>
        <p:nvSpPr>
          <p:cNvPr id="1942331930" name="Text 19"/>
          <p:cNvSpPr/>
          <p:nvPr/>
        </p:nvSpPr>
        <p:spPr bwMode="auto">
          <a:xfrm>
            <a:off x="2487168" y="4608576"/>
            <a:ext cx="1737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Build </a:t>
            </a:r>
            <a:r>
              <a:rPr lang="it-IT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-</a:t>
            </a: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 independent per-service POMs (no parent)</a:t>
            </a:r>
            <a:endParaRPr lang="en-US" sz="950"/>
          </a:p>
        </p:txBody>
      </p:sp>
      <p:sp>
        <p:nvSpPr>
          <p:cNvPr id="1302998145" name="Shape 20"/>
          <p:cNvSpPr/>
          <p:nvPr/>
        </p:nvSpPr>
        <p:spPr bwMode="auto">
          <a:xfrm>
            <a:off x="4754880" y="1188720"/>
            <a:ext cx="393192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2"/>
            </a:solidFill>
            <a:prstDash val="solid"/>
          </a:ln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114568905" name="Text 21"/>
          <p:cNvSpPr/>
          <p:nvPr/>
        </p:nvSpPr>
        <p:spPr bwMode="auto">
          <a:xfrm>
            <a:off x="4937760" y="1261872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1F4E79"/>
                </a:solidFill>
                <a:latin typeface="Calibri"/>
                <a:ea typeface="Calibri"/>
                <a:cs typeface="Calibri"/>
              </a:rPr>
              <a:t>Infrastructure</a:t>
            </a:r>
            <a:endParaRPr lang="en-US" sz="1300"/>
          </a:p>
        </p:txBody>
      </p:sp>
      <p:sp>
        <p:nvSpPr>
          <p:cNvPr id="574275712" name="Text 22"/>
          <p:cNvSpPr/>
          <p:nvPr/>
        </p:nvSpPr>
        <p:spPr bwMode="auto">
          <a:xfrm>
            <a:off x="4937760" y="166420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MySQL 8</a:t>
            </a:r>
            <a:endParaRPr lang="en-US" sz="1050"/>
          </a:p>
        </p:txBody>
      </p:sp>
      <p:sp>
        <p:nvSpPr>
          <p:cNvPr id="1838380879" name="Text 23"/>
          <p:cNvSpPr/>
          <p:nvPr/>
        </p:nvSpPr>
        <p:spPr bwMode="auto">
          <a:xfrm>
            <a:off x="6656832" y="16642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Relational persistence, one schema per provider</a:t>
            </a:r>
            <a:endParaRPr lang="en-US" sz="950"/>
          </a:p>
        </p:txBody>
      </p:sp>
      <p:sp>
        <p:nvSpPr>
          <p:cNvPr id="2088746885" name="Text 24"/>
          <p:cNvSpPr/>
          <p:nvPr/>
        </p:nvSpPr>
        <p:spPr bwMode="auto">
          <a:xfrm>
            <a:off x="4937760" y="208483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Docker + Compose</a:t>
            </a:r>
            <a:endParaRPr lang="en-US" sz="1050"/>
          </a:p>
        </p:txBody>
      </p:sp>
      <p:sp>
        <p:nvSpPr>
          <p:cNvPr id="1631888377" name="Text 25"/>
          <p:cNvSpPr/>
          <p:nvPr/>
        </p:nvSpPr>
        <p:spPr bwMode="auto">
          <a:xfrm>
            <a:off x="6656832" y="208483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Single-command full-stack deployment</a:t>
            </a:r>
            <a:endParaRPr lang="en-US" sz="950"/>
          </a:p>
        </p:txBody>
      </p:sp>
      <p:sp>
        <p:nvSpPr>
          <p:cNvPr id="253916533" name="Text 26"/>
          <p:cNvSpPr/>
          <p:nvPr/>
        </p:nvSpPr>
        <p:spPr bwMode="auto">
          <a:xfrm>
            <a:off x="4937760" y="250545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Netflix Eureka</a:t>
            </a:r>
            <a:endParaRPr lang="en-US" sz="1050"/>
          </a:p>
        </p:txBody>
      </p:sp>
      <p:sp>
        <p:nvSpPr>
          <p:cNvPr id="2105186432" name="Text 27"/>
          <p:cNvSpPr/>
          <p:nvPr/>
        </p:nvSpPr>
        <p:spPr bwMode="auto">
          <a:xfrm>
            <a:off x="6656832" y="250545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Service registry, self-registration, health checks</a:t>
            </a:r>
            <a:endParaRPr lang="en-US" sz="950"/>
          </a:p>
        </p:txBody>
      </p:sp>
      <p:sp>
        <p:nvSpPr>
          <p:cNvPr id="1888621471" name="Text 28"/>
          <p:cNvSpPr/>
          <p:nvPr/>
        </p:nvSpPr>
        <p:spPr bwMode="auto">
          <a:xfrm>
            <a:off x="4937760" y="2926080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Gateway</a:t>
            </a:r>
            <a:endParaRPr lang="en-US" sz="1050"/>
          </a:p>
        </p:txBody>
      </p:sp>
      <p:sp>
        <p:nvSpPr>
          <p:cNvPr id="1527153187" name="Text 29"/>
          <p:cNvSpPr/>
          <p:nvPr/>
        </p:nvSpPr>
        <p:spPr bwMode="auto">
          <a:xfrm>
            <a:off x="6656832" y="292608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API Gateway, lb:// routing, path rewriting</a:t>
            </a:r>
            <a:endParaRPr lang="en-US" sz="950"/>
          </a:p>
        </p:txBody>
      </p:sp>
      <p:sp>
        <p:nvSpPr>
          <p:cNvPr id="406897330" name="Text 30"/>
          <p:cNvSpPr/>
          <p:nvPr/>
        </p:nvSpPr>
        <p:spPr bwMode="auto">
          <a:xfrm>
            <a:off x="4937760" y="3346704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Config</a:t>
            </a:r>
            <a:endParaRPr lang="en-US" sz="1050"/>
          </a:p>
        </p:txBody>
      </p:sp>
      <p:sp>
        <p:nvSpPr>
          <p:cNvPr id="80037235" name="Text 31"/>
          <p:cNvSpPr/>
          <p:nvPr/>
        </p:nvSpPr>
        <p:spPr bwMode="auto">
          <a:xfrm>
            <a:off x="6656832" y="334670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Centralised externalised config from git repo</a:t>
            </a:r>
            <a:endParaRPr lang="en-US" sz="950"/>
          </a:p>
        </p:txBody>
      </p:sp>
      <p:sp>
        <p:nvSpPr>
          <p:cNvPr id="573348028" name="Text 32"/>
          <p:cNvSpPr/>
          <p:nvPr/>
        </p:nvSpPr>
        <p:spPr bwMode="auto">
          <a:xfrm>
            <a:off x="4937760" y="3767328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Spring Cloud OpenFeign</a:t>
            </a:r>
            <a:endParaRPr lang="en-US" sz="1050"/>
          </a:p>
        </p:txBody>
      </p:sp>
      <p:sp>
        <p:nvSpPr>
          <p:cNvPr id="1746185146" name="Text 33"/>
          <p:cNvSpPr/>
          <p:nvPr/>
        </p:nvSpPr>
        <p:spPr bwMode="auto">
          <a:xfrm>
            <a:off x="6656832" y="376732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REST client with Eureka name resolution</a:t>
            </a:r>
            <a:endParaRPr lang="en-US" sz="950"/>
          </a:p>
        </p:txBody>
      </p:sp>
      <p:sp>
        <p:nvSpPr>
          <p:cNvPr id="210228818" name="Text 34"/>
          <p:cNvSpPr/>
          <p:nvPr/>
        </p:nvSpPr>
        <p:spPr bwMode="auto">
          <a:xfrm>
            <a:off x="4937760" y="4187952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@Async / ThreadPool</a:t>
            </a:r>
            <a:endParaRPr lang="en-US" sz="1050"/>
          </a:p>
        </p:txBody>
      </p:sp>
      <p:sp>
        <p:nvSpPr>
          <p:cNvPr id="127168271" name="Text 35"/>
          <p:cNvSpPr/>
          <p:nvPr/>
        </p:nvSpPr>
        <p:spPr bwMode="auto">
          <a:xfrm>
            <a:off x="6656832" y="4187952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Non-blocking processing in Laboratorio &amp; Imaging</a:t>
            </a:r>
            <a:endParaRPr lang="en-US" sz="950"/>
          </a:p>
        </p:txBody>
      </p:sp>
      <p:sp>
        <p:nvSpPr>
          <p:cNvPr id="1934151850" name="Text 36"/>
          <p:cNvSpPr/>
          <p:nvPr/>
        </p:nvSpPr>
        <p:spPr bwMode="auto">
          <a:xfrm>
            <a:off x="4937760" y="4608576"/>
            <a:ext cx="1691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534AB7"/>
                </a:solidFill>
                <a:latin typeface="Calibri"/>
                <a:ea typeface="Calibri"/>
                <a:cs typeface="Calibri"/>
              </a:rPr>
              <a:t>CompletableFuture</a:t>
            </a:r>
            <a:endParaRPr lang="en-US" sz="1050"/>
          </a:p>
        </p:txBody>
      </p:sp>
      <p:sp>
        <p:nvSpPr>
          <p:cNvPr id="1217625303" name="Text 37"/>
          <p:cNvSpPr/>
          <p:nvPr/>
        </p:nvSpPr>
        <p:spPr bwMode="auto">
          <a:xfrm>
            <a:off x="6656832" y="4608576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595959"/>
                </a:solidFill>
                <a:latin typeface="Calibri"/>
                <a:ea typeface="Calibri"/>
                <a:cs typeface="Calibri"/>
              </a:rPr>
              <a:t>Fork-join parallel orchestration in Care Coordinator</a:t>
            </a: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/>
  <cp:revision>7</cp:revision>
  <dcterms:created xsi:type="dcterms:W3CDTF">2026-06-22T13:52:18Z</dcterms:created>
  <dcterms:modified xsi:type="dcterms:W3CDTF">2026-06-24T19:09:46Z</dcterms:modified>
</cp:coreProperties>
</file>