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9" d="100"/>
          <a:sy n="109" d="100"/>
        </p:scale>
        <p:origin x="867" y="85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6932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3563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4709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3581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615487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2449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903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885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23962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5452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3829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3457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8052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74773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1728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034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4308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726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2053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2362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Thank you, Edoardo.</a:t>
            </a:r>
            <a:r>
              <a:rPr lang="it-IT" sz="1400"/>
              <a:t> </a:t>
            </a:r>
            <a:r>
              <a:rPr sz="1400"/>
              <a:t>Now, we will now look at</a:t>
            </a:r>
            <a:r>
              <a:rPr lang="it-IT" sz="1400"/>
              <a:t> the second block</a:t>
            </a:r>
            <a:r>
              <a:rPr sz="1400"/>
              <a:t> of our presentation. In this section, I will explain the business components of our system</a:t>
            </a:r>
            <a:r>
              <a:rPr lang="it-IT" sz="1400"/>
              <a:t>, w</a:t>
            </a:r>
            <a:r>
              <a:rPr lang="it-IT" sz="1400"/>
              <a:t>e’</a:t>
            </a:r>
            <a:r>
              <a:rPr sz="1400"/>
              <a:t>ll see who are the main </a:t>
            </a:r>
            <a:r>
              <a:rPr lang="it-IT" sz="1400"/>
              <a:t>software a</a:t>
            </a:r>
            <a:r>
              <a:rPr sz="1400"/>
              <a:t>ctors, what responsibilities they have and how our data is structured.</a:t>
            </a:r>
            <a:endParaRPr lang="en-US"/>
          </a:p>
        </p:txBody>
      </p:sp>
      <p:sp>
        <p:nvSpPr>
          <p:cNvPr id="4323814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5622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77298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On this slide, we have the Service Providers</a:t>
            </a:r>
            <a:r>
              <a:rPr lang="it-IT" sz="1400"/>
              <a:t> which </a:t>
            </a:r>
            <a:r>
              <a:rPr sz="1400"/>
              <a:t>are the foundational services of our platform. Each provider is independent</a:t>
            </a:r>
            <a:r>
              <a:rPr lang="it-IT" sz="1400"/>
              <a:t> from the others</a:t>
            </a:r>
            <a:r>
              <a:rPr sz="1400"/>
              <a:t>, manages its own specific da</a:t>
            </a:r>
            <a:r>
              <a:rPr lang="it-IT" sz="1400"/>
              <a:t>ta </a:t>
            </a:r>
            <a:r>
              <a:rPr sz="1400"/>
              <a:t>and has its own separate database to ensure decoupling.</a:t>
            </a:r>
            <a:endParaRPr sz="1400"/>
          </a:p>
          <a:p>
            <a:pPr>
              <a:defRPr/>
            </a:pPr>
            <a:r>
              <a:rPr sz="1400"/>
              <a:t>We have </a:t>
            </a:r>
            <a:r>
              <a:rPr lang="it-IT" sz="1400" b="1"/>
              <a:t>4</a:t>
            </a:r>
            <a:r>
              <a:rPr sz="1400" b="1"/>
              <a:t> providers</a:t>
            </a:r>
            <a:r>
              <a:rPr sz="1400"/>
              <a:t> in total: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First</a:t>
            </a:r>
            <a:r>
              <a:rPr lang="it-IT" sz="1400"/>
              <a:t> we have</a:t>
            </a:r>
            <a:r>
              <a:rPr sz="1400"/>
              <a:t> the </a:t>
            </a:r>
            <a:r>
              <a:rPr sz="1400" b="1"/>
              <a:t>Anagrafe Service</a:t>
            </a:r>
            <a:r>
              <a:rPr lang="it-IT" sz="1400"/>
              <a:t>, which </a:t>
            </a:r>
            <a:r>
              <a:rPr sz="1400"/>
              <a:t>simulates an external registry</a:t>
            </a:r>
            <a:r>
              <a:rPr lang="it-IT" sz="1400"/>
              <a:t> </a:t>
            </a:r>
            <a:r>
              <a:rPr sz="1400"/>
              <a:t>manag</a:t>
            </a:r>
            <a:r>
              <a:rPr lang="it-IT" sz="1400"/>
              <a:t>ing</a:t>
            </a:r>
            <a:r>
              <a:rPr sz="1400"/>
              <a:t> patient details, medical history and allergies. Because it simulates a real-world legacy system, it uses the SOAP protocol instead of the more modern REST</a:t>
            </a:r>
            <a:r>
              <a:rPr lang="it-IT" sz="1400"/>
              <a:t> to send its data.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Next, we have three modern REST services. </a:t>
            </a:r>
            <a:r>
              <a:rPr lang="it-IT" sz="1400"/>
              <a:t>Starting from the</a:t>
            </a:r>
            <a:r>
              <a:rPr lang="it-IT" sz="1400"/>
              <a:t> </a:t>
            </a:r>
            <a:r>
              <a:rPr sz="1400" b="1"/>
              <a:t>Laboratorio Service</a:t>
            </a:r>
            <a:r>
              <a:rPr sz="1400"/>
              <a:t> </a:t>
            </a:r>
            <a:r>
              <a:rPr lang="it-IT" sz="1400"/>
              <a:t>which </a:t>
            </a:r>
            <a:r>
              <a:rPr sz="1400"/>
              <a:t>handles medical test orders and results. In the real world, processing a biological sample takes time</a:t>
            </a:r>
            <a:r>
              <a:rPr lang="it-IT" sz="1400"/>
              <a:t>, t</a:t>
            </a:r>
            <a:r>
              <a:rPr sz="1400"/>
              <a:t>herefore this service works asynchronously</a:t>
            </a:r>
            <a:r>
              <a:rPr lang="it-IT" sz="1400"/>
              <a:t>, </a:t>
            </a:r>
            <a:r>
              <a:rPr sz="1400"/>
              <a:t>accept</a:t>
            </a:r>
            <a:r>
              <a:rPr lang="it-IT" sz="1400"/>
              <a:t>ing </a:t>
            </a:r>
            <a:r>
              <a:rPr sz="1400"/>
              <a:t>order</a:t>
            </a:r>
            <a:r>
              <a:rPr lang="it-IT" sz="1400"/>
              <a:t>s</a:t>
            </a:r>
            <a:r>
              <a:rPr sz="1400"/>
              <a:t> immediatel</a:t>
            </a:r>
            <a:r>
              <a:rPr lang="it-IT" sz="1400"/>
              <a:t>y</a:t>
            </a:r>
            <a:r>
              <a:rPr sz="1400"/>
              <a:t> and deliver</a:t>
            </a:r>
            <a:r>
              <a:rPr lang="it-IT" sz="1400"/>
              <a:t>ing</a:t>
            </a:r>
            <a:r>
              <a:rPr sz="1400"/>
              <a:t> the results</a:t>
            </a:r>
            <a:r>
              <a:rPr lang="it-IT" sz="1400"/>
              <a:t> at a</a:t>
            </a:r>
            <a:r>
              <a:rPr sz="1400"/>
              <a:t> later</a:t>
            </a:r>
            <a:r>
              <a:rPr lang="it-IT" sz="1400"/>
              <a:t> time</a:t>
            </a:r>
            <a:r>
              <a:rPr sz="1400"/>
              <a:t>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</a:t>
            </a:r>
            <a:r>
              <a:rPr sz="1400" b="1"/>
              <a:t>Imaging Service</a:t>
            </a:r>
            <a:r>
              <a:rPr sz="1400"/>
              <a:t> works </a:t>
            </a:r>
            <a:r>
              <a:rPr lang="it-IT" sz="1400"/>
              <a:t>in a similar way to Laboratorio Service</a:t>
            </a:r>
            <a:r>
              <a:rPr sz="1400"/>
              <a:t>, but </a:t>
            </a:r>
            <a:r>
              <a:rPr lang="it-IT" sz="1400"/>
              <a:t>instead it</a:t>
            </a:r>
            <a:r>
              <a:rPr sz="1400"/>
              <a:t> manages </a:t>
            </a:r>
            <a:r>
              <a:rPr lang="it-IT" sz="1400"/>
              <a:t>very different data such as </a:t>
            </a:r>
            <a:r>
              <a:rPr sz="1400"/>
              <a:t>radiology reports</a:t>
            </a:r>
            <a:r>
              <a:rPr lang="it-IT" sz="1400"/>
              <a:t>, X-Rays and MRI scans.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Finally, the </a:t>
            </a:r>
            <a:r>
              <a:rPr sz="1400" b="1"/>
              <a:t>Farmacia Service</a:t>
            </a:r>
            <a:r>
              <a:rPr sz="1400"/>
              <a:t> manages active drug prescriptions and includes a</a:t>
            </a:r>
            <a:r>
              <a:rPr lang="it-IT" sz="1400"/>
              <a:t>n endpoint </a:t>
            </a:r>
            <a:r>
              <a:rPr sz="1400"/>
              <a:t>to check for dangerous drug interactions.</a:t>
            </a:r>
            <a:endParaRPr/>
          </a:p>
          <a:p>
            <a:pPr>
              <a:defRPr/>
            </a:pPr>
            <a:r>
              <a:rPr sz="1400"/>
              <a:t>Now, let’s see how we combine all this information</a:t>
            </a:r>
            <a:r>
              <a:rPr lang="it-IT" sz="1400"/>
              <a:t>s</a:t>
            </a:r>
            <a:endParaRPr lang="en-US"/>
          </a:p>
        </p:txBody>
      </p:sp>
      <p:sp>
        <p:nvSpPr>
          <p:cNvPr id="729589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429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8866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Here are </a:t>
            </a:r>
            <a:r>
              <a:rPr lang="it-IT" sz="1400"/>
              <a:t>the</a:t>
            </a:r>
            <a:r>
              <a:rPr sz="1400"/>
              <a:t> Service Prosumers</a:t>
            </a:r>
            <a:r>
              <a:rPr lang="it-IT" sz="1400"/>
              <a:t>, </a:t>
            </a:r>
            <a:r>
              <a:rPr lang="it-IT" sz="1400"/>
              <a:t>we use them t</a:t>
            </a:r>
            <a:r>
              <a:rPr sz="1400"/>
              <a:t>o create a complete view for the clinical staff, </a:t>
            </a:r>
            <a:r>
              <a:rPr lang="it-IT" sz="1400"/>
              <a:t>therefore these</a:t>
            </a:r>
            <a:r>
              <a:rPr sz="1400"/>
              <a:t> components do not just store data but they consume data from the providers and aggregate it.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first one is the </a:t>
            </a:r>
            <a:r>
              <a:rPr sz="1400" b="1"/>
              <a:t>Diagnostic Aggregator</a:t>
            </a:r>
            <a:r>
              <a:rPr lang="it-IT" sz="1400"/>
              <a:t>, which </a:t>
            </a:r>
            <a:r>
              <a:rPr sz="1400"/>
              <a:t>communicates with the Laboratorio </a:t>
            </a:r>
            <a:r>
              <a:rPr lang="it-IT" sz="1400"/>
              <a:t>service </a:t>
            </a:r>
            <a:r>
              <a:rPr sz="1400"/>
              <a:t>and </a:t>
            </a:r>
            <a:r>
              <a:rPr lang="it-IT" sz="1400"/>
              <a:t>the </a:t>
            </a:r>
            <a:r>
              <a:rPr sz="1400"/>
              <a:t>Imaging service. It collects the asynchronous test results and combines them into a single complete Diagnostic Bundle</a:t>
            </a:r>
            <a:r>
              <a:rPr lang="it-IT" sz="1400"/>
              <a:t>, it can be customized based on the panel value selectable from the index page.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second one is the </a:t>
            </a:r>
            <a:r>
              <a:rPr sz="1400" b="1"/>
              <a:t>Clinical Aggregator</a:t>
            </a:r>
            <a:r>
              <a:rPr lang="it-IT" sz="1400"/>
              <a:t>, which</a:t>
            </a:r>
            <a:r>
              <a:rPr sz="1400"/>
              <a:t> acts as a technological bridge</a:t>
            </a:r>
            <a:r>
              <a:rPr lang="it-IT" sz="1400"/>
              <a:t> because i</a:t>
            </a:r>
            <a:r>
              <a:rPr sz="1400"/>
              <a:t>t talks to </a:t>
            </a:r>
            <a:r>
              <a:rPr lang="it-IT" sz="1400"/>
              <a:t>both t</a:t>
            </a:r>
            <a:r>
              <a:rPr sz="1400"/>
              <a:t>he SOAP Anagrafe service and the REST Farmacia service, </a:t>
            </a:r>
            <a:r>
              <a:rPr lang="it-IT" sz="1400"/>
              <a:t>unifying</a:t>
            </a:r>
            <a:r>
              <a:rPr lang="it-IT" sz="1400"/>
              <a:t> </a:t>
            </a:r>
            <a:r>
              <a:rPr sz="1400"/>
              <a:t>the</a:t>
            </a:r>
            <a:r>
              <a:rPr lang="it-IT" sz="1400"/>
              <a:t>ir</a:t>
            </a:r>
            <a:r>
              <a:rPr sz="1400"/>
              <a:t> data and return</a:t>
            </a:r>
            <a:r>
              <a:rPr lang="it-IT" sz="1400"/>
              <a:t>ing</a:t>
            </a:r>
            <a:r>
              <a:rPr sz="1400"/>
              <a:t> a full Clinical Profile of the patient.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At the very </a:t>
            </a:r>
            <a:r>
              <a:rPr lang="it-IT" sz="1400"/>
              <a:t>end</a:t>
            </a:r>
            <a:r>
              <a:rPr sz="1400"/>
              <a:t> we have the </a:t>
            </a:r>
            <a:r>
              <a:rPr sz="1400" b="1"/>
              <a:t>Care Coordinator</a:t>
            </a:r>
            <a:r>
              <a:rPr lang="it-IT" sz="1400"/>
              <a:t>, which</a:t>
            </a:r>
            <a:r>
              <a:rPr sz="1400"/>
              <a:t> is the main orchestrator of our platform. It calls both the Clinical and Diagnostic aggregators in parallel, it waits for both </a:t>
            </a:r>
            <a:r>
              <a:rPr lang="it-IT" sz="1400"/>
              <a:t>of them t</a:t>
            </a:r>
            <a:r>
              <a:rPr sz="1400"/>
              <a:t>o finish</a:t>
            </a:r>
            <a:r>
              <a:rPr lang="it-IT" sz="1400"/>
              <a:t> and then </a:t>
            </a:r>
            <a:r>
              <a:rPr sz="1400"/>
              <a:t>cross-references all the data</a:t>
            </a:r>
            <a:r>
              <a:rPr lang="it-IT" sz="1400"/>
              <a:t> </a:t>
            </a:r>
            <a:r>
              <a:rPr sz="1400"/>
              <a:t>applies </a:t>
            </a:r>
            <a:r>
              <a:rPr lang="it-IT" sz="1400"/>
              <a:t>its own </a:t>
            </a:r>
            <a:r>
              <a:rPr sz="1400"/>
              <a:t>business rules to </a:t>
            </a:r>
            <a:r>
              <a:rPr sz="1400"/>
              <a:t>generate</a:t>
            </a:r>
            <a:r>
              <a:rPr lang="it-IT" sz="1400"/>
              <a:t> </a:t>
            </a:r>
            <a:r>
              <a:rPr sz="1400"/>
              <a:t>the final report.</a:t>
            </a:r>
            <a:endParaRPr lang="en-US"/>
          </a:p>
        </p:txBody>
      </p:sp>
      <p:sp>
        <p:nvSpPr>
          <p:cNvPr id="1917116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9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6786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Now l</a:t>
            </a:r>
            <a:r>
              <a:rPr sz="1400"/>
              <a:t>et’s look at our Key Data Structures to see how our data is managed by </a:t>
            </a:r>
            <a:r>
              <a:rPr lang="it-IT" sz="1400"/>
              <a:t>all </a:t>
            </a:r>
            <a:r>
              <a:rPr sz="1400"/>
              <a:t>the components I just described.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left side we </a:t>
            </a:r>
            <a:r>
              <a:rPr lang="it-IT" sz="1400"/>
              <a:t>can see</a:t>
            </a:r>
            <a:r>
              <a:rPr lang="it-IT" sz="1400"/>
              <a:t> </a:t>
            </a:r>
            <a:r>
              <a:rPr sz="1400"/>
              <a:t>the </a:t>
            </a:r>
            <a:r>
              <a:rPr sz="1400" b="1"/>
              <a:t>Domain Objects</a:t>
            </a:r>
            <a:r>
              <a:rPr lang="it-IT" sz="1400"/>
              <a:t>, t</a:t>
            </a:r>
            <a:r>
              <a:rPr sz="1400"/>
              <a:t>hese are the simple data units managed by our providers, such as patient</a:t>
            </a:r>
            <a:r>
              <a:rPr lang="it-IT" sz="1400"/>
              <a:t>s</a:t>
            </a:r>
            <a:r>
              <a:rPr sz="1400"/>
              <a:t>, conditions, allergies a</a:t>
            </a:r>
            <a:r>
              <a:rPr lang="it-IT" sz="1400"/>
              <a:t>nd </a:t>
            </a:r>
            <a:r>
              <a:rPr sz="1400"/>
              <a:t>measurements, </a:t>
            </a:r>
            <a:r>
              <a:rPr lang="it-IT" sz="1400"/>
              <a:t>each one of them with all of their</a:t>
            </a:r>
            <a:r>
              <a:rPr lang="it-IT" sz="1400"/>
              <a:t> </a:t>
            </a:r>
            <a:r>
              <a:rPr sz="1400"/>
              <a:t>attributes on screen.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right side we have the </a:t>
            </a:r>
            <a:r>
              <a:rPr sz="1400" b="1"/>
              <a:t>Composed Objects</a:t>
            </a:r>
            <a:r>
              <a:rPr sz="1400"/>
              <a:t> created by our Prosumers.</a:t>
            </a:r>
            <a:r>
              <a:rPr lang="it-IT" sz="1400"/>
              <a:t> </a:t>
            </a:r>
            <a:r>
              <a:rPr lang="it-IT" sz="1400"/>
              <a:t>T</a:t>
            </a:r>
            <a:r>
              <a:rPr sz="1400"/>
              <a:t>he Diagnostic Bundle and the Clinical Profile represent the first level of </a:t>
            </a:r>
            <a:r>
              <a:rPr lang="it-IT" sz="1400"/>
              <a:t>composed</a:t>
            </a:r>
            <a:r>
              <a:rPr lang="it-IT" sz="1400"/>
              <a:t> data</a:t>
            </a:r>
            <a:r>
              <a:rPr lang="it-IT" sz="1400"/>
              <a:t>, respectively managed by the Diagnostic and Clinical aggregators.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</a:t>
            </a:r>
            <a:r>
              <a:rPr lang="it-IT" sz="1400"/>
              <a:t>nother</a:t>
            </a:r>
            <a:r>
              <a:rPr sz="1400"/>
              <a:t> important </a:t>
            </a:r>
            <a:r>
              <a:rPr lang="it-IT" sz="1400"/>
              <a:t>data </a:t>
            </a:r>
            <a:r>
              <a:rPr sz="1400"/>
              <a:t>structure</a:t>
            </a:r>
            <a:r>
              <a:rPr lang="it-IT" sz="1400"/>
              <a:t> </a:t>
            </a:r>
            <a:r>
              <a:rPr sz="1400"/>
              <a:t>is the Risk Flag</a:t>
            </a:r>
            <a:r>
              <a:rPr lang="it-IT" sz="1400"/>
              <a:t>, they ar</a:t>
            </a:r>
            <a:r>
              <a:rPr sz="1400"/>
              <a:t>e </a:t>
            </a:r>
            <a:r>
              <a:rPr lang="it-IT" sz="1400"/>
              <a:t> managed by the </a:t>
            </a:r>
            <a:r>
              <a:rPr sz="1400"/>
              <a:t>Care Coordinator</a:t>
            </a:r>
            <a:r>
              <a:rPr lang="it-IT" sz="1400"/>
              <a:t>, which </a:t>
            </a:r>
            <a:r>
              <a:rPr sz="1400"/>
              <a:t>creates these flags automatically if it detects a dangerous situation. For example, if a doctor prescribes a drug that conflicts with a patient's allergy, or if a lab</a:t>
            </a:r>
            <a:r>
              <a:rPr lang="it-IT" sz="1400"/>
              <a:t>oratory</a:t>
            </a:r>
            <a:r>
              <a:rPr sz="1400"/>
              <a:t> test value is criti</a:t>
            </a:r>
            <a:r>
              <a:rPr sz="1400"/>
              <a:t>cally bad, the system generates a warning flag.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All of this information is packed into the final Fitness Report</a:t>
            </a:r>
            <a:r>
              <a:rPr lang="it-IT" sz="1400"/>
              <a:t>, which gives</a:t>
            </a:r>
            <a:r>
              <a:rPr lang="it-IT" sz="1400"/>
              <a:t> to </a:t>
            </a:r>
            <a:r>
              <a:rPr sz="1400"/>
              <a:t>the doctor a clear evaluation summary</a:t>
            </a:r>
            <a:r>
              <a:rPr lang="it-IT" sz="1400"/>
              <a:t>, and it can assume 3 values</a:t>
            </a:r>
            <a:r>
              <a:rPr lang="it-IT" sz="1400"/>
              <a:t>: “</a:t>
            </a:r>
            <a:r>
              <a:rPr sz="1400"/>
              <a:t>Fit</a:t>
            </a:r>
            <a:r>
              <a:rPr lang="it-IT" sz="1400"/>
              <a:t>”</a:t>
            </a:r>
            <a:r>
              <a:rPr sz="1400"/>
              <a:t>, </a:t>
            </a:r>
            <a:r>
              <a:rPr lang="it-IT" sz="1400"/>
              <a:t>“</a:t>
            </a:r>
            <a:r>
              <a:rPr sz="1400"/>
              <a:t>Fit with Reservation</a:t>
            </a:r>
            <a:r>
              <a:rPr lang="it-IT" sz="1400"/>
              <a:t>”</a:t>
            </a:r>
            <a:r>
              <a:rPr sz="1400"/>
              <a:t> or </a:t>
            </a:r>
            <a:r>
              <a:rPr lang="it-IT" sz="1400"/>
              <a:t>“</a:t>
            </a:r>
            <a:r>
              <a:rPr sz="1400"/>
              <a:t>Unfit</a:t>
            </a:r>
            <a:r>
              <a:rPr lang="it-IT" sz="1400"/>
              <a:t>”</a:t>
            </a:r>
            <a:r>
              <a:rPr lang="it-IT" sz="1400"/>
              <a:t>,</a:t>
            </a:r>
            <a:r>
              <a:rPr sz="1400"/>
              <a:t> along with the patient summary and the list of risk factors.</a:t>
            </a:r>
            <a:endParaRPr lang="en-US"/>
          </a:p>
        </p:txBody>
      </p:sp>
      <p:sp>
        <p:nvSpPr>
          <p:cNvPr id="1740447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3190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9216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2829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0101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45288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3016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0519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48104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813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55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639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123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30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36260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17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3676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3414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6367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1877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0440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0629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745164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513447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112793722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955276649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1337536795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25708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1367794536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501967184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21776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62703146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809763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12818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6933044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321071507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1952491662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575094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1114873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2124738382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1730341385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30854464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6366172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085189321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1851638565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22729063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7684366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1175995587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41518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808524785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74208601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504138775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66032785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62011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1326310714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893726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2696462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729065759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0781031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179566774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468570463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1484132550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166989186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763448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1565240535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3981433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874732665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686187129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1292157611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1878846985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78861419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2090059345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9603525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236029111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1480185824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560972177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44897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72301196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6311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147540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1541723198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1779607353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1220317585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141158084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140621748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71966449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882421602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1885066637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475900742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2081137157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05168977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444557092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1836096970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194141053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2008582489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2111904669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823780024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1933844270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1624389890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485169964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880557733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1467880246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465608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363591960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280467976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101399179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14634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175052078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0698073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9121782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459819788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5896124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68771805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7461957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2068516429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32524085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1894854265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58108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95361060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9757777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820490955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20542973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2103944274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969512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890303727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8705526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480881850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1078149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708172871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9119752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948338344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1355186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635943062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6292456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248532303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4290569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426113234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7836688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34029844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1819250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interaction check endpoint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408836649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1575352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1270258783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2482453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211207687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9414501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435991905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7218129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–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Exams are already done, only the resulting images are sent.</a:t>
            </a:r>
            <a:endParaRPr lang="en-US" sz="1100"/>
          </a:p>
        </p:txBody>
      </p:sp>
      <p:sp>
        <p:nvSpPr>
          <p:cNvPr id="392129947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22559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1937505551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6806582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272324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983519055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1909971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718624972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7489136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2067453436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87552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031119483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1378863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068608723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8168248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1897880171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7857644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</a:t>
            </a:r>
            <a:endParaRPr lang="en-US" sz="1050"/>
          </a:p>
        </p:txBody>
      </p:sp>
      <p:sp>
        <p:nvSpPr>
          <p:cNvPr id="329016977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66592962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stic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Bundle.</a:t>
            </a:r>
            <a:endParaRPr lang="en-US" sz="1050"/>
          </a:p>
        </p:txBody>
      </p:sp>
      <p:sp>
        <p:nvSpPr>
          <p:cNvPr id="1128296764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479318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486941252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356529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12850482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2321193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222447723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31734248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2075653385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6442535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1996994213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04941289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1236487815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0215457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 lang="en-US" sz="1050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9600126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62521570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364593701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4737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2137556125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0087060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1118332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1325316868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670157430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718084211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886733041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1594125820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761286737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1903468509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115460444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147024531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1664330928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creation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1992890284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2109959783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701322343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128807738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1159709559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6301823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439593587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1538956681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298263151" name="Text 22"/>
          <p:cNvSpPr/>
          <p:nvPr/>
        </p:nvSpPr>
        <p:spPr bwMode="auto">
          <a:xfrm>
            <a:off x="4937760" y="2551173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348936049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1889142803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1627524843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1634535085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930249170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51946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2003933322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235280107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4985771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202505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1021384031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91337330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0729173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1253027048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526277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75932926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921141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1486102034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161934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522801725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3523318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1314626706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7297217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789014618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2696397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348355898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4252173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314756233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3481160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2118415004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1333666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567553336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6713247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249215135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0215555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2022485336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8937077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1846376369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11274543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61876493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3421092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1549276971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5513421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607899001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61318975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248161501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6584464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1492377677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0376079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1626812102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1966093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422908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204397218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1027789461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4855329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178468896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1834907050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415075463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425028407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0424554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1585409575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4026917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1714208993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5863985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1597143911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5070040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939999941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5951461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889586287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5654094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52608156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6402326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1235032826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5724230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545919216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681599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1140428880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467143748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966380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1882278904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2937949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1990898482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9480267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1922477869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183464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1703821285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7284513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1242798587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</a:t>
            </a:r>
            <a:r>
              <a:rPr lang="en-US" sz="1400" b="1">
                <a:solidFill>
                  <a:srgbClr val="0F6E56"/>
                </a:solidFill>
                <a:latin typeface="Calibri"/>
              </a:rPr>
              <a:t>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2055385961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9057849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231931231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9108736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326499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25953993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878201385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929516839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1577733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29191181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569810369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22364054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1864247687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1306511378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589165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429126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732291632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794666655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814618674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7229316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251699905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5738074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434371286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6923635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871970449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2759391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1264866459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26506058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194780076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8360633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1659365323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919671354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132436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98044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33323832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6008298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3277173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321387175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792217205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721417858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49059321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2030495927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1422511919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2096332356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2013434564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905922035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413620988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559749752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796655424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847716724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1488905443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432138741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1198148959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1590169495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9808219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1498539066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728869698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1595193990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1662932179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1874014832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2117966298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744791851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866198386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1009849347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1412941927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780563061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521087871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1503602723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1700143982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438413903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863198634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9</cp:revision>
  <dcterms:created xsi:type="dcterms:W3CDTF">2026-06-22T13:52:18Z</dcterms:created>
  <dcterms:modified xsi:type="dcterms:W3CDTF">2026-06-25T08:18:23Z</dcterms:modified>
</cp:coreProperties>
</file>