
<file path=[Content_Types].xml><?xml version="1.0" encoding="utf-8"?>
<Types xmlns="http://schemas.openxmlformats.org/package/2006/content-types">
  <Default Extension="xml" ContentType="application/xml"/>
  <Default Extension="wmf" ContentType="image/x-wmf"/>
  <Default Extension="bin" ContentType="application/vnd.openxmlformats-officedocument.oleObject"/>
  <Default Extension="rels" ContentType="application/vnd.openxmlformats-package.relationships+xml"/>
  <Default Extension="jpeg" ContentType="image/jpeg"/>
  <Default Extension="png" ContentType="image/png"/>
  <Override PartName="/ppt/notesSlides/notesSlide17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4.xml" ContentType="application/vnd.openxmlformats-officedocument.presentationml.notesSlide+xml"/>
  <Override PartName="/ppt/slides/slide16.xml" ContentType="application/vnd.openxmlformats-officedocument.presentationml.slide+xml"/>
  <Override PartName="/ppt/slides/slide15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14.xml" ContentType="application/vnd.openxmlformats-officedocument.presentationml.slide+xml"/>
  <Override PartName="/docProps/core.xml" ContentType="application/vnd.openxmlformats-package.core-properties+xml"/>
  <Override PartName="/ppt/slides/slide1.xml" ContentType="application/vnd.openxmlformats-officedocument.presentationml.slide+xml"/>
  <Override PartName="/ppt/slideMasters/slideMaster1.xml" ContentType="application/vnd.openxmlformats-officedocument.presentationml.slideMaster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slides/slide10.xml" ContentType="application/vnd.openxmlformats-officedocument.presentationml.slide+xml"/>
  <Override PartName="/ppt/slides/slide13.xml" ContentType="application/vnd.openxmlformats-officedocument.presentationml.slide+xml"/>
  <Override PartName="/ppt/slides/slide6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slides/slide3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ppt/slides/slide17.xml" ContentType="application/vnd.openxmlformats-officedocument.presentationml.slide+xml"/>
  <Override PartName="/docProps/app.xml" ContentType="application/vnd.openxmlformats-officedocument.extended-properties+xml"/>
  <Override PartName="/ppt/tableStyles.xml" ContentType="application/vnd.openxmlformats-officedocument.presentationml.tableStyles+xml"/>
  <Override PartName="/ppt/slides/slide4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2.xml" ContentType="application/vnd.openxmlformats-officedocument.presentationml.slide+xml"/>
  <Override PartName="/ppt/slideLayouts/slideLayout1.xml" ContentType="application/vnd.openxmlformats-officedocument.presentationml.slideLayout+xml"/>
  <Override PartName="/ppt/slides/slide5.xml" ContentType="application/vnd.openxmlformats-officedocument.presentationml.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8.xml" ContentType="application/vnd.openxmlformats-officedocument.presentationml.notesSlide+xml"/>
  <Override PartName="/ppt/presentation.xml" ContentType="application/vnd.openxmlformats-officedocument.presentationml.presentation.main+xml"/>
  <Override PartName="/ppt/slides/slide8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9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autoCompressPictures="0" saveSubsetFonts="1">
  <p:sldMasterIdLst>
    <p:sldMasterId id="2147483648" r:id="rId1"/>
  </p:sldMasterIdLst>
  <p:notesMasterIdLst>
    <p:notesMasterId r:id="rId21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</p:sldIdLst>
  <p:sldSz cx="9144000" cy="5143500" type="screen16x9"/>
  <p:notesSz cx="5143500" cy="9144000"/>
  <p:defaultTextStyle>
    <a:lvl1pPr marL="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 snapToObjects="1">
      <p:cViewPr varScale="1">
        <p:scale>
          <a:sx n="100" d="100"/>
          <a:sy n="100" d="100"/>
        </p:scale>
        <p:origin x="974" y="216"/>
      </p:cViewPr>
      <p:guideLst>
        <p:guide pos="2880"/>
        <p:guide pos="1620" orient="horz"/>
      </p:guideLst>
    </p:cSldViewPr>
  </p:slideViewPr>
  <p:gridSpacing cx="76200" cy="76200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 /><Relationship Id="rId23" Type="http://schemas.openxmlformats.org/officeDocument/2006/relationships/tableStyles" Target="tableStyles.xml" /><Relationship Id="rId24" Type="http://schemas.openxmlformats.org/officeDocument/2006/relationships/viewProps" Target="viewProps.xml" 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 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 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 ?>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 ?>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 ?>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 ?>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 ?>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 ?>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 ?>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 ?>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 ?>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 ?>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 ?>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 ?>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 ?>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4581046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78922153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22988273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1</a:t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4758488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07459121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69204947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2</a:t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6678787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73790639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52331832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3</a:t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2728989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05951815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63301154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4</a:t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5184204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52017251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11676665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5</a:t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2116101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61923592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3285263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6</a:t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85780889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12945296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85744949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7</a:t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64359789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84687607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82868754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8</a:t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0516993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74877066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08558740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9</a:t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8823589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12402041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09707926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10</a:t>
            </a:fld>
            <a:endParaRPr 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7139304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95025559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53169582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11</a:t>
            </a:fld>
            <a:endParaRPr 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9582492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8853012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2002535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12</a:t>
            </a:fld>
            <a:endParaRPr 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9242196-202C-F19F-E59B-19A0C2A48E0E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F8B224E-5401-2944-BD9E-177ABE848A1D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7D4132B-99D2-A016-0E8A-93AF35626232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2EBE06E-E069-3376-C5E3-792169FA5BE7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9359749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61848231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86737831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17</a:t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dt="0" ftr="0" hdr="0" sldNum="0"/>
  <p:txStyles>
    <p:titleStyle>
      <a:lvl1pPr algn="ctr" defTabSz="914400" rtl="0"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>
        <a:spcBef>
          <a:spcPts val="0"/>
        </a:spcBef>
        <a:buFont typeface="Arial"/>
        <a:buChar char="•"/>
        <a:defRPr sz="3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>
        <a:spcBef>
          <a:spcPts val="0"/>
        </a:spcBef>
        <a:buFont typeface="Arial"/>
        <a:buChar char="–"/>
        <a:defRPr sz="28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>
        <a:spcBef>
          <a:spcPts val="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>
        <a:spcBef>
          <a:spcPts val="0"/>
        </a:spcBef>
        <a:buFont typeface="Arial"/>
        <a:buChar char="–"/>
        <a:defRPr sz="20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>
        <a:spcBef>
          <a:spcPts val="0"/>
        </a:spcBef>
        <a:buFont typeface="Arial"/>
        <a:buChar char="»"/>
        <a:defRPr sz="20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2.png"/></Relationships>
</file>

<file path=ppt/slides/_rels/slide1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3.png"/></Relationships>
</file>

<file path=ppt/slides/_rels/slide1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4.png"/></Relationships>
</file>

<file path=ppt/slides/_rels/slide1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.png"/></Relationships>
</file>

<file path=ppt/slides/_rels/slide1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1">
    <p:bg>
      <p:bgPr shadeToTitle="0">
        <a:solidFill>
          <a:srgbClr val="1F4E79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9014010" name="Shape 0"/>
          <p:cNvSpPr/>
          <p:nvPr/>
        </p:nvSpPr>
        <p:spPr bwMode="auto">
          <a:xfrm>
            <a:off x="0" y="0"/>
            <a:ext cx="164592" cy="5148072"/>
          </a:xfrm>
          <a:prstGeom prst="rect">
            <a:avLst/>
          </a:prstGeom>
          <a:solidFill>
            <a:srgbClr val="0F6E56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216408225" name="Text 1"/>
          <p:cNvSpPr/>
          <p:nvPr/>
        </p:nvSpPr>
        <p:spPr bwMode="auto">
          <a:xfrm>
            <a:off x="502920" y="822960"/>
            <a:ext cx="81381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6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HealthSOA</a:t>
            </a:r>
            <a:endParaRPr lang="en-US" sz="6000"/>
          </a:p>
        </p:txBody>
      </p:sp>
      <p:sp>
        <p:nvSpPr>
          <p:cNvPr id="1798451353" name="Text 2"/>
          <p:cNvSpPr/>
          <p:nvPr/>
        </p:nvSpPr>
        <p:spPr bwMode="auto">
          <a:xfrm>
            <a:off x="502920" y="2057400"/>
            <a:ext cx="81381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2400">
                <a:solidFill>
                  <a:srgbClr val="A8C4E0"/>
                </a:solidFill>
                <a:latin typeface="Calibri"/>
                <a:ea typeface="Calibri"/>
                <a:cs typeface="Calibri"/>
              </a:rPr>
              <a:t>Hospital Platform for Pre-Procedure</a:t>
            </a:r>
            <a:endParaRPr lang="en-US" sz="2400"/>
          </a:p>
          <a:p>
            <a:pPr marL="0" indent="0">
              <a:buNone/>
              <a:defRPr/>
            </a:pPr>
            <a:r>
              <a:rPr lang="en-US" sz="2400">
                <a:solidFill>
                  <a:srgbClr val="A8C4E0"/>
                </a:solidFill>
                <a:latin typeface="Calibri"/>
                <a:ea typeface="Calibri"/>
                <a:cs typeface="Calibri"/>
              </a:rPr>
              <a:t>Clinical Assessment</a:t>
            </a:r>
            <a:endParaRPr lang="en-US" sz="2400"/>
          </a:p>
        </p:txBody>
      </p:sp>
      <p:sp>
        <p:nvSpPr>
          <p:cNvPr id="1604083491" name="Text 3"/>
          <p:cNvSpPr/>
          <p:nvPr/>
        </p:nvSpPr>
        <p:spPr bwMode="auto">
          <a:xfrm>
            <a:off x="502920" y="3246120"/>
            <a:ext cx="8138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500">
                <a:solidFill>
                  <a:srgbClr val="7BA8C8"/>
                </a:solidFill>
                <a:latin typeface="Calibri"/>
                <a:ea typeface="Calibri"/>
                <a:cs typeface="Calibri"/>
              </a:rPr>
              <a:t>Service-Oriented Software Engineering  ·  A.A. 2025/2026</a:t>
            </a:r>
            <a:endParaRPr lang="en-US" sz="1500"/>
          </a:p>
        </p:txBody>
      </p:sp>
      <p:sp>
        <p:nvSpPr>
          <p:cNvPr id="1937587133" name="Text 4"/>
          <p:cNvSpPr/>
          <p:nvPr/>
        </p:nvSpPr>
        <p:spPr bwMode="auto">
          <a:xfrm>
            <a:off x="502920" y="3611880"/>
            <a:ext cx="8138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500">
                <a:solidFill>
                  <a:srgbClr val="7BA8C8"/>
                </a:solidFill>
                <a:latin typeface="Calibri"/>
                <a:ea typeface="Calibri"/>
                <a:cs typeface="Calibri"/>
              </a:rPr>
              <a:t>Università degli Studi dell'Aquila  ·  DISIM</a:t>
            </a:r>
            <a:endParaRPr lang="en-US" sz="15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2">
    <p:bg>
      <p:bgPr shadeToTitle="0">
        <a:solidFill>
          <a:srgbClr val="1F4E79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69155269" name="Text 0"/>
          <p:cNvSpPr/>
          <p:nvPr/>
        </p:nvSpPr>
        <p:spPr bwMode="auto">
          <a:xfrm>
            <a:off x="731520" y="1463040"/>
            <a:ext cx="76809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  <a:defRPr/>
            </a:pPr>
            <a:r>
              <a:rPr lang="en-US" sz="4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Block 1 — Domain, Architecture &amp; Infrastructure</a:t>
            </a:r>
            <a:endParaRPr lang="en-US" sz="4200"/>
          </a:p>
        </p:txBody>
      </p:sp>
      <p:sp>
        <p:nvSpPr>
          <p:cNvPr id="1010086063" name="Text 1"/>
          <p:cNvSpPr/>
          <p:nvPr/>
        </p:nvSpPr>
        <p:spPr bwMode="auto">
          <a:xfrm>
            <a:off x="731520" y="251460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2000">
                <a:solidFill>
                  <a:srgbClr val="A8C4E0"/>
                </a:solidFill>
                <a:latin typeface="Calibri"/>
                <a:ea typeface="Calibri"/>
                <a:cs typeface="Calibri"/>
              </a:rPr>
              <a:t>Presenter 1</a:t>
            </a:r>
            <a:endParaRPr lang="en-US" sz="2000"/>
          </a:p>
        </p:txBody>
      </p:sp>
      <p:sp>
        <p:nvSpPr>
          <p:cNvPr id="930060544" name="Text 2"/>
          <p:cNvSpPr/>
          <p:nvPr/>
        </p:nvSpPr>
        <p:spPr bwMode="auto">
          <a:xfrm>
            <a:off x="731520" y="3017519"/>
            <a:ext cx="7680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400" i="1">
                <a:solidFill>
                  <a:srgbClr val="7BA8C8"/>
                </a:solidFill>
                <a:latin typeface="Calibri"/>
                <a:ea typeface="Calibri"/>
                <a:cs typeface="Calibri"/>
              </a:rPr>
              <a:t>Domain &amp; Motivation · System Overview · Infrastructure · Load Balancing</a:t>
            </a:r>
            <a:endParaRPr lang="en-US" sz="14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3">
    <p:bg>
      <p:bgPr shadeToTitle="0">
        <a:solidFill>
          <a:srgbClr val="F5F8FA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03608777" name="Text 0"/>
          <p:cNvSpPr/>
          <p:nvPr/>
        </p:nvSpPr>
        <p:spPr bwMode="auto">
          <a:xfrm>
            <a:off x="457200" y="201168"/>
            <a:ext cx="82296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  <a:defRPr/>
            </a:pPr>
            <a:r>
              <a:rPr lang="en-US" sz="3400" b="1">
                <a:solidFill>
                  <a:srgbClr val="1F4E79"/>
                </a:solidFill>
                <a:latin typeface="Calibri"/>
                <a:ea typeface="Calibri"/>
                <a:cs typeface="Calibri"/>
              </a:rPr>
              <a:t>Domain &amp; Motivation</a:t>
            </a:r>
            <a:endParaRPr lang="en-US" sz="3400"/>
          </a:p>
        </p:txBody>
      </p:sp>
      <p:sp>
        <p:nvSpPr>
          <p:cNvPr id="1625896394" name="Shape 1"/>
          <p:cNvSpPr/>
          <p:nvPr/>
        </p:nvSpPr>
        <p:spPr bwMode="auto">
          <a:xfrm>
            <a:off x="457200" y="1078992"/>
            <a:ext cx="8229600" cy="22860"/>
          </a:xfrm>
          <a:prstGeom prst="rect">
            <a:avLst/>
          </a:prstGeom>
          <a:solidFill>
            <a:srgbClr val="E8EEF2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846089212" name="Shape 2"/>
          <p:cNvSpPr/>
          <p:nvPr/>
        </p:nvSpPr>
        <p:spPr bwMode="auto">
          <a:xfrm>
            <a:off x="457200" y="1207008"/>
            <a:ext cx="822960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77571582" name="Shape 3"/>
          <p:cNvSpPr/>
          <p:nvPr/>
        </p:nvSpPr>
        <p:spPr bwMode="auto">
          <a:xfrm>
            <a:off x="457200" y="1207008"/>
            <a:ext cx="64008" cy="822960"/>
          </a:xfrm>
          <a:prstGeom prst="rect">
            <a:avLst/>
          </a:prstGeom>
          <a:solidFill>
            <a:srgbClr val="0F6E56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936720746" name="Text 4"/>
          <p:cNvSpPr/>
          <p:nvPr/>
        </p:nvSpPr>
        <p:spPr bwMode="auto">
          <a:xfrm>
            <a:off x="685800" y="1271016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300" b="1">
                <a:solidFill>
                  <a:srgbClr val="1F4E79"/>
                </a:solidFill>
                <a:latin typeface="Calibri"/>
                <a:ea typeface="Calibri"/>
                <a:cs typeface="Calibri"/>
              </a:rPr>
              <a:t>Legacy SOAP Integration</a:t>
            </a:r>
            <a:endParaRPr lang="en-US" sz="1300"/>
          </a:p>
        </p:txBody>
      </p:sp>
      <p:sp>
        <p:nvSpPr>
          <p:cNvPr id="1936408402" name="Text 5"/>
          <p:cNvSpPr/>
          <p:nvPr/>
        </p:nvSpPr>
        <p:spPr bwMode="auto">
          <a:xfrm>
            <a:off x="685800" y="1572768"/>
            <a:ext cx="7772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The regional Anagrafe Sanitaria is a real-world institutional system that exposes typed contracts via WSDL (HL7-style). Contract-first SOAP is imposed by the interoperability requirement — not an aesthetic choice.</a:t>
            </a:r>
            <a:endParaRPr lang="en-US" sz="1050"/>
          </a:p>
        </p:txBody>
      </p:sp>
      <p:sp>
        <p:nvSpPr>
          <p:cNvPr id="1349723246" name="Shape 6"/>
          <p:cNvSpPr/>
          <p:nvPr/>
        </p:nvSpPr>
        <p:spPr bwMode="auto">
          <a:xfrm>
            <a:off x="457200" y="2139696"/>
            <a:ext cx="822960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715665304" name="Shape 7"/>
          <p:cNvSpPr/>
          <p:nvPr/>
        </p:nvSpPr>
        <p:spPr bwMode="auto">
          <a:xfrm>
            <a:off x="457200" y="2139696"/>
            <a:ext cx="64008" cy="822960"/>
          </a:xfrm>
          <a:prstGeom prst="rect">
            <a:avLst/>
          </a:prstGeom>
          <a:solidFill>
            <a:srgbClr val="534AB7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869556885" name="Text 8"/>
          <p:cNvSpPr/>
          <p:nvPr/>
        </p:nvSpPr>
        <p:spPr bwMode="auto">
          <a:xfrm>
            <a:off x="685800" y="2203704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300" b="1">
                <a:solidFill>
                  <a:srgbClr val="1F4E79"/>
                </a:solidFill>
                <a:latin typeface="Calibri"/>
                <a:ea typeface="Calibri"/>
                <a:cs typeface="Calibri"/>
              </a:rPr>
              <a:t>Asynchronous Lab Processing</a:t>
            </a:r>
            <a:endParaRPr lang="en-US" sz="1300"/>
          </a:p>
        </p:txBody>
      </p:sp>
      <p:sp>
        <p:nvSpPr>
          <p:cNvPr id="1548344549" name="Text 9"/>
          <p:cNvSpPr/>
          <p:nvPr/>
        </p:nvSpPr>
        <p:spPr bwMode="auto">
          <a:xfrm>
            <a:off x="685800" y="2505456"/>
            <a:ext cx="7772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A lab panel ordered urgently has real latency while the biological sample is processed. A synchronous call would hold threads and connections; asynchrony is mandated by the physics of the problem.</a:t>
            </a:r>
            <a:endParaRPr lang="en-US" sz="1050"/>
          </a:p>
        </p:txBody>
      </p:sp>
      <p:sp>
        <p:nvSpPr>
          <p:cNvPr id="1220613339" name="Shape 10"/>
          <p:cNvSpPr/>
          <p:nvPr/>
        </p:nvSpPr>
        <p:spPr bwMode="auto">
          <a:xfrm>
            <a:off x="457200" y="3072384"/>
            <a:ext cx="822960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21398284" name="Shape 11"/>
          <p:cNvSpPr/>
          <p:nvPr/>
        </p:nvSpPr>
        <p:spPr bwMode="auto">
          <a:xfrm>
            <a:off x="457200" y="3072384"/>
            <a:ext cx="64008" cy="822960"/>
          </a:xfrm>
          <a:prstGeom prst="rect">
            <a:avLst/>
          </a:prstGeom>
          <a:solidFill>
            <a:srgbClr val="0F6E56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003124095" name="Text 12"/>
          <p:cNvSpPr/>
          <p:nvPr/>
        </p:nvSpPr>
        <p:spPr bwMode="auto">
          <a:xfrm>
            <a:off x="685800" y="3136392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300" b="1">
                <a:solidFill>
                  <a:srgbClr val="1F4E79"/>
                </a:solidFill>
                <a:latin typeface="Calibri"/>
                <a:ea typeface="Calibri"/>
                <a:cs typeface="Calibri"/>
              </a:rPr>
              <a:t>Independent Parallel Branches</a:t>
            </a:r>
            <a:endParaRPr lang="en-US" sz="1300"/>
          </a:p>
        </p:txBody>
      </p:sp>
      <p:sp>
        <p:nvSpPr>
          <p:cNvPr id="1272530478" name="Text 13"/>
          <p:cNvSpPr/>
          <p:nvPr/>
        </p:nvSpPr>
        <p:spPr bwMode="auto">
          <a:xfrm>
            <a:off x="685800" y="3438144"/>
            <a:ext cx="7772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A fitness assessment needs the diagnostic bundle (lab + imaging) AND the clinical history (registry + prescriptions) at the same time. The two data-collection branches are logically independent; sequential execution would needlessly double latency.</a:t>
            </a:r>
            <a:endParaRPr lang="en-US" sz="1050"/>
          </a:p>
        </p:txBody>
      </p:sp>
      <p:sp>
        <p:nvSpPr>
          <p:cNvPr id="1462346994" name="Shape 14"/>
          <p:cNvSpPr/>
          <p:nvPr/>
        </p:nvSpPr>
        <p:spPr bwMode="auto">
          <a:xfrm>
            <a:off x="457200" y="4005072"/>
            <a:ext cx="822960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272156775" name="Shape 15"/>
          <p:cNvSpPr/>
          <p:nvPr/>
        </p:nvSpPr>
        <p:spPr bwMode="auto">
          <a:xfrm>
            <a:off x="457200" y="4005072"/>
            <a:ext cx="64008" cy="822960"/>
          </a:xfrm>
          <a:prstGeom prst="rect">
            <a:avLst/>
          </a:prstGeom>
          <a:solidFill>
            <a:srgbClr val="534AB7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810242651" name="Text 16"/>
          <p:cNvSpPr/>
          <p:nvPr/>
        </p:nvSpPr>
        <p:spPr bwMode="auto">
          <a:xfrm>
            <a:off x="685800" y="4069080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300" b="1">
                <a:solidFill>
                  <a:srgbClr val="1F4E79"/>
                </a:solidFill>
                <a:latin typeface="Calibri"/>
                <a:ea typeface="Calibri"/>
                <a:cs typeface="Calibri"/>
              </a:rPr>
              <a:t>Bursty Peak Load</a:t>
            </a:r>
            <a:endParaRPr lang="en-US" sz="1300"/>
          </a:p>
        </p:txBody>
      </p:sp>
      <p:sp>
        <p:nvSpPr>
          <p:cNvPr id="1042482325" name="Text 17"/>
          <p:cNvSpPr/>
          <p:nvPr/>
        </p:nvSpPr>
        <p:spPr bwMode="auto">
          <a:xfrm>
            <a:off x="685800" y="4370832"/>
            <a:ext cx="7772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Anagrafe and Laboratorio sit on the critical path of every workflow and are hit by many clinicians simultaneously during morning rounds and ER rushes. Load is bursty and read-heavy — replication is motivated by specific system behaviour.</a:t>
            </a:r>
            <a:endParaRPr lang="en-US" sz="105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4">
    <p:bg>
      <p:bgPr shadeToTitle="0">
        <a:solidFill>
          <a:srgbClr val="F5F8FA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28114326" name="Text 0"/>
          <p:cNvSpPr/>
          <p:nvPr/>
        </p:nvSpPr>
        <p:spPr bwMode="auto">
          <a:xfrm>
            <a:off x="457200" y="201168"/>
            <a:ext cx="82296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  <a:defRPr/>
            </a:pPr>
            <a:r>
              <a:rPr lang="en-US" sz="3400" b="1">
                <a:solidFill>
                  <a:srgbClr val="1F4E79"/>
                </a:solidFill>
                <a:latin typeface="Calibri"/>
                <a:ea typeface="Calibri"/>
                <a:cs typeface="Calibri"/>
              </a:rPr>
              <a:t>System Overview</a:t>
            </a:r>
            <a:endParaRPr lang="en-US" sz="3400"/>
          </a:p>
        </p:txBody>
      </p:sp>
      <p:sp>
        <p:nvSpPr>
          <p:cNvPr id="1117423439" name="Text 24"/>
          <p:cNvSpPr/>
          <p:nvPr/>
        </p:nvSpPr>
        <p:spPr bwMode="auto">
          <a:xfrm>
            <a:off x="6903720" y="3547872"/>
            <a:ext cx="1920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  <a:defRPr/>
            </a:pPr>
            <a:endParaRPr lang="en-US" sz="950"/>
          </a:p>
        </p:txBody>
      </p:sp>
      <p:sp>
        <p:nvSpPr>
          <p:cNvPr id="1679032444" name="Text 30"/>
          <p:cNvSpPr/>
          <p:nvPr/>
        </p:nvSpPr>
        <p:spPr bwMode="auto">
          <a:xfrm>
            <a:off x="457200" y="4498848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  <a:defRPr/>
            </a:pPr>
            <a:endParaRPr lang="en-US" sz="1000"/>
          </a:p>
        </p:txBody>
      </p:sp>
      <p:pic>
        <p:nvPicPr>
          <p:cNvPr id="1976733564" name="Immagine 41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2117187" y="790525"/>
            <a:ext cx="4909625" cy="4151807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5">
    <p:bg>
      <p:bgPr shadeToTitle="0">
        <a:solidFill>
          <a:srgbClr val="F5F8FA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57328841" name="Text 0"/>
          <p:cNvSpPr/>
          <p:nvPr/>
        </p:nvSpPr>
        <p:spPr bwMode="auto">
          <a:xfrm>
            <a:off x="457200" y="201168"/>
            <a:ext cx="82296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  <a:defRPr/>
            </a:pPr>
            <a:r>
              <a:rPr lang="en-US" sz="3400" b="1">
                <a:solidFill>
                  <a:srgbClr val="1F4E79"/>
                </a:solidFill>
                <a:latin typeface="Calibri"/>
                <a:ea typeface="Calibri"/>
                <a:cs typeface="Calibri"/>
              </a:rPr>
              <a:t>Infrastructure Services</a:t>
            </a:r>
            <a:endParaRPr lang="en-US" sz="3400"/>
          </a:p>
        </p:txBody>
      </p:sp>
      <p:sp>
        <p:nvSpPr>
          <p:cNvPr id="2115470992" name="Shape 1"/>
          <p:cNvSpPr/>
          <p:nvPr/>
        </p:nvSpPr>
        <p:spPr bwMode="auto">
          <a:xfrm>
            <a:off x="457200" y="1078992"/>
            <a:ext cx="8229600" cy="22860"/>
          </a:xfrm>
          <a:prstGeom prst="rect">
            <a:avLst/>
          </a:prstGeom>
          <a:solidFill>
            <a:srgbClr val="E8EEF2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457528447" name="Shape 2"/>
          <p:cNvSpPr/>
          <p:nvPr/>
        </p:nvSpPr>
        <p:spPr bwMode="auto">
          <a:xfrm>
            <a:off x="457200" y="1207008"/>
            <a:ext cx="8229600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694237692" name="Text 3"/>
          <p:cNvSpPr/>
          <p:nvPr/>
        </p:nvSpPr>
        <p:spPr bwMode="auto">
          <a:xfrm>
            <a:off x="640080" y="1280160"/>
            <a:ext cx="5943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400" b="1">
                <a:solidFill>
                  <a:srgbClr val="1F4E79"/>
                </a:solidFill>
                <a:latin typeface="Calibri"/>
                <a:ea typeface="Calibri"/>
                <a:cs typeface="Calibri"/>
              </a:rPr>
              <a:t>Config Server</a:t>
            </a:r>
            <a:endParaRPr lang="en-US" sz="1400"/>
          </a:p>
        </p:txBody>
      </p:sp>
      <p:sp>
        <p:nvSpPr>
          <p:cNvPr id="1684140373" name="Shape 4"/>
          <p:cNvSpPr/>
          <p:nvPr/>
        </p:nvSpPr>
        <p:spPr bwMode="auto">
          <a:xfrm>
            <a:off x="7132320" y="1280160"/>
            <a:ext cx="1371600" cy="274320"/>
          </a:xfrm>
          <a:prstGeom prst="rect">
            <a:avLst/>
          </a:prstGeom>
          <a:solidFill>
            <a:srgbClr val="1F4E79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642824325" name="Text 5"/>
          <p:cNvSpPr/>
          <p:nvPr/>
        </p:nvSpPr>
        <p:spPr bwMode="auto">
          <a:xfrm>
            <a:off x="7132320" y="128016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  <a:defRPr/>
            </a:pPr>
            <a:r>
              <a:rPr lang="en-US" sz="1200" b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:8888</a:t>
            </a:r>
            <a:endParaRPr lang="en-US" sz="1200"/>
          </a:p>
        </p:txBody>
      </p:sp>
      <p:sp>
        <p:nvSpPr>
          <p:cNvPr id="246491270" name="Text 6"/>
          <p:cNvSpPr/>
          <p:nvPr/>
        </p:nvSpPr>
        <p:spPr bwMode="auto">
          <a:xfrm>
            <a:off x="658368" y="1609344"/>
            <a:ext cx="7863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• Centralises all service properties in a sibling git repository (healthsoa-properties-repository)</a:t>
            </a:r>
            <a:endParaRPr lang="en-US" sz="1050"/>
          </a:p>
        </p:txBody>
      </p:sp>
      <p:sp>
        <p:nvSpPr>
          <p:cNvPr id="1324308861" name="Text 7"/>
          <p:cNvSpPr/>
          <p:nvPr/>
        </p:nvSpPr>
        <p:spPr bwMode="auto">
          <a:xfrm>
            <a:off x="658368" y="1847088"/>
            <a:ext cx="7863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• Each microservice reads its entire config on startup via spring.config.import — no hardcoded values</a:t>
            </a:r>
            <a:endParaRPr lang="en-US" sz="1050"/>
          </a:p>
        </p:txBody>
      </p:sp>
      <p:sp>
        <p:nvSpPr>
          <p:cNvPr id="2074335640" name="Text 8"/>
          <p:cNvSpPr/>
          <p:nvPr/>
        </p:nvSpPr>
        <p:spPr bwMode="auto">
          <a:xfrm>
            <a:off x="658368" y="2084832"/>
            <a:ext cx="7863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• Runtime refresh: POST /actuator/refresh + @RefreshScope pushes config changes without restarting</a:t>
            </a:r>
            <a:endParaRPr lang="en-US" sz="1050"/>
          </a:p>
        </p:txBody>
      </p:sp>
      <p:sp>
        <p:nvSpPr>
          <p:cNvPr id="460500659" name="Shape 9"/>
          <p:cNvSpPr/>
          <p:nvPr/>
        </p:nvSpPr>
        <p:spPr bwMode="auto">
          <a:xfrm>
            <a:off x="457200" y="2468880"/>
            <a:ext cx="8229600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738031513" name="Text 10"/>
          <p:cNvSpPr/>
          <p:nvPr/>
        </p:nvSpPr>
        <p:spPr bwMode="auto">
          <a:xfrm>
            <a:off x="640080" y="2542032"/>
            <a:ext cx="5943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400" b="1">
                <a:solidFill>
                  <a:srgbClr val="1F4E79"/>
                </a:solidFill>
                <a:latin typeface="Calibri"/>
                <a:ea typeface="Calibri"/>
                <a:cs typeface="Calibri"/>
              </a:rPr>
              <a:t>Discovery Server — Eureka</a:t>
            </a:r>
            <a:endParaRPr lang="en-US" sz="1400"/>
          </a:p>
        </p:txBody>
      </p:sp>
      <p:sp>
        <p:nvSpPr>
          <p:cNvPr id="677833625" name="Shape 11"/>
          <p:cNvSpPr/>
          <p:nvPr/>
        </p:nvSpPr>
        <p:spPr bwMode="auto">
          <a:xfrm>
            <a:off x="7132320" y="2542032"/>
            <a:ext cx="1371600" cy="274320"/>
          </a:xfrm>
          <a:prstGeom prst="rect">
            <a:avLst/>
          </a:prstGeom>
          <a:solidFill>
            <a:srgbClr val="1F4E79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617172962" name="Text 12"/>
          <p:cNvSpPr/>
          <p:nvPr/>
        </p:nvSpPr>
        <p:spPr bwMode="auto">
          <a:xfrm>
            <a:off x="7132320" y="2542032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  <a:defRPr/>
            </a:pPr>
            <a:r>
              <a:rPr lang="en-US" sz="1200" b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:8761</a:t>
            </a:r>
            <a:endParaRPr lang="en-US" sz="1200"/>
          </a:p>
        </p:txBody>
      </p:sp>
      <p:sp>
        <p:nvSpPr>
          <p:cNvPr id="480796170" name="Text 13"/>
          <p:cNvSpPr/>
          <p:nvPr/>
        </p:nvSpPr>
        <p:spPr bwMode="auto">
          <a:xfrm>
            <a:off x="658368" y="2871216"/>
            <a:ext cx="7863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• All services self-register at startup via @EnableDiscoveryClient — no static address book</a:t>
            </a:r>
            <a:endParaRPr lang="en-US" sz="1050"/>
          </a:p>
        </p:txBody>
      </p:sp>
      <p:sp>
        <p:nvSpPr>
          <p:cNvPr id="1954834148" name="Text 14"/>
          <p:cNvSpPr/>
          <p:nvPr/>
        </p:nvSpPr>
        <p:spPr bwMode="auto">
          <a:xfrm>
            <a:off x="658368" y="3108960"/>
            <a:ext cx="7863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• Gateway and Feign clients resolve service names dynamically; load balancing is transparent</a:t>
            </a:r>
            <a:endParaRPr lang="en-US" sz="1050"/>
          </a:p>
        </p:txBody>
      </p:sp>
      <p:sp>
        <p:nvSpPr>
          <p:cNvPr id="1307746289" name="Text 15"/>
          <p:cNvSpPr/>
          <p:nvPr/>
        </p:nvSpPr>
        <p:spPr bwMode="auto">
          <a:xfrm>
            <a:off x="658368" y="3346704"/>
            <a:ext cx="7863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• Health dashboard at http://localhost:8761 shows registered instances and their status</a:t>
            </a:r>
            <a:endParaRPr lang="en-US" sz="1050"/>
          </a:p>
        </p:txBody>
      </p:sp>
      <p:sp>
        <p:nvSpPr>
          <p:cNvPr id="396697672" name="Shape 16"/>
          <p:cNvSpPr/>
          <p:nvPr/>
        </p:nvSpPr>
        <p:spPr bwMode="auto">
          <a:xfrm>
            <a:off x="457200" y="3730752"/>
            <a:ext cx="8229600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15697522" name="Text 17"/>
          <p:cNvSpPr/>
          <p:nvPr/>
        </p:nvSpPr>
        <p:spPr bwMode="auto">
          <a:xfrm>
            <a:off x="640080" y="3803904"/>
            <a:ext cx="5943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400" b="1">
                <a:solidFill>
                  <a:srgbClr val="1F4E79"/>
                </a:solidFill>
                <a:latin typeface="Calibri"/>
                <a:ea typeface="Calibri"/>
                <a:cs typeface="Calibri"/>
              </a:rPr>
              <a:t>API Gateway</a:t>
            </a:r>
            <a:endParaRPr lang="en-US" sz="1400"/>
          </a:p>
        </p:txBody>
      </p:sp>
      <p:sp>
        <p:nvSpPr>
          <p:cNvPr id="883323324" name="Shape 18"/>
          <p:cNvSpPr/>
          <p:nvPr/>
        </p:nvSpPr>
        <p:spPr bwMode="auto">
          <a:xfrm>
            <a:off x="7132320" y="3803904"/>
            <a:ext cx="1371600" cy="274320"/>
          </a:xfrm>
          <a:prstGeom prst="rect">
            <a:avLst/>
          </a:prstGeom>
          <a:solidFill>
            <a:srgbClr val="1F4E79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341283756" name="Text 19"/>
          <p:cNvSpPr/>
          <p:nvPr/>
        </p:nvSpPr>
        <p:spPr bwMode="auto">
          <a:xfrm>
            <a:off x="7132320" y="3803904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  <a:defRPr/>
            </a:pPr>
            <a:r>
              <a:rPr lang="en-US" sz="1200" b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:9000</a:t>
            </a:r>
            <a:endParaRPr lang="en-US" sz="1200"/>
          </a:p>
        </p:txBody>
      </p:sp>
      <p:sp>
        <p:nvSpPr>
          <p:cNvPr id="1691062578" name="Text 20"/>
          <p:cNvSpPr/>
          <p:nvPr/>
        </p:nvSpPr>
        <p:spPr bwMode="auto">
          <a:xfrm>
            <a:off x="658368" y="4133088"/>
            <a:ext cx="7863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• Single public entry point — clients never call services directly, only /api/&lt;prefix&gt;/**</a:t>
            </a:r>
            <a:endParaRPr lang="en-US" sz="1050"/>
          </a:p>
        </p:txBody>
      </p:sp>
      <p:sp>
        <p:nvSpPr>
          <p:cNvPr id="1256601035" name="Text 21"/>
          <p:cNvSpPr/>
          <p:nvPr/>
        </p:nvSpPr>
        <p:spPr bwMode="auto">
          <a:xfrm>
            <a:off x="658368" y="4370832"/>
            <a:ext cx="7863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• Routes use lb://service-name URIs; Spring Cloud LoadBalancer picks a healthy replica</a:t>
            </a:r>
            <a:endParaRPr lang="en-US" sz="1050"/>
          </a:p>
        </p:txBody>
      </p:sp>
      <p:sp>
        <p:nvSpPr>
          <p:cNvPr id="2058691019" name="Text 22"/>
          <p:cNvSpPr/>
          <p:nvPr/>
        </p:nvSpPr>
        <p:spPr bwMode="auto">
          <a:xfrm>
            <a:off x="658368" y="4608576"/>
            <a:ext cx="7863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endParaRPr lang="en-US" sz="105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6">
    <p:bg>
      <p:bgPr shadeToTitle="0">
        <a:solidFill>
          <a:srgbClr val="F5F8FA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28011846" name="Text 0"/>
          <p:cNvSpPr/>
          <p:nvPr/>
        </p:nvSpPr>
        <p:spPr bwMode="auto">
          <a:xfrm>
            <a:off x="457200" y="201168"/>
            <a:ext cx="82296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  <a:defRPr/>
            </a:pPr>
            <a:r>
              <a:rPr lang="en-US" sz="3400" b="1">
                <a:solidFill>
                  <a:srgbClr val="1F4E79"/>
                </a:solidFill>
                <a:latin typeface="Calibri"/>
                <a:ea typeface="Calibri"/>
                <a:cs typeface="Calibri"/>
              </a:rPr>
              <a:t>Load Balancing &amp; Scalability</a:t>
            </a:r>
            <a:endParaRPr lang="en-US" sz="3400"/>
          </a:p>
        </p:txBody>
      </p:sp>
      <p:sp>
        <p:nvSpPr>
          <p:cNvPr id="2055069512" name="Shape 1"/>
          <p:cNvSpPr/>
          <p:nvPr/>
        </p:nvSpPr>
        <p:spPr bwMode="auto">
          <a:xfrm>
            <a:off x="457200" y="1078992"/>
            <a:ext cx="8229600" cy="22860"/>
          </a:xfrm>
          <a:prstGeom prst="rect">
            <a:avLst/>
          </a:prstGeom>
          <a:solidFill>
            <a:srgbClr val="E8EEF2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2029769345" name="Shape 2"/>
          <p:cNvSpPr/>
          <p:nvPr/>
        </p:nvSpPr>
        <p:spPr bwMode="auto">
          <a:xfrm>
            <a:off x="457200" y="1188720"/>
            <a:ext cx="3931920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277759159" name="Text 3"/>
          <p:cNvSpPr/>
          <p:nvPr/>
        </p:nvSpPr>
        <p:spPr bwMode="auto">
          <a:xfrm>
            <a:off x="640080" y="1280160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400" b="1">
                <a:solidFill>
                  <a:srgbClr val="0F6E56"/>
                </a:solidFill>
                <a:latin typeface="Calibri"/>
                <a:ea typeface="Calibri"/>
                <a:cs typeface="Calibri"/>
              </a:rPr>
              <a:t>Scalable Services</a:t>
            </a:r>
            <a:endParaRPr lang="en-US" sz="1400"/>
          </a:p>
        </p:txBody>
      </p:sp>
      <p:sp>
        <p:nvSpPr>
          <p:cNvPr id="1014913030" name="Text 4"/>
          <p:cNvSpPr/>
          <p:nvPr/>
        </p:nvSpPr>
        <p:spPr bwMode="auto">
          <a:xfrm>
            <a:off x="658368" y="1691640"/>
            <a:ext cx="3566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150" b="1">
                <a:solidFill>
                  <a:srgbClr val="0F6E56"/>
                </a:solidFill>
                <a:latin typeface="Calibri"/>
                <a:ea typeface="Calibri"/>
                <a:cs typeface="Calibri"/>
              </a:rPr>
              <a:t>Anagrafe  :9101</a:t>
            </a:r>
            <a:endParaRPr lang="en-US" sz="1150"/>
          </a:p>
        </p:txBody>
      </p:sp>
      <p:sp>
        <p:nvSpPr>
          <p:cNvPr id="400206308" name="Text 5"/>
          <p:cNvSpPr/>
          <p:nvPr/>
        </p:nvSpPr>
        <p:spPr bwMode="auto">
          <a:xfrm>
            <a:off x="658368" y="1965960"/>
            <a:ext cx="35661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9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Read-heavy on every workflow — demographics, history, allergies queried by every request</a:t>
            </a:r>
            <a:endParaRPr lang="en-US" sz="950"/>
          </a:p>
        </p:txBody>
      </p:sp>
      <p:sp>
        <p:nvSpPr>
          <p:cNvPr id="2139966638" name="Text 6"/>
          <p:cNvSpPr/>
          <p:nvPr/>
        </p:nvSpPr>
        <p:spPr bwMode="auto">
          <a:xfrm>
            <a:off x="658368" y="2441448"/>
            <a:ext cx="3566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150" b="1">
                <a:solidFill>
                  <a:srgbClr val="0F6E56"/>
                </a:solidFill>
                <a:latin typeface="Calibri"/>
                <a:ea typeface="Calibri"/>
                <a:cs typeface="Calibri"/>
              </a:rPr>
              <a:t>Laboratorio  :9102</a:t>
            </a:r>
            <a:endParaRPr lang="en-US" sz="1150"/>
          </a:p>
        </p:txBody>
      </p:sp>
      <p:sp>
        <p:nvSpPr>
          <p:cNvPr id="364307177" name="Text 7"/>
          <p:cNvSpPr/>
          <p:nvPr/>
        </p:nvSpPr>
        <p:spPr bwMode="auto">
          <a:xfrm>
            <a:off x="658368" y="2715768"/>
            <a:ext cx="35661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9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Peak order bursts during morning rounds and ER rushes; async processing with per-instance thread pools</a:t>
            </a:r>
            <a:endParaRPr lang="en-US" sz="950"/>
          </a:p>
        </p:txBody>
      </p:sp>
      <p:sp>
        <p:nvSpPr>
          <p:cNvPr id="374838762" name="Text 8"/>
          <p:cNvSpPr/>
          <p:nvPr/>
        </p:nvSpPr>
        <p:spPr bwMode="auto">
          <a:xfrm>
            <a:off x="658368" y="3191256"/>
            <a:ext cx="3566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150" b="1">
                <a:solidFill>
                  <a:srgbClr val="0F6E56"/>
                </a:solidFill>
                <a:latin typeface="Calibri"/>
                <a:ea typeface="Calibri"/>
                <a:cs typeface="Calibri"/>
              </a:rPr>
              <a:t>Imaging  :9104</a:t>
            </a:r>
            <a:endParaRPr lang="en-US" sz="1150"/>
          </a:p>
        </p:txBody>
      </p:sp>
      <p:sp>
        <p:nvSpPr>
          <p:cNvPr id="986382293" name="Text 9"/>
          <p:cNvSpPr/>
          <p:nvPr/>
        </p:nvSpPr>
        <p:spPr bwMode="auto">
          <a:xfrm>
            <a:off x="658368" y="3465576"/>
            <a:ext cx="35661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9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Same bursty profile as Laboratorio; stateless — any replica handles any request</a:t>
            </a:r>
            <a:endParaRPr lang="en-US" sz="950"/>
          </a:p>
        </p:txBody>
      </p:sp>
      <p:sp>
        <p:nvSpPr>
          <p:cNvPr id="2132289596" name="Text 10"/>
          <p:cNvSpPr/>
          <p:nvPr/>
        </p:nvSpPr>
        <p:spPr bwMode="auto">
          <a:xfrm>
            <a:off x="658368" y="3941064"/>
            <a:ext cx="3566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150" b="1">
                <a:solidFill>
                  <a:srgbClr val="0F6E56"/>
                </a:solidFill>
                <a:latin typeface="Calibri"/>
                <a:ea typeface="Calibri"/>
                <a:cs typeface="Calibri"/>
              </a:rPr>
              <a:t>Diagnostic Aggregator  :9201</a:t>
            </a:r>
            <a:endParaRPr lang="en-US" sz="1150"/>
          </a:p>
        </p:txBody>
      </p:sp>
      <p:sp>
        <p:nvSpPr>
          <p:cNvPr id="485228092" name="Text 11"/>
          <p:cNvSpPr/>
          <p:nvPr/>
        </p:nvSpPr>
        <p:spPr bwMode="auto">
          <a:xfrm>
            <a:off x="658368" y="4215384"/>
            <a:ext cx="35661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9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Critical path of UC-3; stateless trackingId design enables transparent horizontal scaling</a:t>
            </a:r>
            <a:endParaRPr lang="en-US" sz="950"/>
          </a:p>
        </p:txBody>
      </p:sp>
      <p:sp>
        <p:nvSpPr>
          <p:cNvPr id="2074906671" name="Text 12"/>
          <p:cNvSpPr/>
          <p:nvPr/>
        </p:nvSpPr>
        <p:spPr bwMode="auto">
          <a:xfrm>
            <a:off x="658368" y="4572000"/>
            <a:ext cx="3566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endParaRPr lang="en-US" sz="1050"/>
          </a:p>
        </p:txBody>
      </p:sp>
      <p:sp>
        <p:nvSpPr>
          <p:cNvPr id="360486904" name="Shape 13"/>
          <p:cNvSpPr/>
          <p:nvPr/>
        </p:nvSpPr>
        <p:spPr bwMode="auto">
          <a:xfrm>
            <a:off x="4754880" y="1188720"/>
            <a:ext cx="3931920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957434256" name="Text 14"/>
          <p:cNvSpPr/>
          <p:nvPr/>
        </p:nvSpPr>
        <p:spPr bwMode="auto">
          <a:xfrm>
            <a:off x="4937760" y="1280160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400" b="1">
                <a:solidFill>
                  <a:srgbClr val="1F4E79"/>
                </a:solidFill>
                <a:latin typeface="Calibri"/>
                <a:ea typeface="Calibri"/>
                <a:cs typeface="Calibri"/>
              </a:rPr>
              <a:t>How It Works</a:t>
            </a:r>
            <a:endParaRPr lang="en-US" sz="1400"/>
          </a:p>
        </p:txBody>
      </p:sp>
      <p:sp>
        <p:nvSpPr>
          <p:cNvPr id="1207396533" name="Text 15"/>
          <p:cNvSpPr/>
          <p:nvPr/>
        </p:nvSpPr>
        <p:spPr bwMode="auto">
          <a:xfrm>
            <a:off x="4937760" y="1691640"/>
            <a:ext cx="35661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100" b="1">
                <a:solidFill>
                  <a:srgbClr val="1F4E79"/>
                </a:solidFill>
                <a:latin typeface="Calibri"/>
                <a:ea typeface="Calibri"/>
                <a:cs typeface="Calibri"/>
              </a:rPr>
              <a:t>Eureka registration</a:t>
            </a:r>
            <a:endParaRPr lang="en-US" sz="1100"/>
          </a:p>
        </p:txBody>
      </p:sp>
      <p:sp>
        <p:nvSpPr>
          <p:cNvPr id="174548844" name="Text 16"/>
          <p:cNvSpPr/>
          <p:nvPr/>
        </p:nvSpPr>
        <p:spPr bwMode="auto">
          <a:xfrm>
            <a:off x="4937760" y="1947671"/>
            <a:ext cx="3566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9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Every replica self-registers; gateway and Feign query the live registry at call time — no static routes.</a:t>
            </a:r>
            <a:endParaRPr lang="en-US" sz="950"/>
          </a:p>
        </p:txBody>
      </p:sp>
      <p:sp>
        <p:nvSpPr>
          <p:cNvPr id="1802155199" name="Text 17"/>
          <p:cNvSpPr/>
          <p:nvPr/>
        </p:nvSpPr>
        <p:spPr bwMode="auto">
          <a:xfrm>
            <a:off x="4937760" y="2359152"/>
            <a:ext cx="35661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100" b="1">
                <a:solidFill>
                  <a:srgbClr val="1F4E79"/>
                </a:solidFill>
                <a:latin typeface="Calibri"/>
                <a:ea typeface="Calibri"/>
                <a:cs typeface="Calibri"/>
              </a:rPr>
              <a:t>lb:// routing</a:t>
            </a:r>
            <a:endParaRPr lang="en-US" sz="1100"/>
          </a:p>
        </p:txBody>
      </p:sp>
      <p:sp>
        <p:nvSpPr>
          <p:cNvPr id="761803930" name="Text 18"/>
          <p:cNvSpPr/>
          <p:nvPr/>
        </p:nvSpPr>
        <p:spPr bwMode="auto">
          <a:xfrm>
            <a:off x="4937760" y="2615184"/>
            <a:ext cx="3566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9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Gateway routes contain lb://service-name; Spring Cloud LoadBalancer distributes across healthy instances.</a:t>
            </a:r>
            <a:endParaRPr lang="en-US" sz="950"/>
          </a:p>
        </p:txBody>
      </p:sp>
      <p:sp>
        <p:nvSpPr>
          <p:cNvPr id="909269859" name="Text 19"/>
          <p:cNvSpPr/>
          <p:nvPr/>
        </p:nvSpPr>
        <p:spPr bwMode="auto">
          <a:xfrm>
            <a:off x="4937760" y="3026664"/>
            <a:ext cx="35661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100" b="1">
                <a:solidFill>
                  <a:srgbClr val="1F4E79"/>
                </a:solidFill>
                <a:latin typeface="Calibri"/>
                <a:ea typeface="Calibri"/>
                <a:cs typeface="Calibri"/>
              </a:rPr>
              <a:t>@FeignClient(name=…)</a:t>
            </a:r>
            <a:endParaRPr lang="en-US" sz="1100"/>
          </a:p>
        </p:txBody>
      </p:sp>
      <p:sp>
        <p:nvSpPr>
          <p:cNvPr id="1681056692" name="Text 20"/>
          <p:cNvSpPr/>
          <p:nvPr/>
        </p:nvSpPr>
        <p:spPr bwMode="auto">
          <a:xfrm>
            <a:off x="4937760" y="3282696"/>
            <a:ext cx="3566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9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Feign resolves the name via Eureka — no IP, no port. Round-robin load balancing is implicit.</a:t>
            </a:r>
            <a:endParaRPr lang="en-US" sz="950"/>
          </a:p>
        </p:txBody>
      </p:sp>
      <p:sp>
        <p:nvSpPr>
          <p:cNvPr id="1543776846" name="Text 21"/>
          <p:cNvSpPr/>
          <p:nvPr/>
        </p:nvSpPr>
        <p:spPr bwMode="auto">
          <a:xfrm>
            <a:off x="4937760" y="3694176"/>
            <a:ext cx="35661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100" b="1">
                <a:solidFill>
                  <a:srgbClr val="1F4E79"/>
                </a:solidFill>
                <a:latin typeface="Calibri"/>
                <a:ea typeface="Calibri"/>
                <a:cs typeface="Calibri"/>
              </a:rPr>
              <a:t>docker-compose --scale</a:t>
            </a:r>
            <a:endParaRPr lang="en-US" sz="1100"/>
          </a:p>
        </p:txBody>
      </p:sp>
      <p:sp>
        <p:nvSpPr>
          <p:cNvPr id="2143945279" name="Text 22"/>
          <p:cNvSpPr/>
          <p:nvPr/>
        </p:nvSpPr>
        <p:spPr bwMode="auto">
          <a:xfrm>
            <a:off x="4937760" y="3950208"/>
            <a:ext cx="3566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9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docker-compose up --scale laboratorio-service=3 spins up replicas with zero code changes.</a:t>
            </a:r>
            <a:endParaRPr lang="en-US" sz="950"/>
          </a:p>
        </p:txBody>
      </p:sp>
      <p:sp>
        <p:nvSpPr>
          <p:cNvPr id="1513938991" name="Text 23"/>
          <p:cNvSpPr/>
          <p:nvPr/>
        </p:nvSpPr>
        <p:spPr bwMode="auto">
          <a:xfrm>
            <a:off x="4937760" y="4361688"/>
            <a:ext cx="35661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endParaRPr lang="en-US" sz="1100"/>
          </a:p>
        </p:txBody>
      </p:sp>
      <p:sp>
        <p:nvSpPr>
          <p:cNvPr id="1890427796" name="Text 24"/>
          <p:cNvSpPr/>
          <p:nvPr/>
        </p:nvSpPr>
        <p:spPr bwMode="auto">
          <a:xfrm>
            <a:off x="4937760" y="4617720"/>
            <a:ext cx="3566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endParaRPr lang="en-US" sz="950"/>
          </a:p>
        </p:txBody>
      </p:sp>
      <p:sp>
        <p:nvSpPr>
          <p:cNvPr id="1902554803" name="Text 25"/>
          <p:cNvSpPr/>
          <p:nvPr/>
        </p:nvSpPr>
        <p:spPr bwMode="auto">
          <a:xfrm>
            <a:off x="4937760" y="4572000"/>
            <a:ext cx="3566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endParaRPr lang="en-US" sz="95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7">
    <p:bg>
      <p:bgPr shadeToTitle="0">
        <a:solidFill>
          <a:srgbClr val="1F4E79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50678934" name="Text 0"/>
          <p:cNvSpPr/>
          <p:nvPr/>
        </p:nvSpPr>
        <p:spPr bwMode="auto">
          <a:xfrm>
            <a:off x="731520" y="1463040"/>
            <a:ext cx="76809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  <a:defRPr/>
            </a:pPr>
            <a:r>
              <a:rPr lang="en-US" sz="4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Block 2 — Providers, Prosumers &amp; Data Model</a:t>
            </a:r>
            <a:endParaRPr lang="en-US" sz="4200"/>
          </a:p>
        </p:txBody>
      </p:sp>
      <p:sp>
        <p:nvSpPr>
          <p:cNvPr id="1180184525" name="Text 1"/>
          <p:cNvSpPr/>
          <p:nvPr/>
        </p:nvSpPr>
        <p:spPr bwMode="auto">
          <a:xfrm>
            <a:off x="731520" y="251460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endParaRPr lang="en-US" sz="2000"/>
          </a:p>
        </p:txBody>
      </p:sp>
      <p:sp>
        <p:nvSpPr>
          <p:cNvPr id="1482899316" name="Text 2"/>
          <p:cNvSpPr/>
          <p:nvPr/>
        </p:nvSpPr>
        <p:spPr bwMode="auto">
          <a:xfrm>
            <a:off x="731520" y="3017519"/>
            <a:ext cx="7680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endParaRPr lang="en-US" sz="14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8">
    <p:bg>
      <p:bgPr shadeToTitle="0">
        <a:solidFill>
          <a:srgbClr val="F5F8FA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39566660" name="Text 0"/>
          <p:cNvSpPr/>
          <p:nvPr/>
        </p:nvSpPr>
        <p:spPr bwMode="auto">
          <a:xfrm>
            <a:off x="457200" y="201168"/>
            <a:ext cx="82296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  <a:defRPr/>
            </a:pPr>
            <a:r>
              <a:rPr lang="en-US" sz="3400" b="1">
                <a:solidFill>
                  <a:srgbClr val="1F4E79"/>
                </a:solidFill>
                <a:latin typeface="Calibri"/>
                <a:ea typeface="Calibri"/>
                <a:cs typeface="Calibri"/>
              </a:rPr>
              <a:t>Service Providers</a:t>
            </a:r>
            <a:endParaRPr lang="en-US" sz="3400"/>
          </a:p>
        </p:txBody>
      </p:sp>
      <p:sp>
        <p:nvSpPr>
          <p:cNvPr id="771059243" name="Shape 1"/>
          <p:cNvSpPr/>
          <p:nvPr/>
        </p:nvSpPr>
        <p:spPr bwMode="auto">
          <a:xfrm>
            <a:off x="457200" y="713232"/>
            <a:ext cx="8229600" cy="22860"/>
          </a:xfrm>
          <a:prstGeom prst="rect">
            <a:avLst/>
          </a:prstGeom>
          <a:solidFill>
            <a:srgbClr val="E8EEF2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381141056" name="Shape 2"/>
          <p:cNvSpPr/>
          <p:nvPr/>
        </p:nvSpPr>
        <p:spPr bwMode="auto">
          <a:xfrm>
            <a:off x="264115" y="886968"/>
            <a:ext cx="1645920" cy="731520"/>
          </a:xfrm>
          <a:prstGeom prst="rect">
            <a:avLst/>
          </a:prstGeom>
          <a:solidFill>
            <a:srgbClr val="0F6E56"/>
          </a:solidFill>
          <a:ln w="12700">
            <a:solidFill>
              <a:srgbClr val="0F6E56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389137067" name="Text 3"/>
          <p:cNvSpPr/>
          <p:nvPr/>
        </p:nvSpPr>
        <p:spPr bwMode="auto">
          <a:xfrm>
            <a:off x="328123" y="886968"/>
            <a:ext cx="1554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Service</a:t>
            </a:r>
            <a:endParaRPr lang="en-US" sz="1200"/>
          </a:p>
        </p:txBody>
      </p:sp>
      <p:sp>
        <p:nvSpPr>
          <p:cNvPr id="1141892047" name="Shape 4"/>
          <p:cNvSpPr/>
          <p:nvPr/>
        </p:nvSpPr>
        <p:spPr bwMode="auto">
          <a:xfrm>
            <a:off x="1910035" y="886968"/>
            <a:ext cx="1188720" cy="731520"/>
          </a:xfrm>
          <a:prstGeom prst="rect">
            <a:avLst/>
          </a:prstGeom>
          <a:solidFill>
            <a:srgbClr val="0F6E56"/>
          </a:solidFill>
          <a:ln w="12700">
            <a:solidFill>
              <a:srgbClr val="0F6E56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750921231" name="Text 5"/>
          <p:cNvSpPr/>
          <p:nvPr/>
        </p:nvSpPr>
        <p:spPr bwMode="auto">
          <a:xfrm>
            <a:off x="1974043" y="886968"/>
            <a:ext cx="10972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Protocol</a:t>
            </a:r>
            <a:endParaRPr lang="en-US" sz="1200"/>
          </a:p>
        </p:txBody>
      </p:sp>
      <p:sp>
        <p:nvSpPr>
          <p:cNvPr id="1805459379" name="Shape 6"/>
          <p:cNvSpPr/>
          <p:nvPr/>
        </p:nvSpPr>
        <p:spPr bwMode="auto">
          <a:xfrm>
            <a:off x="3098755" y="886968"/>
            <a:ext cx="731520" cy="731520"/>
          </a:xfrm>
          <a:prstGeom prst="rect">
            <a:avLst/>
          </a:prstGeom>
          <a:solidFill>
            <a:srgbClr val="0F6E56"/>
          </a:solidFill>
          <a:ln w="12700">
            <a:solidFill>
              <a:srgbClr val="0F6E56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39811372" name="Text 7"/>
          <p:cNvSpPr/>
          <p:nvPr/>
        </p:nvSpPr>
        <p:spPr bwMode="auto">
          <a:xfrm>
            <a:off x="3162763" y="886968"/>
            <a:ext cx="6400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200" b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Port</a:t>
            </a:r>
            <a:endParaRPr lang="en-US" sz="1200"/>
          </a:p>
        </p:txBody>
      </p:sp>
      <p:sp>
        <p:nvSpPr>
          <p:cNvPr id="1756053446" name="Shape 8"/>
          <p:cNvSpPr/>
          <p:nvPr/>
        </p:nvSpPr>
        <p:spPr bwMode="auto">
          <a:xfrm>
            <a:off x="3830275" y="886968"/>
            <a:ext cx="5120640" cy="731520"/>
          </a:xfrm>
          <a:prstGeom prst="rect">
            <a:avLst/>
          </a:prstGeom>
          <a:solidFill>
            <a:srgbClr val="0F6E56"/>
          </a:solidFill>
          <a:ln w="12700">
            <a:solidFill>
              <a:srgbClr val="0F6E56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94729410" name="Text 9"/>
          <p:cNvSpPr/>
          <p:nvPr/>
        </p:nvSpPr>
        <p:spPr bwMode="auto">
          <a:xfrm>
            <a:off x="3894283" y="886968"/>
            <a:ext cx="5029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Responsibility</a:t>
            </a:r>
            <a:endParaRPr lang="en-US" sz="1200"/>
          </a:p>
        </p:txBody>
      </p:sp>
      <p:sp>
        <p:nvSpPr>
          <p:cNvPr id="933144564" name="Shape 10"/>
          <p:cNvSpPr/>
          <p:nvPr/>
        </p:nvSpPr>
        <p:spPr bwMode="auto">
          <a:xfrm>
            <a:off x="264115" y="1682496"/>
            <a:ext cx="1645920" cy="731520"/>
          </a:xfrm>
          <a:prstGeom prst="rect">
            <a:avLst/>
          </a:prstGeom>
          <a:solidFill>
            <a:srgbClr val="D4EDE6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818532023" name="Text 11"/>
          <p:cNvSpPr/>
          <p:nvPr/>
        </p:nvSpPr>
        <p:spPr bwMode="auto">
          <a:xfrm>
            <a:off x="328123" y="1682496"/>
            <a:ext cx="1554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100">
                <a:solidFill>
                  <a:srgbClr val="0F6E56"/>
                </a:solidFill>
                <a:latin typeface="Calibri"/>
                <a:ea typeface="Calibri"/>
                <a:cs typeface="Calibri"/>
              </a:rPr>
              <a:t>Anagrafe Pazienti</a:t>
            </a:r>
            <a:endParaRPr lang="en-US" sz="1100"/>
          </a:p>
        </p:txBody>
      </p:sp>
      <p:sp>
        <p:nvSpPr>
          <p:cNvPr id="1244950720" name="Shape 12"/>
          <p:cNvSpPr/>
          <p:nvPr/>
        </p:nvSpPr>
        <p:spPr bwMode="auto">
          <a:xfrm>
            <a:off x="1910035" y="1682496"/>
            <a:ext cx="118872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215462691" name="Text 13"/>
          <p:cNvSpPr/>
          <p:nvPr/>
        </p:nvSpPr>
        <p:spPr bwMode="auto">
          <a:xfrm>
            <a:off x="1974043" y="1682496"/>
            <a:ext cx="10972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1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SOAP (CXF)</a:t>
            </a:r>
            <a:endParaRPr lang="en-US" sz="1100"/>
          </a:p>
        </p:txBody>
      </p:sp>
      <p:sp>
        <p:nvSpPr>
          <p:cNvPr id="1261873714" name="Shape 14"/>
          <p:cNvSpPr/>
          <p:nvPr/>
        </p:nvSpPr>
        <p:spPr bwMode="auto">
          <a:xfrm>
            <a:off x="3098755" y="1682496"/>
            <a:ext cx="73152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054294679" name="Text 15"/>
          <p:cNvSpPr/>
          <p:nvPr/>
        </p:nvSpPr>
        <p:spPr bwMode="auto">
          <a:xfrm>
            <a:off x="3162763" y="1682496"/>
            <a:ext cx="6400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300" b="1">
                <a:solidFill>
                  <a:srgbClr val="1F4E79"/>
                </a:solidFill>
                <a:latin typeface="Consolas"/>
                <a:ea typeface="Consolas"/>
                <a:cs typeface="Consolas"/>
              </a:rPr>
              <a:t>9101</a:t>
            </a:r>
            <a:endParaRPr lang="en-US" sz="1300"/>
          </a:p>
        </p:txBody>
      </p:sp>
      <p:sp>
        <p:nvSpPr>
          <p:cNvPr id="585226878" name="Shape 16"/>
          <p:cNvSpPr/>
          <p:nvPr/>
        </p:nvSpPr>
        <p:spPr bwMode="auto">
          <a:xfrm>
            <a:off x="3830275" y="1682496"/>
            <a:ext cx="512064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550344594" name="Text 17"/>
          <p:cNvSpPr/>
          <p:nvPr/>
        </p:nvSpPr>
        <p:spPr bwMode="auto">
          <a:xfrm>
            <a:off x="3894283" y="1682496"/>
            <a:ext cx="5029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1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Patient demographics, medical history (conditions), known allergies — contract-first WSDL</a:t>
            </a:r>
            <a:endParaRPr lang="en-US" sz="1100"/>
          </a:p>
        </p:txBody>
      </p:sp>
      <p:sp>
        <p:nvSpPr>
          <p:cNvPr id="146225116" name="Shape 18"/>
          <p:cNvSpPr/>
          <p:nvPr/>
        </p:nvSpPr>
        <p:spPr bwMode="auto">
          <a:xfrm>
            <a:off x="264115" y="2478024"/>
            <a:ext cx="1645920" cy="731520"/>
          </a:xfrm>
          <a:prstGeom prst="rect">
            <a:avLst/>
          </a:prstGeom>
          <a:solidFill>
            <a:srgbClr val="D4EDE6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97559510" name="Text 19"/>
          <p:cNvSpPr/>
          <p:nvPr/>
        </p:nvSpPr>
        <p:spPr bwMode="auto">
          <a:xfrm>
            <a:off x="328123" y="2478024"/>
            <a:ext cx="1554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100">
                <a:solidFill>
                  <a:srgbClr val="0F6E56"/>
                </a:solidFill>
                <a:latin typeface="Calibri"/>
                <a:ea typeface="Calibri"/>
                <a:cs typeface="Calibri"/>
              </a:rPr>
              <a:t>Laboratorio Analisi</a:t>
            </a:r>
            <a:endParaRPr lang="en-US" sz="1100"/>
          </a:p>
        </p:txBody>
      </p:sp>
      <p:sp>
        <p:nvSpPr>
          <p:cNvPr id="438714028" name="Shape 20"/>
          <p:cNvSpPr/>
          <p:nvPr/>
        </p:nvSpPr>
        <p:spPr bwMode="auto">
          <a:xfrm>
            <a:off x="1910035" y="2478024"/>
            <a:ext cx="118872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848492917" name="Text 21"/>
          <p:cNvSpPr/>
          <p:nvPr/>
        </p:nvSpPr>
        <p:spPr bwMode="auto">
          <a:xfrm>
            <a:off x="1974043" y="2478024"/>
            <a:ext cx="10972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1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REST async</a:t>
            </a:r>
            <a:endParaRPr lang="en-US" sz="1100"/>
          </a:p>
        </p:txBody>
      </p:sp>
      <p:sp>
        <p:nvSpPr>
          <p:cNvPr id="2075686141" name="Shape 22"/>
          <p:cNvSpPr/>
          <p:nvPr/>
        </p:nvSpPr>
        <p:spPr bwMode="auto">
          <a:xfrm>
            <a:off x="3098755" y="2478024"/>
            <a:ext cx="73152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268768226" name="Text 23"/>
          <p:cNvSpPr/>
          <p:nvPr/>
        </p:nvSpPr>
        <p:spPr bwMode="auto">
          <a:xfrm>
            <a:off x="3162763" y="2478024"/>
            <a:ext cx="6400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300" b="1">
                <a:solidFill>
                  <a:srgbClr val="1F4E79"/>
                </a:solidFill>
                <a:latin typeface="Consolas"/>
                <a:ea typeface="Consolas"/>
                <a:cs typeface="Consolas"/>
              </a:rPr>
              <a:t>9102</a:t>
            </a:r>
            <a:endParaRPr lang="en-US" sz="1300"/>
          </a:p>
        </p:txBody>
      </p:sp>
      <p:sp>
        <p:nvSpPr>
          <p:cNvPr id="746189521" name="Shape 24"/>
          <p:cNvSpPr/>
          <p:nvPr/>
        </p:nvSpPr>
        <p:spPr bwMode="auto">
          <a:xfrm>
            <a:off x="3830275" y="2478024"/>
            <a:ext cx="512064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878798883" name="Text 25"/>
          <p:cNvSpPr/>
          <p:nvPr/>
        </p:nvSpPr>
        <p:spPr bwMode="auto">
          <a:xfrm>
            <a:off x="3894283" y="2478024"/>
            <a:ext cx="5029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1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Lab test orders (202 Accepted), status polling, result retrieval, callback/webhook support</a:t>
            </a:r>
            <a:endParaRPr lang="en-US" sz="1100"/>
          </a:p>
        </p:txBody>
      </p:sp>
      <p:sp>
        <p:nvSpPr>
          <p:cNvPr id="1541002154" name="Shape 26"/>
          <p:cNvSpPr/>
          <p:nvPr/>
        </p:nvSpPr>
        <p:spPr bwMode="auto">
          <a:xfrm>
            <a:off x="264115" y="3273552"/>
            <a:ext cx="1645920" cy="731520"/>
          </a:xfrm>
          <a:prstGeom prst="rect">
            <a:avLst/>
          </a:prstGeom>
          <a:solidFill>
            <a:srgbClr val="D4EDE6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571463112" name="Text 27"/>
          <p:cNvSpPr/>
          <p:nvPr/>
        </p:nvSpPr>
        <p:spPr bwMode="auto">
          <a:xfrm>
            <a:off x="328123" y="3273552"/>
            <a:ext cx="1554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100">
                <a:solidFill>
                  <a:srgbClr val="0F6E56"/>
                </a:solidFill>
                <a:latin typeface="Calibri"/>
                <a:ea typeface="Calibri"/>
                <a:cs typeface="Calibri"/>
              </a:rPr>
              <a:t>Farmacia / Prescrizioni</a:t>
            </a:r>
            <a:endParaRPr lang="en-US" sz="1100"/>
          </a:p>
        </p:txBody>
      </p:sp>
      <p:sp>
        <p:nvSpPr>
          <p:cNvPr id="4992209" name="Shape 28"/>
          <p:cNvSpPr/>
          <p:nvPr/>
        </p:nvSpPr>
        <p:spPr bwMode="auto">
          <a:xfrm>
            <a:off x="1910035" y="3273552"/>
            <a:ext cx="118872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2028892156" name="Text 29"/>
          <p:cNvSpPr/>
          <p:nvPr/>
        </p:nvSpPr>
        <p:spPr bwMode="auto">
          <a:xfrm>
            <a:off x="1974043" y="3273552"/>
            <a:ext cx="10972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1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REST</a:t>
            </a:r>
            <a:endParaRPr lang="en-US" sz="1100"/>
          </a:p>
        </p:txBody>
      </p:sp>
      <p:sp>
        <p:nvSpPr>
          <p:cNvPr id="1771243884" name="Shape 30"/>
          <p:cNvSpPr/>
          <p:nvPr/>
        </p:nvSpPr>
        <p:spPr bwMode="auto">
          <a:xfrm>
            <a:off x="3098755" y="3273552"/>
            <a:ext cx="73152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80779208" name="Text 31"/>
          <p:cNvSpPr/>
          <p:nvPr/>
        </p:nvSpPr>
        <p:spPr bwMode="auto">
          <a:xfrm>
            <a:off x="3162763" y="3273552"/>
            <a:ext cx="6400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300" b="1">
                <a:solidFill>
                  <a:srgbClr val="1F4E79"/>
                </a:solidFill>
                <a:latin typeface="Consolas"/>
                <a:ea typeface="Consolas"/>
                <a:cs typeface="Consolas"/>
              </a:rPr>
              <a:t>9103</a:t>
            </a:r>
            <a:endParaRPr lang="en-US" sz="1300"/>
          </a:p>
        </p:txBody>
      </p:sp>
      <p:sp>
        <p:nvSpPr>
          <p:cNvPr id="1750424981" name="Shape 32"/>
          <p:cNvSpPr/>
          <p:nvPr/>
        </p:nvSpPr>
        <p:spPr bwMode="auto">
          <a:xfrm>
            <a:off x="3830275" y="3273552"/>
            <a:ext cx="512064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996916329" name="Text 33"/>
          <p:cNvSpPr/>
          <p:nvPr/>
        </p:nvSpPr>
        <p:spPr bwMode="auto">
          <a:xfrm>
            <a:off x="3894283" y="3273552"/>
            <a:ext cx="5029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1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Active prescriptions per patient, drug interaction check endpoint</a:t>
            </a:r>
            <a:endParaRPr lang="en-US" sz="1100"/>
          </a:p>
        </p:txBody>
      </p:sp>
      <p:sp>
        <p:nvSpPr>
          <p:cNvPr id="1414467398" name="Shape 34"/>
          <p:cNvSpPr/>
          <p:nvPr/>
        </p:nvSpPr>
        <p:spPr bwMode="auto">
          <a:xfrm>
            <a:off x="264115" y="4069080"/>
            <a:ext cx="1645920" cy="731520"/>
          </a:xfrm>
          <a:prstGeom prst="rect">
            <a:avLst/>
          </a:prstGeom>
          <a:solidFill>
            <a:srgbClr val="D4EDE6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608480364" name="Text 35"/>
          <p:cNvSpPr/>
          <p:nvPr/>
        </p:nvSpPr>
        <p:spPr bwMode="auto">
          <a:xfrm>
            <a:off x="328123" y="4069080"/>
            <a:ext cx="1554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100">
                <a:solidFill>
                  <a:srgbClr val="0F6E56"/>
                </a:solidFill>
                <a:latin typeface="Calibri"/>
                <a:ea typeface="Calibri"/>
                <a:cs typeface="Calibri"/>
              </a:rPr>
              <a:t>Diagnostica per Immagini</a:t>
            </a:r>
            <a:endParaRPr lang="en-US" sz="1100"/>
          </a:p>
        </p:txBody>
      </p:sp>
      <p:sp>
        <p:nvSpPr>
          <p:cNvPr id="1151626672" name="Shape 36"/>
          <p:cNvSpPr/>
          <p:nvPr/>
        </p:nvSpPr>
        <p:spPr bwMode="auto">
          <a:xfrm>
            <a:off x="1910035" y="4069080"/>
            <a:ext cx="118872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53180186" name="Text 37"/>
          <p:cNvSpPr/>
          <p:nvPr/>
        </p:nvSpPr>
        <p:spPr bwMode="auto">
          <a:xfrm>
            <a:off x="1974043" y="4069080"/>
            <a:ext cx="10972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1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REST</a:t>
            </a:r>
            <a:endParaRPr lang="en-US" sz="1100"/>
          </a:p>
        </p:txBody>
      </p:sp>
      <p:sp>
        <p:nvSpPr>
          <p:cNvPr id="522767693" name="Shape 38"/>
          <p:cNvSpPr/>
          <p:nvPr/>
        </p:nvSpPr>
        <p:spPr bwMode="auto">
          <a:xfrm>
            <a:off x="3098755" y="4069080"/>
            <a:ext cx="73152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085666741" name="Text 39"/>
          <p:cNvSpPr/>
          <p:nvPr/>
        </p:nvSpPr>
        <p:spPr bwMode="auto">
          <a:xfrm>
            <a:off x="3162763" y="4069080"/>
            <a:ext cx="6400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300" b="1">
                <a:solidFill>
                  <a:srgbClr val="1F4E79"/>
                </a:solidFill>
                <a:latin typeface="Consolas"/>
                <a:ea typeface="Consolas"/>
                <a:cs typeface="Consolas"/>
              </a:rPr>
              <a:t>9104</a:t>
            </a:r>
            <a:endParaRPr lang="en-US" sz="1300"/>
          </a:p>
        </p:txBody>
      </p:sp>
      <p:sp>
        <p:nvSpPr>
          <p:cNvPr id="640576383" name="Shape 40"/>
          <p:cNvSpPr/>
          <p:nvPr/>
        </p:nvSpPr>
        <p:spPr bwMode="auto">
          <a:xfrm>
            <a:off x="3830275" y="4069080"/>
            <a:ext cx="512064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678670105" name="Text 41"/>
          <p:cNvSpPr/>
          <p:nvPr/>
        </p:nvSpPr>
        <p:spPr bwMode="auto">
          <a:xfrm>
            <a:off x="3894283" y="4069080"/>
            <a:ext cx="5029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1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Radiology and imaging reports — same async model as Laboratorio</a:t>
            </a:r>
            <a:endParaRPr lang="en-US" sz="1100"/>
          </a:p>
        </p:txBody>
      </p:sp>
      <p:sp>
        <p:nvSpPr>
          <p:cNvPr id="515128642" name="Text 42"/>
          <p:cNvSpPr/>
          <p:nvPr/>
        </p:nvSpPr>
        <p:spPr bwMode="auto">
          <a:xfrm>
            <a:off x="457200" y="4791456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endParaRPr lang="en-US" sz="10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9">
    <p:bg>
      <p:bgPr shadeToTitle="0">
        <a:solidFill>
          <a:srgbClr val="F5F8FA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75053163" name="Text 0"/>
          <p:cNvSpPr/>
          <p:nvPr/>
        </p:nvSpPr>
        <p:spPr bwMode="auto">
          <a:xfrm>
            <a:off x="457200" y="201168"/>
            <a:ext cx="82296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  <a:defRPr/>
            </a:pPr>
            <a:r>
              <a:rPr lang="en-US" sz="3400" b="1">
                <a:solidFill>
                  <a:srgbClr val="1F4E79"/>
                </a:solidFill>
                <a:latin typeface="Calibri"/>
                <a:ea typeface="Calibri"/>
                <a:cs typeface="Calibri"/>
              </a:rPr>
              <a:t>Service Prosumers</a:t>
            </a:r>
            <a:endParaRPr lang="en-US" sz="3400"/>
          </a:p>
        </p:txBody>
      </p:sp>
      <p:sp>
        <p:nvSpPr>
          <p:cNvPr id="362480919" name="Shape 1"/>
          <p:cNvSpPr/>
          <p:nvPr/>
        </p:nvSpPr>
        <p:spPr bwMode="auto">
          <a:xfrm>
            <a:off x="429768" y="772668"/>
            <a:ext cx="8229600" cy="22860"/>
          </a:xfrm>
          <a:prstGeom prst="rect">
            <a:avLst/>
          </a:prstGeom>
          <a:solidFill>
            <a:srgbClr val="E8EEF2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462556319" name="Shape 2"/>
          <p:cNvSpPr/>
          <p:nvPr/>
        </p:nvSpPr>
        <p:spPr bwMode="auto">
          <a:xfrm>
            <a:off x="274319" y="882396"/>
            <a:ext cx="1280160" cy="438912"/>
          </a:xfrm>
          <a:prstGeom prst="rect">
            <a:avLst/>
          </a:prstGeom>
          <a:solidFill>
            <a:srgbClr val="534AB7"/>
          </a:solidFill>
          <a:ln w="12700">
            <a:solidFill>
              <a:srgbClr val="534AB7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510925972" name="Text 3"/>
          <p:cNvSpPr/>
          <p:nvPr/>
        </p:nvSpPr>
        <p:spPr bwMode="auto">
          <a:xfrm>
            <a:off x="338327" y="882396"/>
            <a:ext cx="11887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Service</a:t>
            </a:r>
            <a:endParaRPr lang="en-US" sz="1200"/>
          </a:p>
        </p:txBody>
      </p:sp>
      <p:sp>
        <p:nvSpPr>
          <p:cNvPr id="1393028585" name="Shape 4"/>
          <p:cNvSpPr/>
          <p:nvPr/>
        </p:nvSpPr>
        <p:spPr bwMode="auto">
          <a:xfrm>
            <a:off x="1554479" y="882396"/>
            <a:ext cx="640080" cy="438912"/>
          </a:xfrm>
          <a:prstGeom prst="rect">
            <a:avLst/>
          </a:prstGeom>
          <a:solidFill>
            <a:srgbClr val="534AB7"/>
          </a:solidFill>
          <a:ln w="12700">
            <a:solidFill>
              <a:srgbClr val="534AB7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073535834" name="Text 5"/>
          <p:cNvSpPr/>
          <p:nvPr/>
        </p:nvSpPr>
        <p:spPr bwMode="auto">
          <a:xfrm>
            <a:off x="1618487" y="882396"/>
            <a:ext cx="5486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200" b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Port</a:t>
            </a:r>
            <a:endParaRPr lang="en-US" sz="1200"/>
          </a:p>
        </p:txBody>
      </p:sp>
      <p:sp>
        <p:nvSpPr>
          <p:cNvPr id="322572463" name="Shape 6"/>
          <p:cNvSpPr/>
          <p:nvPr/>
        </p:nvSpPr>
        <p:spPr bwMode="auto">
          <a:xfrm>
            <a:off x="2194559" y="882396"/>
            <a:ext cx="2286000" cy="438912"/>
          </a:xfrm>
          <a:prstGeom prst="rect">
            <a:avLst/>
          </a:prstGeom>
          <a:solidFill>
            <a:srgbClr val="534AB7"/>
          </a:solidFill>
          <a:ln w="12700">
            <a:solidFill>
              <a:srgbClr val="534AB7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437117782" name="Text 7"/>
          <p:cNvSpPr/>
          <p:nvPr/>
        </p:nvSpPr>
        <p:spPr bwMode="auto">
          <a:xfrm>
            <a:off x="2258567" y="882396"/>
            <a:ext cx="219456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Providers Consumed</a:t>
            </a:r>
            <a:endParaRPr lang="en-US" sz="1200"/>
          </a:p>
        </p:txBody>
      </p:sp>
      <p:sp>
        <p:nvSpPr>
          <p:cNvPr id="1113811398" name="Shape 8"/>
          <p:cNvSpPr/>
          <p:nvPr/>
        </p:nvSpPr>
        <p:spPr bwMode="auto">
          <a:xfrm>
            <a:off x="4480559" y="882396"/>
            <a:ext cx="4480560" cy="438912"/>
          </a:xfrm>
          <a:prstGeom prst="rect">
            <a:avLst/>
          </a:prstGeom>
          <a:solidFill>
            <a:srgbClr val="534AB7"/>
          </a:solidFill>
          <a:ln w="12700">
            <a:solidFill>
              <a:srgbClr val="534AB7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837023037" name="Text 9"/>
          <p:cNvSpPr/>
          <p:nvPr/>
        </p:nvSpPr>
        <p:spPr bwMode="auto">
          <a:xfrm>
            <a:off x="4544568" y="882396"/>
            <a:ext cx="43891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Use Case</a:t>
            </a:r>
            <a:endParaRPr lang="en-US" sz="1200"/>
          </a:p>
        </p:txBody>
      </p:sp>
      <p:sp>
        <p:nvSpPr>
          <p:cNvPr id="1678858313" name="Shape 10"/>
          <p:cNvSpPr/>
          <p:nvPr/>
        </p:nvSpPr>
        <p:spPr bwMode="auto">
          <a:xfrm>
            <a:off x="274319" y="1321308"/>
            <a:ext cx="1280160" cy="1115568"/>
          </a:xfrm>
          <a:prstGeom prst="rect">
            <a:avLst/>
          </a:prstGeom>
          <a:solidFill>
            <a:srgbClr val="EAE8F8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206670064" name="Text 11"/>
          <p:cNvSpPr/>
          <p:nvPr/>
        </p:nvSpPr>
        <p:spPr bwMode="auto">
          <a:xfrm>
            <a:off x="338327" y="1321308"/>
            <a:ext cx="1188720" cy="11155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050">
                <a:solidFill>
                  <a:srgbClr val="534AB7"/>
                </a:solidFill>
                <a:latin typeface="Calibri"/>
                <a:ea typeface="Calibri"/>
                <a:cs typeface="Calibri"/>
              </a:rPr>
              <a:t>Diagnostic</a:t>
            </a:r>
            <a:endParaRPr lang="en-US" sz="1050"/>
          </a:p>
          <a:p>
            <a:pPr marL="0" indent="0">
              <a:buNone/>
              <a:defRPr/>
            </a:pPr>
            <a:r>
              <a:rPr lang="en-US" sz="1050">
                <a:solidFill>
                  <a:srgbClr val="534AB7"/>
                </a:solidFill>
                <a:latin typeface="Calibri"/>
                <a:ea typeface="Calibri"/>
                <a:cs typeface="Calibri"/>
              </a:rPr>
              <a:t>Aggregator</a:t>
            </a:r>
            <a:endParaRPr lang="en-US" sz="1050"/>
          </a:p>
        </p:txBody>
      </p:sp>
      <p:sp>
        <p:nvSpPr>
          <p:cNvPr id="1867887344" name="Shape 12"/>
          <p:cNvSpPr/>
          <p:nvPr/>
        </p:nvSpPr>
        <p:spPr bwMode="auto">
          <a:xfrm>
            <a:off x="1554479" y="1321308"/>
            <a:ext cx="640080" cy="111556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103839355" name="Text 13"/>
          <p:cNvSpPr/>
          <p:nvPr/>
        </p:nvSpPr>
        <p:spPr bwMode="auto">
          <a:xfrm>
            <a:off x="1618487" y="1321308"/>
            <a:ext cx="548640" cy="11155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200" b="1">
                <a:solidFill>
                  <a:srgbClr val="1F4E79"/>
                </a:solidFill>
                <a:latin typeface="Consolas"/>
                <a:ea typeface="Consolas"/>
                <a:cs typeface="Consolas"/>
              </a:rPr>
              <a:t>9201</a:t>
            </a:r>
            <a:endParaRPr lang="en-US" sz="1200"/>
          </a:p>
        </p:txBody>
      </p:sp>
      <p:sp>
        <p:nvSpPr>
          <p:cNvPr id="1448781128" name="Shape 14"/>
          <p:cNvSpPr/>
          <p:nvPr/>
        </p:nvSpPr>
        <p:spPr bwMode="auto">
          <a:xfrm>
            <a:off x="2194559" y="1321308"/>
            <a:ext cx="2286000" cy="111556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869673425" name="Text 15"/>
          <p:cNvSpPr/>
          <p:nvPr/>
        </p:nvSpPr>
        <p:spPr bwMode="auto">
          <a:xfrm>
            <a:off x="2258567" y="1321308"/>
            <a:ext cx="2194560" cy="11155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Laboratorio (REST async) +</a:t>
            </a:r>
            <a:endParaRPr lang="en-US" sz="1050"/>
          </a:p>
          <a:p>
            <a:pPr marL="0" indent="0">
              <a:buNone/>
              <a:defRPr/>
            </a:pPr>
            <a:r>
              <a:rPr lang="en-US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Imaging (REST async)</a:t>
            </a:r>
            <a:endParaRPr lang="en-US" sz="1050"/>
          </a:p>
        </p:txBody>
      </p:sp>
      <p:sp>
        <p:nvSpPr>
          <p:cNvPr id="1658628746" name="Shape 16"/>
          <p:cNvSpPr/>
          <p:nvPr/>
        </p:nvSpPr>
        <p:spPr bwMode="auto">
          <a:xfrm>
            <a:off x="4480559" y="1321308"/>
            <a:ext cx="4480560" cy="111556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382726669" name="Text 17"/>
          <p:cNvSpPr/>
          <p:nvPr/>
        </p:nvSpPr>
        <p:spPr bwMode="auto">
          <a:xfrm>
            <a:off x="4544568" y="1321308"/>
            <a:ext cx="4389120" cy="11155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UC-3: Order tests, manage async lifecycle, aggregate DiagnosticBundle — stateless via Base64URL trackingId</a:t>
            </a:r>
            <a:endParaRPr lang="en-US" sz="1050"/>
          </a:p>
        </p:txBody>
      </p:sp>
      <p:sp>
        <p:nvSpPr>
          <p:cNvPr id="631258054" name="Shape 18"/>
          <p:cNvSpPr/>
          <p:nvPr/>
        </p:nvSpPr>
        <p:spPr bwMode="auto">
          <a:xfrm>
            <a:off x="274319" y="2510028"/>
            <a:ext cx="1280160" cy="1115568"/>
          </a:xfrm>
          <a:prstGeom prst="rect">
            <a:avLst/>
          </a:prstGeom>
          <a:solidFill>
            <a:srgbClr val="EAE8F8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658694998" name="Text 19"/>
          <p:cNvSpPr/>
          <p:nvPr/>
        </p:nvSpPr>
        <p:spPr bwMode="auto">
          <a:xfrm>
            <a:off x="338327" y="2510028"/>
            <a:ext cx="1188720" cy="11155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050">
                <a:solidFill>
                  <a:srgbClr val="534AB7"/>
                </a:solidFill>
                <a:latin typeface="Calibri"/>
                <a:ea typeface="Calibri"/>
                <a:cs typeface="Calibri"/>
              </a:rPr>
              <a:t>Clinical</a:t>
            </a:r>
            <a:endParaRPr lang="en-US" sz="1050"/>
          </a:p>
          <a:p>
            <a:pPr marL="0" indent="0">
              <a:buNone/>
              <a:defRPr/>
            </a:pPr>
            <a:r>
              <a:rPr lang="en-US" sz="1050">
                <a:solidFill>
                  <a:srgbClr val="534AB7"/>
                </a:solidFill>
                <a:latin typeface="Calibri"/>
                <a:ea typeface="Calibri"/>
                <a:cs typeface="Calibri"/>
              </a:rPr>
              <a:t>Aggregator</a:t>
            </a:r>
            <a:endParaRPr lang="en-US" sz="1050"/>
          </a:p>
        </p:txBody>
      </p:sp>
      <p:sp>
        <p:nvSpPr>
          <p:cNvPr id="2014679733" name="Shape 20"/>
          <p:cNvSpPr/>
          <p:nvPr/>
        </p:nvSpPr>
        <p:spPr bwMode="auto">
          <a:xfrm>
            <a:off x="1554479" y="2510028"/>
            <a:ext cx="640080" cy="111556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145884556" name="Text 21"/>
          <p:cNvSpPr/>
          <p:nvPr/>
        </p:nvSpPr>
        <p:spPr bwMode="auto">
          <a:xfrm>
            <a:off x="1618487" y="2510028"/>
            <a:ext cx="548640" cy="11155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200" b="1">
                <a:solidFill>
                  <a:srgbClr val="1F4E79"/>
                </a:solidFill>
                <a:latin typeface="Consolas"/>
                <a:ea typeface="Consolas"/>
                <a:cs typeface="Consolas"/>
              </a:rPr>
              <a:t>9202</a:t>
            </a:r>
            <a:endParaRPr lang="en-US" sz="1200"/>
          </a:p>
        </p:txBody>
      </p:sp>
      <p:sp>
        <p:nvSpPr>
          <p:cNvPr id="1760851664" name="Shape 22"/>
          <p:cNvSpPr/>
          <p:nvPr/>
        </p:nvSpPr>
        <p:spPr bwMode="auto">
          <a:xfrm>
            <a:off x="2194559" y="2510028"/>
            <a:ext cx="2286000" cy="111556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633482947" name="Text 23"/>
          <p:cNvSpPr/>
          <p:nvPr/>
        </p:nvSpPr>
        <p:spPr bwMode="auto">
          <a:xfrm>
            <a:off x="2258567" y="2510028"/>
            <a:ext cx="2194560" cy="11155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Anagrafe (SOAP/CXF) +</a:t>
            </a:r>
            <a:endParaRPr lang="en-US" sz="1050"/>
          </a:p>
          <a:p>
            <a:pPr marL="0" indent="0">
              <a:buNone/>
              <a:defRPr/>
            </a:pPr>
            <a:r>
              <a:rPr lang="en-US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Farmacia (REST)</a:t>
            </a:r>
            <a:endParaRPr lang="en-US" sz="1050"/>
          </a:p>
        </p:txBody>
      </p:sp>
      <p:sp>
        <p:nvSpPr>
          <p:cNvPr id="1678947766" name="Shape 24"/>
          <p:cNvSpPr/>
          <p:nvPr/>
        </p:nvSpPr>
        <p:spPr bwMode="auto">
          <a:xfrm>
            <a:off x="4480559" y="2510028"/>
            <a:ext cx="4480560" cy="111556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812923523" name="Text 25"/>
          <p:cNvSpPr/>
          <p:nvPr/>
        </p:nvSpPr>
        <p:spPr bwMode="auto">
          <a:xfrm>
            <a:off x="4544568" y="2510028"/>
            <a:ext cx="4389120" cy="11155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UC-2: Bridge SOAP↔REST, compose demographics + history + prescriptions → ClinicalProfile</a:t>
            </a:r>
            <a:endParaRPr lang="en-US" sz="1050"/>
          </a:p>
        </p:txBody>
      </p:sp>
      <p:sp>
        <p:nvSpPr>
          <p:cNvPr id="1591578619" name="Shape 26"/>
          <p:cNvSpPr/>
          <p:nvPr/>
        </p:nvSpPr>
        <p:spPr bwMode="auto">
          <a:xfrm>
            <a:off x="274319" y="3698748"/>
            <a:ext cx="1280160" cy="1115568"/>
          </a:xfrm>
          <a:prstGeom prst="rect">
            <a:avLst/>
          </a:prstGeom>
          <a:solidFill>
            <a:srgbClr val="EAE8F8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344991873" name="Text 27"/>
          <p:cNvSpPr/>
          <p:nvPr/>
        </p:nvSpPr>
        <p:spPr bwMode="auto">
          <a:xfrm>
            <a:off x="338327" y="3698748"/>
            <a:ext cx="1188720" cy="11155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050">
                <a:solidFill>
                  <a:srgbClr val="534AB7"/>
                </a:solidFill>
                <a:latin typeface="Calibri"/>
                <a:ea typeface="Calibri"/>
                <a:cs typeface="Calibri"/>
              </a:rPr>
              <a:t>Care</a:t>
            </a:r>
            <a:endParaRPr lang="en-US" sz="1050"/>
          </a:p>
          <a:p>
            <a:pPr marL="0" indent="0">
              <a:buNone/>
              <a:defRPr/>
            </a:pPr>
            <a:r>
              <a:rPr lang="en-US" sz="1050">
                <a:solidFill>
                  <a:srgbClr val="534AB7"/>
                </a:solidFill>
                <a:latin typeface="Calibri"/>
                <a:ea typeface="Calibri"/>
                <a:cs typeface="Calibri"/>
              </a:rPr>
              <a:t>Coordinator</a:t>
            </a:r>
            <a:endParaRPr lang="en-US" sz="1050"/>
          </a:p>
        </p:txBody>
      </p:sp>
      <p:sp>
        <p:nvSpPr>
          <p:cNvPr id="2019053165" name="Shape 28"/>
          <p:cNvSpPr/>
          <p:nvPr/>
        </p:nvSpPr>
        <p:spPr bwMode="auto">
          <a:xfrm>
            <a:off x="1554479" y="3698748"/>
            <a:ext cx="640080" cy="111556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593642556" name="Text 29"/>
          <p:cNvSpPr/>
          <p:nvPr/>
        </p:nvSpPr>
        <p:spPr bwMode="auto">
          <a:xfrm>
            <a:off x="1618487" y="3698748"/>
            <a:ext cx="548640" cy="11155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200" b="1">
                <a:solidFill>
                  <a:srgbClr val="1F4E79"/>
                </a:solidFill>
                <a:latin typeface="Consolas"/>
                <a:ea typeface="Consolas"/>
                <a:cs typeface="Consolas"/>
              </a:rPr>
              <a:t>9203</a:t>
            </a:r>
            <a:endParaRPr lang="en-US" sz="1200"/>
          </a:p>
        </p:txBody>
      </p:sp>
      <p:sp>
        <p:nvSpPr>
          <p:cNvPr id="1548241092" name="Shape 30"/>
          <p:cNvSpPr/>
          <p:nvPr/>
        </p:nvSpPr>
        <p:spPr bwMode="auto">
          <a:xfrm>
            <a:off x="2194559" y="3698748"/>
            <a:ext cx="2286000" cy="111556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375595110" name="Text 31"/>
          <p:cNvSpPr/>
          <p:nvPr/>
        </p:nvSpPr>
        <p:spPr bwMode="auto">
          <a:xfrm>
            <a:off x="2258567" y="3698748"/>
            <a:ext cx="2194560" cy="11155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Clinical Aggregator (REST) +</a:t>
            </a:r>
            <a:endParaRPr lang="en-US" sz="1050"/>
          </a:p>
          <a:p>
            <a:pPr marL="0" indent="0">
              <a:buNone/>
              <a:defRPr/>
            </a:pPr>
            <a:r>
              <a:rPr lang="en-US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Diagnostic Aggregator (REST)</a:t>
            </a:r>
            <a:endParaRPr lang="en-US" sz="1050"/>
          </a:p>
        </p:txBody>
      </p:sp>
      <p:sp>
        <p:nvSpPr>
          <p:cNvPr id="71333290" name="Shape 32"/>
          <p:cNvSpPr/>
          <p:nvPr/>
        </p:nvSpPr>
        <p:spPr bwMode="auto">
          <a:xfrm>
            <a:off x="4480559" y="3698748"/>
            <a:ext cx="4480560" cy="111556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2103579878" name="Text 33"/>
          <p:cNvSpPr/>
          <p:nvPr/>
        </p:nvSpPr>
        <p:spPr bwMode="auto">
          <a:xfrm>
            <a:off x="4544568" y="3698748"/>
            <a:ext cx="4389120" cy="11155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UC-1: Parallel orchestration, sync barrier (allOf().join()), risk analysis → FitnessReport</a:t>
            </a:r>
            <a:endParaRPr lang="en-US" sz="1050"/>
          </a:p>
        </p:txBody>
      </p:sp>
      <p:sp>
        <p:nvSpPr>
          <p:cNvPr id="1705514120" name="Text 34"/>
          <p:cNvSpPr/>
          <p:nvPr/>
        </p:nvSpPr>
        <p:spPr bwMode="auto">
          <a:xfrm>
            <a:off x="274319" y="4814316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endParaRPr lang="en-US" sz="10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11">
    <p:bg>
      <p:bgPr shadeToTitle="0">
        <a:solidFill>
          <a:srgbClr val="F5F8FA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02469861" name="Text 0"/>
          <p:cNvSpPr/>
          <p:nvPr/>
        </p:nvSpPr>
        <p:spPr bwMode="auto">
          <a:xfrm>
            <a:off x="457200" y="201168"/>
            <a:ext cx="82296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  <a:defRPr/>
            </a:pPr>
            <a:r>
              <a:rPr lang="en-US" sz="3400" b="1">
                <a:solidFill>
                  <a:srgbClr val="1F4E79"/>
                </a:solidFill>
                <a:latin typeface="Calibri"/>
                <a:ea typeface="Calibri"/>
                <a:cs typeface="Calibri"/>
              </a:rPr>
              <a:t>Key Data Structures</a:t>
            </a:r>
            <a:endParaRPr lang="en-US" sz="3400"/>
          </a:p>
        </p:txBody>
      </p:sp>
      <p:sp>
        <p:nvSpPr>
          <p:cNvPr id="1155469712" name="Shape 1"/>
          <p:cNvSpPr/>
          <p:nvPr/>
        </p:nvSpPr>
        <p:spPr bwMode="auto">
          <a:xfrm>
            <a:off x="457200" y="1078992"/>
            <a:ext cx="8229600" cy="22860"/>
          </a:xfrm>
          <a:prstGeom prst="rect">
            <a:avLst/>
          </a:prstGeom>
          <a:solidFill>
            <a:srgbClr val="E8EEF2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896823011" name="Shape 2"/>
          <p:cNvSpPr/>
          <p:nvPr/>
        </p:nvSpPr>
        <p:spPr bwMode="auto">
          <a:xfrm>
            <a:off x="457200" y="1188720"/>
            <a:ext cx="3931920" cy="3840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58615919" name="Text 3"/>
          <p:cNvSpPr/>
          <p:nvPr/>
        </p:nvSpPr>
        <p:spPr bwMode="auto">
          <a:xfrm>
            <a:off x="640080" y="1261872"/>
            <a:ext cx="3566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300" b="1">
                <a:solidFill>
                  <a:srgbClr val="0F6E56"/>
                </a:solidFill>
                <a:latin typeface="Calibri"/>
                <a:ea typeface="Calibri"/>
                <a:cs typeface="Calibri"/>
              </a:rPr>
              <a:t>Domain Objects (Providers)</a:t>
            </a:r>
            <a:endParaRPr lang="en-US" sz="1300"/>
          </a:p>
        </p:txBody>
      </p:sp>
      <p:sp>
        <p:nvSpPr>
          <p:cNvPr id="795802126" name="Text 4"/>
          <p:cNvSpPr/>
          <p:nvPr/>
        </p:nvSpPr>
        <p:spPr bwMode="auto">
          <a:xfrm>
            <a:off x="640080" y="1645920"/>
            <a:ext cx="1188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100" b="1">
                <a:solidFill>
                  <a:srgbClr val="0F6E56"/>
                </a:solidFill>
                <a:latin typeface="Calibri"/>
                <a:ea typeface="Calibri"/>
                <a:cs typeface="Calibri"/>
              </a:rPr>
              <a:t>Patient</a:t>
            </a:r>
            <a:endParaRPr lang="en-US" sz="1100"/>
          </a:p>
        </p:txBody>
      </p:sp>
      <p:sp>
        <p:nvSpPr>
          <p:cNvPr id="1767840225" name="Text 5"/>
          <p:cNvSpPr/>
          <p:nvPr/>
        </p:nvSpPr>
        <p:spPr bwMode="auto">
          <a:xfrm>
            <a:off x="1874520" y="164592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9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id · fiscalCode · name · dob · gender</a:t>
            </a:r>
            <a:endParaRPr lang="en-US" sz="900"/>
          </a:p>
        </p:txBody>
      </p:sp>
      <p:sp>
        <p:nvSpPr>
          <p:cNvPr id="772275139" name="Text 6"/>
          <p:cNvSpPr/>
          <p:nvPr/>
        </p:nvSpPr>
        <p:spPr bwMode="auto">
          <a:xfrm>
            <a:off x="640080" y="2103120"/>
            <a:ext cx="1188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100" b="1">
                <a:solidFill>
                  <a:srgbClr val="0F6E56"/>
                </a:solidFill>
                <a:latin typeface="Calibri"/>
                <a:ea typeface="Calibri"/>
                <a:cs typeface="Calibri"/>
              </a:rPr>
              <a:t>Condition</a:t>
            </a:r>
            <a:endParaRPr lang="en-US" sz="1100"/>
          </a:p>
        </p:txBody>
      </p:sp>
      <p:sp>
        <p:nvSpPr>
          <p:cNvPr id="1394659913" name="Text 7"/>
          <p:cNvSpPr/>
          <p:nvPr/>
        </p:nvSpPr>
        <p:spPr bwMode="auto">
          <a:xfrm>
            <a:off x="1874520" y="210312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9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icdCode · description · diagnosisDate · status (ACTIVE/RESOLVED)</a:t>
            </a:r>
            <a:endParaRPr lang="en-US" sz="900"/>
          </a:p>
        </p:txBody>
      </p:sp>
      <p:sp>
        <p:nvSpPr>
          <p:cNvPr id="642396494" name="Text 8"/>
          <p:cNvSpPr/>
          <p:nvPr/>
        </p:nvSpPr>
        <p:spPr bwMode="auto">
          <a:xfrm>
            <a:off x="640080" y="2560320"/>
            <a:ext cx="1188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100" b="1">
                <a:solidFill>
                  <a:srgbClr val="0F6E56"/>
                </a:solidFill>
                <a:latin typeface="Calibri"/>
                <a:ea typeface="Calibri"/>
                <a:cs typeface="Calibri"/>
              </a:rPr>
              <a:t>Allergy</a:t>
            </a:r>
            <a:endParaRPr lang="en-US" sz="1100"/>
          </a:p>
        </p:txBody>
      </p:sp>
      <p:sp>
        <p:nvSpPr>
          <p:cNvPr id="1761324336" name="Text 9"/>
          <p:cNvSpPr/>
          <p:nvPr/>
        </p:nvSpPr>
        <p:spPr bwMode="auto">
          <a:xfrm>
            <a:off x="1874520" y="256032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9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allergen · severity (MILD/SEVERE/ANAPHYLACTIC) · detectedDate</a:t>
            </a:r>
            <a:endParaRPr lang="en-US" sz="900"/>
          </a:p>
        </p:txBody>
      </p:sp>
      <p:sp>
        <p:nvSpPr>
          <p:cNvPr id="1033609345" name="Text 10"/>
          <p:cNvSpPr/>
          <p:nvPr/>
        </p:nvSpPr>
        <p:spPr bwMode="auto">
          <a:xfrm>
            <a:off x="640080" y="3017519"/>
            <a:ext cx="1188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100" b="1">
                <a:solidFill>
                  <a:srgbClr val="0F6E56"/>
                </a:solidFill>
                <a:latin typeface="Calibri"/>
                <a:ea typeface="Calibri"/>
                <a:cs typeface="Calibri"/>
              </a:rPr>
              <a:t>Prescription</a:t>
            </a:r>
            <a:endParaRPr lang="en-US" sz="1100"/>
          </a:p>
        </p:txBody>
      </p:sp>
      <p:sp>
        <p:nvSpPr>
          <p:cNvPr id="359309987" name="Text 11"/>
          <p:cNvSpPr/>
          <p:nvPr/>
        </p:nvSpPr>
        <p:spPr bwMode="auto">
          <a:xfrm>
            <a:off x="1874520" y="3017519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9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drugName · atcCode · dosage · frequency · start/end dates</a:t>
            </a:r>
            <a:endParaRPr lang="en-US" sz="900"/>
          </a:p>
        </p:txBody>
      </p:sp>
      <p:sp>
        <p:nvSpPr>
          <p:cNvPr id="884452568" name="Text 12"/>
          <p:cNvSpPr/>
          <p:nvPr/>
        </p:nvSpPr>
        <p:spPr bwMode="auto">
          <a:xfrm>
            <a:off x="640080" y="3474720"/>
            <a:ext cx="1188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100" b="1">
                <a:solidFill>
                  <a:srgbClr val="0F6E56"/>
                </a:solidFill>
                <a:latin typeface="Calibri"/>
                <a:ea typeface="Calibri"/>
                <a:cs typeface="Calibri"/>
              </a:rPr>
              <a:t>TestOrder</a:t>
            </a:r>
            <a:endParaRPr lang="en-US" sz="1100"/>
          </a:p>
        </p:txBody>
      </p:sp>
      <p:sp>
        <p:nvSpPr>
          <p:cNvPr id="1627362357" name="Text 13"/>
          <p:cNvSpPr/>
          <p:nvPr/>
        </p:nvSpPr>
        <p:spPr bwMode="auto">
          <a:xfrm>
            <a:off x="1874520" y="347472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9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orderId · examCode · status (PENDING/PROCESSING/COMPLETED/ERROR)</a:t>
            </a:r>
            <a:endParaRPr lang="en-US" sz="900"/>
          </a:p>
        </p:txBody>
      </p:sp>
      <p:sp>
        <p:nvSpPr>
          <p:cNvPr id="92153171" name="Text 14"/>
          <p:cNvSpPr/>
          <p:nvPr/>
        </p:nvSpPr>
        <p:spPr bwMode="auto">
          <a:xfrm>
            <a:off x="640080" y="3931920"/>
            <a:ext cx="1188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100" b="1">
                <a:solidFill>
                  <a:srgbClr val="0F6E56"/>
                </a:solidFill>
                <a:latin typeface="Calibri"/>
                <a:ea typeface="Calibri"/>
                <a:cs typeface="Calibri"/>
              </a:rPr>
              <a:t>Measurement</a:t>
            </a:r>
            <a:endParaRPr lang="en-US" sz="1100"/>
          </a:p>
        </p:txBody>
      </p:sp>
      <p:sp>
        <p:nvSpPr>
          <p:cNvPr id="1961818563" name="Text 15"/>
          <p:cNvSpPr/>
          <p:nvPr/>
        </p:nvSpPr>
        <p:spPr bwMode="auto">
          <a:xfrm>
            <a:off x="1874520" y="393192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9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parameter · value · unit · refRange · anomalyFlag</a:t>
            </a:r>
            <a:endParaRPr lang="en-US" sz="900"/>
          </a:p>
        </p:txBody>
      </p:sp>
      <p:sp>
        <p:nvSpPr>
          <p:cNvPr id="2062330457" name="Text 16"/>
          <p:cNvSpPr/>
          <p:nvPr/>
        </p:nvSpPr>
        <p:spPr bwMode="auto">
          <a:xfrm>
            <a:off x="640080" y="4389120"/>
            <a:ext cx="1188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100" b="1">
                <a:solidFill>
                  <a:srgbClr val="0F6E56"/>
                </a:solidFill>
                <a:latin typeface="Calibri"/>
                <a:ea typeface="Calibri"/>
                <a:cs typeface="Calibri"/>
              </a:rPr>
              <a:t>ImagingReport</a:t>
            </a:r>
            <a:endParaRPr lang="en-US" sz="1100"/>
          </a:p>
        </p:txBody>
      </p:sp>
      <p:sp>
        <p:nvSpPr>
          <p:cNvPr id="624282933" name="Text 17"/>
          <p:cNvSpPr/>
          <p:nvPr/>
        </p:nvSpPr>
        <p:spPr bwMode="auto">
          <a:xfrm>
            <a:off x="1874520" y="438912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9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reportId · examType · date · findings · criticalFlag</a:t>
            </a:r>
            <a:endParaRPr lang="en-US" sz="900"/>
          </a:p>
        </p:txBody>
      </p:sp>
      <p:sp>
        <p:nvSpPr>
          <p:cNvPr id="882088093" name="Shape 18"/>
          <p:cNvSpPr/>
          <p:nvPr/>
        </p:nvSpPr>
        <p:spPr bwMode="auto">
          <a:xfrm>
            <a:off x="4754880" y="1179575"/>
            <a:ext cx="3931920" cy="3840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899519836" name="Text 19"/>
          <p:cNvSpPr/>
          <p:nvPr/>
        </p:nvSpPr>
        <p:spPr bwMode="auto">
          <a:xfrm>
            <a:off x="4937760" y="1261872"/>
            <a:ext cx="3566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300" b="1">
                <a:solidFill>
                  <a:srgbClr val="534AB7"/>
                </a:solidFill>
                <a:latin typeface="Calibri"/>
                <a:ea typeface="Calibri"/>
                <a:cs typeface="Calibri"/>
              </a:rPr>
              <a:t>Composed Objects (Prosumers)</a:t>
            </a:r>
            <a:endParaRPr lang="en-US" sz="1300"/>
          </a:p>
        </p:txBody>
      </p:sp>
      <p:sp>
        <p:nvSpPr>
          <p:cNvPr id="1150178934" name="Text 20"/>
          <p:cNvSpPr/>
          <p:nvPr/>
        </p:nvSpPr>
        <p:spPr bwMode="auto">
          <a:xfrm>
            <a:off x="4937760" y="1645920"/>
            <a:ext cx="1417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100" b="1">
                <a:solidFill>
                  <a:srgbClr val="534AB7"/>
                </a:solidFill>
                <a:latin typeface="Calibri"/>
                <a:ea typeface="Calibri"/>
                <a:cs typeface="Calibri"/>
              </a:rPr>
              <a:t>DiagnosticBundle</a:t>
            </a:r>
            <a:endParaRPr lang="en-US" sz="1100"/>
          </a:p>
        </p:txBody>
      </p:sp>
      <p:sp>
        <p:nvSpPr>
          <p:cNvPr id="2101221476" name="Text 21"/>
          <p:cNvSpPr/>
          <p:nvPr/>
        </p:nvSpPr>
        <p:spPr bwMode="auto">
          <a:xfrm>
            <a:off x="6400800" y="1572768"/>
            <a:ext cx="2148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8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List&lt;TestResult&gt;  +  List&lt;ImagingReport&gt;</a:t>
            </a:r>
            <a:endParaRPr lang="en-US" sz="850"/>
          </a:p>
        </p:txBody>
      </p:sp>
      <p:sp>
        <p:nvSpPr>
          <p:cNvPr id="71656541" name="Text 22"/>
          <p:cNvSpPr/>
          <p:nvPr/>
        </p:nvSpPr>
        <p:spPr bwMode="auto">
          <a:xfrm>
            <a:off x="4937760" y="2304288"/>
            <a:ext cx="1417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100" b="1">
                <a:solidFill>
                  <a:srgbClr val="534AB7"/>
                </a:solidFill>
                <a:latin typeface="Calibri"/>
                <a:ea typeface="Calibri"/>
                <a:cs typeface="Calibri"/>
              </a:rPr>
              <a:t>ClinicalProfile</a:t>
            </a:r>
            <a:endParaRPr lang="en-US" sz="1100"/>
          </a:p>
        </p:txBody>
      </p:sp>
      <p:sp>
        <p:nvSpPr>
          <p:cNvPr id="1978392917" name="Text 23"/>
          <p:cNvSpPr/>
          <p:nvPr/>
        </p:nvSpPr>
        <p:spPr bwMode="auto">
          <a:xfrm>
            <a:off x="6400800" y="2171700"/>
            <a:ext cx="21488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8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Patient  +  List&lt;Condition&gt;  +  List&lt;Allergy&gt;  +  List&lt;Prescription&gt;</a:t>
            </a:r>
            <a:endParaRPr lang="en-US" sz="850"/>
          </a:p>
        </p:txBody>
      </p:sp>
      <p:sp>
        <p:nvSpPr>
          <p:cNvPr id="1816062572" name="Text 24"/>
          <p:cNvSpPr/>
          <p:nvPr/>
        </p:nvSpPr>
        <p:spPr bwMode="auto">
          <a:xfrm>
            <a:off x="4937760" y="3099816"/>
            <a:ext cx="1417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100" b="1">
                <a:solidFill>
                  <a:srgbClr val="534AB7"/>
                </a:solidFill>
                <a:latin typeface="Calibri"/>
                <a:ea typeface="Calibri"/>
                <a:cs typeface="Calibri"/>
              </a:rPr>
              <a:t>RiskFlag</a:t>
            </a:r>
            <a:endParaRPr lang="en-US" sz="1100"/>
          </a:p>
        </p:txBody>
      </p:sp>
      <p:sp>
        <p:nvSpPr>
          <p:cNvPr id="935017624" name="Text 25"/>
          <p:cNvSpPr/>
          <p:nvPr/>
        </p:nvSpPr>
        <p:spPr bwMode="auto">
          <a:xfrm>
            <a:off x="6400800" y="2980944"/>
            <a:ext cx="21488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8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type (DRUG_CONTRAINDICATION / CRITICAL_VALUE / ALLERGY / OTHER)  ·  severity (INFO/WARNING/CRITICAL)  ·  description</a:t>
            </a:r>
            <a:endParaRPr lang="en-US" sz="850"/>
          </a:p>
        </p:txBody>
      </p:sp>
      <p:sp>
        <p:nvSpPr>
          <p:cNvPr id="1467160880" name="Text 26"/>
          <p:cNvSpPr/>
          <p:nvPr/>
        </p:nvSpPr>
        <p:spPr bwMode="auto">
          <a:xfrm>
            <a:off x="4937760" y="4050792"/>
            <a:ext cx="1417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100" b="1">
                <a:solidFill>
                  <a:srgbClr val="534AB7"/>
                </a:solidFill>
                <a:latin typeface="Calibri"/>
                <a:ea typeface="Calibri"/>
                <a:cs typeface="Calibri"/>
              </a:rPr>
              <a:t>FitnessReport</a:t>
            </a:r>
            <a:endParaRPr lang="en-US" sz="1100"/>
          </a:p>
        </p:txBody>
      </p:sp>
      <p:sp>
        <p:nvSpPr>
          <p:cNvPr id="1888170103" name="Text 27"/>
          <p:cNvSpPr/>
          <p:nvPr/>
        </p:nvSpPr>
        <p:spPr bwMode="auto">
          <a:xfrm>
            <a:off x="6400800" y="3881627"/>
            <a:ext cx="214884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8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outcome:  FIT  |  FIT_WITH_RESERVATION  |  UNFIT</a:t>
            </a:r>
            <a:endParaRPr lang="en-US" sz="850"/>
          </a:p>
          <a:p>
            <a:pPr marL="0" indent="0">
              <a:buNone/>
              <a:defRPr/>
            </a:pPr>
            <a:r>
              <a:rPr lang="en-US" sz="8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patientId  ·  generatedAt</a:t>
            </a:r>
            <a:endParaRPr lang="en-US" sz="850"/>
          </a:p>
          <a:p>
            <a:pPr marL="0" indent="0">
              <a:buNone/>
              <a:defRPr/>
            </a:pPr>
            <a:r>
              <a:rPr lang="en-US" sz="8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ClinicalProfile  +  DiagnosticBundle</a:t>
            </a:r>
            <a:endParaRPr lang="en-US" sz="850"/>
          </a:p>
          <a:p>
            <a:pPr marL="0" indent="0">
              <a:buNone/>
              <a:defRPr/>
            </a:pPr>
            <a:r>
              <a:rPr lang="en-US" sz="8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List&lt;RiskFlag&gt;</a:t>
            </a:r>
            <a:endParaRPr lang="en-US" sz="85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12">
    <p:bg>
      <p:bgPr shadeToTitle="0">
        <a:solidFill>
          <a:srgbClr val="1F4E79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8880502" name="Text 0"/>
          <p:cNvSpPr/>
          <p:nvPr/>
        </p:nvSpPr>
        <p:spPr bwMode="auto">
          <a:xfrm>
            <a:off x="731520" y="1463040"/>
            <a:ext cx="76809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  <a:defRPr/>
            </a:pPr>
            <a:r>
              <a:rPr lang="en-US" sz="4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Block 3 — Use Cases, Sequence Diagrams, Technological Stack</a:t>
            </a:r>
            <a:endParaRPr lang="en-US" sz="4200"/>
          </a:p>
        </p:txBody>
      </p:sp>
      <p:sp>
        <p:nvSpPr>
          <p:cNvPr id="713143029" name="Text 1"/>
          <p:cNvSpPr/>
          <p:nvPr/>
        </p:nvSpPr>
        <p:spPr bwMode="auto">
          <a:xfrm>
            <a:off x="731520" y="251460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endParaRPr lang="en-US" sz="2000"/>
          </a:p>
        </p:txBody>
      </p:sp>
      <p:sp>
        <p:nvSpPr>
          <p:cNvPr id="913264797" name="Text 2"/>
          <p:cNvSpPr/>
          <p:nvPr/>
        </p:nvSpPr>
        <p:spPr bwMode="auto">
          <a:xfrm>
            <a:off x="731520" y="3017519"/>
            <a:ext cx="7680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endParaRPr lang="en-US" sz="14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13">
    <p:bg>
      <p:bgPr shadeToTitle="0">
        <a:solidFill>
          <a:srgbClr val="F5F8FA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25561558" name="Text 0"/>
          <p:cNvSpPr/>
          <p:nvPr/>
        </p:nvSpPr>
        <p:spPr bwMode="auto">
          <a:xfrm>
            <a:off x="457200" y="201168"/>
            <a:ext cx="82296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  <a:defRPr/>
            </a:pPr>
            <a:r>
              <a:rPr lang="en-US" sz="3400" b="1">
                <a:solidFill>
                  <a:srgbClr val="1F4E79"/>
                </a:solidFill>
                <a:latin typeface="Calibri"/>
                <a:ea typeface="Calibri"/>
                <a:cs typeface="Calibri"/>
              </a:rPr>
              <a:t>Use Cases Summary</a:t>
            </a:r>
            <a:endParaRPr lang="en-US" sz="3400"/>
          </a:p>
        </p:txBody>
      </p:sp>
      <p:sp>
        <p:nvSpPr>
          <p:cNvPr id="756890967" name="Shape 1"/>
          <p:cNvSpPr/>
          <p:nvPr/>
        </p:nvSpPr>
        <p:spPr bwMode="auto">
          <a:xfrm>
            <a:off x="309489" y="694944"/>
            <a:ext cx="8229600" cy="22860"/>
          </a:xfrm>
          <a:prstGeom prst="rect">
            <a:avLst/>
          </a:prstGeom>
          <a:solidFill>
            <a:srgbClr val="E8EEF2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2043711079" name="Shape 2"/>
          <p:cNvSpPr/>
          <p:nvPr/>
        </p:nvSpPr>
        <p:spPr bwMode="auto">
          <a:xfrm>
            <a:off x="309489" y="804672"/>
            <a:ext cx="640080" cy="384048"/>
          </a:xfrm>
          <a:prstGeom prst="rect">
            <a:avLst/>
          </a:prstGeom>
          <a:solidFill>
            <a:srgbClr val="1F4E79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973308399" name="Text 3"/>
          <p:cNvSpPr/>
          <p:nvPr/>
        </p:nvSpPr>
        <p:spPr bwMode="auto">
          <a:xfrm>
            <a:off x="364353" y="804672"/>
            <a:ext cx="56692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UC</a:t>
            </a:r>
            <a:endParaRPr lang="en-US" sz="1200"/>
          </a:p>
        </p:txBody>
      </p:sp>
      <p:sp>
        <p:nvSpPr>
          <p:cNvPr id="217080753" name="Shape 4"/>
          <p:cNvSpPr/>
          <p:nvPr/>
        </p:nvSpPr>
        <p:spPr bwMode="auto">
          <a:xfrm>
            <a:off x="949569" y="804672"/>
            <a:ext cx="1371600" cy="384048"/>
          </a:xfrm>
          <a:prstGeom prst="rect">
            <a:avLst/>
          </a:prstGeom>
          <a:solidFill>
            <a:srgbClr val="1F4E79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452481744" name="Text 5"/>
          <p:cNvSpPr/>
          <p:nvPr/>
        </p:nvSpPr>
        <p:spPr bwMode="auto">
          <a:xfrm>
            <a:off x="1004433" y="804672"/>
            <a:ext cx="12984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Name</a:t>
            </a:r>
            <a:endParaRPr lang="en-US" sz="1200"/>
          </a:p>
        </p:txBody>
      </p:sp>
      <p:sp>
        <p:nvSpPr>
          <p:cNvPr id="1422135529" name="Shape 6"/>
          <p:cNvSpPr/>
          <p:nvPr/>
        </p:nvSpPr>
        <p:spPr bwMode="auto">
          <a:xfrm>
            <a:off x="2321169" y="804672"/>
            <a:ext cx="4114800" cy="384048"/>
          </a:xfrm>
          <a:prstGeom prst="rect">
            <a:avLst/>
          </a:prstGeom>
          <a:solidFill>
            <a:srgbClr val="1F4E79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146144404" name="Text 7"/>
          <p:cNvSpPr/>
          <p:nvPr/>
        </p:nvSpPr>
        <p:spPr bwMode="auto">
          <a:xfrm>
            <a:off x="2376033" y="804672"/>
            <a:ext cx="40416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Components</a:t>
            </a:r>
            <a:endParaRPr lang="en-US" sz="1200"/>
          </a:p>
        </p:txBody>
      </p:sp>
      <p:sp>
        <p:nvSpPr>
          <p:cNvPr id="2033003652" name="Shape 8"/>
          <p:cNvSpPr/>
          <p:nvPr/>
        </p:nvSpPr>
        <p:spPr bwMode="auto">
          <a:xfrm>
            <a:off x="6481689" y="804672"/>
            <a:ext cx="2514600" cy="384048"/>
          </a:xfrm>
          <a:prstGeom prst="rect">
            <a:avLst/>
          </a:prstGeom>
          <a:solidFill>
            <a:srgbClr val="1F4E79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380797" name="Text 9"/>
          <p:cNvSpPr/>
          <p:nvPr/>
        </p:nvSpPr>
        <p:spPr bwMode="auto">
          <a:xfrm>
            <a:off x="6536553" y="804672"/>
            <a:ext cx="24414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Interaction</a:t>
            </a:r>
            <a:endParaRPr lang="en-US" sz="1200"/>
          </a:p>
        </p:txBody>
      </p:sp>
      <p:sp>
        <p:nvSpPr>
          <p:cNvPr id="741399059" name="Shape 10"/>
          <p:cNvSpPr/>
          <p:nvPr/>
        </p:nvSpPr>
        <p:spPr bwMode="auto">
          <a:xfrm>
            <a:off x="309489" y="1188720"/>
            <a:ext cx="640080" cy="914400"/>
          </a:xfrm>
          <a:prstGeom prst="rect">
            <a:avLst/>
          </a:prstGeom>
          <a:solidFill>
            <a:srgbClr val="EFF3F7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564042601" name="Text 11"/>
          <p:cNvSpPr/>
          <p:nvPr/>
        </p:nvSpPr>
        <p:spPr bwMode="auto">
          <a:xfrm>
            <a:off x="364353" y="1188720"/>
            <a:ext cx="566928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300" b="1">
                <a:solidFill>
                  <a:srgbClr val="1F4E79"/>
                </a:solidFill>
                <a:latin typeface="Calibri"/>
                <a:ea typeface="Calibri"/>
                <a:cs typeface="Calibri"/>
              </a:rPr>
              <a:t>UC-1</a:t>
            </a:r>
            <a:endParaRPr lang="en-US" sz="1300"/>
          </a:p>
        </p:txBody>
      </p:sp>
      <p:sp>
        <p:nvSpPr>
          <p:cNvPr id="1596230165" name="Shape 12"/>
          <p:cNvSpPr/>
          <p:nvPr/>
        </p:nvSpPr>
        <p:spPr bwMode="auto">
          <a:xfrm>
            <a:off x="949569" y="1188720"/>
            <a:ext cx="1371600" cy="914400"/>
          </a:xfrm>
          <a:prstGeom prst="rect">
            <a:avLst/>
          </a:prstGeom>
          <a:solidFill>
            <a:srgbClr val="EFF3F7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423762724" name="Text 13"/>
          <p:cNvSpPr/>
          <p:nvPr/>
        </p:nvSpPr>
        <p:spPr bwMode="auto">
          <a:xfrm>
            <a:off x="1004433" y="1188720"/>
            <a:ext cx="1298448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Full Fitness</a:t>
            </a:r>
            <a:endParaRPr lang="en-US" sz="1050"/>
          </a:p>
          <a:p>
            <a:pPr marL="0" indent="0">
              <a:buNone/>
              <a:defRPr/>
            </a:pPr>
            <a:r>
              <a:rPr lang="en-US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Assessment</a:t>
            </a:r>
            <a:endParaRPr lang="en-US" sz="1050"/>
          </a:p>
        </p:txBody>
      </p:sp>
      <p:sp>
        <p:nvSpPr>
          <p:cNvPr id="992520816" name="Shape 14"/>
          <p:cNvSpPr/>
          <p:nvPr/>
        </p:nvSpPr>
        <p:spPr bwMode="auto">
          <a:xfrm>
            <a:off x="2321169" y="1188720"/>
            <a:ext cx="4114800" cy="914400"/>
          </a:xfrm>
          <a:prstGeom prst="rect">
            <a:avLst/>
          </a:prstGeom>
          <a:solidFill>
            <a:srgbClr val="EFF3F7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811995247" name="Text 15"/>
          <p:cNvSpPr/>
          <p:nvPr/>
        </p:nvSpPr>
        <p:spPr bwMode="auto">
          <a:xfrm>
            <a:off x="2376033" y="1188720"/>
            <a:ext cx="4041648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Client → Gateway → Care Coordinator →</a:t>
            </a:r>
            <a:endParaRPr lang="en-US" sz="1050"/>
          </a:p>
          <a:p>
            <a:pPr marL="0" indent="0">
              <a:buNone/>
              <a:defRPr/>
            </a:pPr>
            <a:r>
              <a:rPr lang="en-US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Clinical Agg + Diagnostic Agg → providers</a:t>
            </a:r>
            <a:endParaRPr lang="en-US" sz="1050"/>
          </a:p>
        </p:txBody>
      </p:sp>
      <p:sp>
        <p:nvSpPr>
          <p:cNvPr id="1122094209" name="Shape 16"/>
          <p:cNvSpPr/>
          <p:nvPr/>
        </p:nvSpPr>
        <p:spPr bwMode="auto">
          <a:xfrm>
            <a:off x="6481689" y="1188720"/>
            <a:ext cx="2514600" cy="914400"/>
          </a:xfrm>
          <a:prstGeom prst="rect">
            <a:avLst/>
          </a:prstGeom>
          <a:solidFill>
            <a:srgbClr val="EFF3F7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92541640" name="Text 17"/>
          <p:cNvSpPr/>
          <p:nvPr/>
        </p:nvSpPr>
        <p:spPr bwMode="auto">
          <a:xfrm>
            <a:off x="6536553" y="1188720"/>
            <a:ext cx="2441448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1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Parallel branches +</a:t>
            </a:r>
            <a:endParaRPr lang="en-US" sz="1100"/>
          </a:p>
          <a:p>
            <a:pPr marL="0" indent="0">
              <a:buNone/>
              <a:defRPr/>
            </a:pPr>
            <a:r>
              <a:rPr lang="en-US" sz="11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sync barrier (allOf)</a:t>
            </a:r>
            <a:endParaRPr lang="en-US" sz="1100"/>
          </a:p>
        </p:txBody>
      </p:sp>
      <p:sp>
        <p:nvSpPr>
          <p:cNvPr id="464637742" name="Shape 18"/>
          <p:cNvSpPr/>
          <p:nvPr/>
        </p:nvSpPr>
        <p:spPr bwMode="auto">
          <a:xfrm>
            <a:off x="309489" y="2167128"/>
            <a:ext cx="64008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541485295" name="Text 19"/>
          <p:cNvSpPr/>
          <p:nvPr/>
        </p:nvSpPr>
        <p:spPr bwMode="auto">
          <a:xfrm>
            <a:off x="364353" y="2167128"/>
            <a:ext cx="566928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300" b="1">
                <a:solidFill>
                  <a:srgbClr val="1F4E79"/>
                </a:solidFill>
                <a:latin typeface="Calibri"/>
                <a:ea typeface="Calibri"/>
                <a:cs typeface="Calibri"/>
              </a:rPr>
              <a:t>UC-2</a:t>
            </a:r>
            <a:endParaRPr lang="en-US" sz="1300"/>
          </a:p>
        </p:txBody>
      </p:sp>
      <p:sp>
        <p:nvSpPr>
          <p:cNvPr id="1851475701" name="Shape 20"/>
          <p:cNvSpPr/>
          <p:nvPr/>
        </p:nvSpPr>
        <p:spPr bwMode="auto">
          <a:xfrm>
            <a:off x="949569" y="2167128"/>
            <a:ext cx="137160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940547932" name="Text 21"/>
          <p:cNvSpPr/>
          <p:nvPr/>
        </p:nvSpPr>
        <p:spPr bwMode="auto">
          <a:xfrm>
            <a:off x="1004433" y="2167128"/>
            <a:ext cx="1298448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Clinical History</a:t>
            </a:r>
            <a:endParaRPr lang="en-US" sz="1050"/>
          </a:p>
          <a:p>
            <a:pPr marL="0" indent="0">
              <a:buNone/>
              <a:defRPr/>
            </a:pPr>
            <a:r>
              <a:rPr lang="en-US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Consultation</a:t>
            </a:r>
            <a:endParaRPr lang="en-US" sz="1050"/>
          </a:p>
        </p:txBody>
      </p:sp>
      <p:sp>
        <p:nvSpPr>
          <p:cNvPr id="1672246356" name="Shape 22"/>
          <p:cNvSpPr/>
          <p:nvPr/>
        </p:nvSpPr>
        <p:spPr bwMode="auto">
          <a:xfrm>
            <a:off x="2321169" y="2167128"/>
            <a:ext cx="411480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2101103279" name="Text 23"/>
          <p:cNvSpPr/>
          <p:nvPr/>
        </p:nvSpPr>
        <p:spPr bwMode="auto">
          <a:xfrm>
            <a:off x="2376033" y="2167128"/>
            <a:ext cx="4041648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Client → Gateway → Clinical Aggregator →</a:t>
            </a:r>
            <a:endParaRPr lang="en-US" sz="1050"/>
          </a:p>
          <a:p>
            <a:pPr marL="0" indent="0">
              <a:buNone/>
              <a:defRPr/>
            </a:pPr>
            <a:r>
              <a:rPr lang="en-US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Anagrafe (SOAP) + Farmacia (REST)</a:t>
            </a:r>
            <a:endParaRPr lang="en-US" sz="1050"/>
          </a:p>
        </p:txBody>
      </p:sp>
      <p:sp>
        <p:nvSpPr>
          <p:cNvPr id="614112485" name="Shape 24"/>
          <p:cNvSpPr/>
          <p:nvPr/>
        </p:nvSpPr>
        <p:spPr bwMode="auto">
          <a:xfrm>
            <a:off x="6481689" y="2167128"/>
            <a:ext cx="251460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071343698" name="Text 25"/>
          <p:cNvSpPr/>
          <p:nvPr/>
        </p:nvSpPr>
        <p:spPr bwMode="auto">
          <a:xfrm>
            <a:off x="6536553" y="2167128"/>
            <a:ext cx="2441448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1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Synchronous</a:t>
            </a:r>
            <a:endParaRPr lang="en-US" sz="1100"/>
          </a:p>
          <a:p>
            <a:pPr marL="0" indent="0">
              <a:buNone/>
              <a:defRPr/>
            </a:pPr>
            <a:r>
              <a:rPr lang="en-US" sz="11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composition</a:t>
            </a:r>
            <a:endParaRPr lang="en-US" sz="1100"/>
          </a:p>
        </p:txBody>
      </p:sp>
      <p:sp>
        <p:nvSpPr>
          <p:cNvPr id="628656661" name="Shape 26"/>
          <p:cNvSpPr/>
          <p:nvPr/>
        </p:nvSpPr>
        <p:spPr bwMode="auto">
          <a:xfrm>
            <a:off x="309489" y="3145536"/>
            <a:ext cx="640080" cy="914400"/>
          </a:xfrm>
          <a:prstGeom prst="rect">
            <a:avLst/>
          </a:prstGeom>
          <a:solidFill>
            <a:srgbClr val="EFF3F7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158351202" name="Text 27"/>
          <p:cNvSpPr/>
          <p:nvPr/>
        </p:nvSpPr>
        <p:spPr bwMode="auto">
          <a:xfrm>
            <a:off x="364353" y="3145536"/>
            <a:ext cx="566928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300" b="1">
                <a:solidFill>
                  <a:srgbClr val="1F4E79"/>
                </a:solidFill>
                <a:latin typeface="Calibri"/>
                <a:ea typeface="Calibri"/>
                <a:cs typeface="Calibri"/>
              </a:rPr>
              <a:t>UC-3</a:t>
            </a:r>
            <a:endParaRPr lang="en-US" sz="1300"/>
          </a:p>
        </p:txBody>
      </p:sp>
      <p:sp>
        <p:nvSpPr>
          <p:cNvPr id="1316681624" name="Shape 28"/>
          <p:cNvSpPr/>
          <p:nvPr/>
        </p:nvSpPr>
        <p:spPr bwMode="auto">
          <a:xfrm>
            <a:off x="949569" y="3145536"/>
            <a:ext cx="1371600" cy="914400"/>
          </a:xfrm>
          <a:prstGeom prst="rect">
            <a:avLst/>
          </a:prstGeom>
          <a:solidFill>
            <a:srgbClr val="EFF3F7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970235670" name="Text 29"/>
          <p:cNvSpPr/>
          <p:nvPr/>
        </p:nvSpPr>
        <p:spPr bwMode="auto">
          <a:xfrm>
            <a:off x="1004433" y="3145536"/>
            <a:ext cx="1298448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Diagnostic Test</a:t>
            </a:r>
            <a:endParaRPr lang="en-US" sz="1050"/>
          </a:p>
          <a:p>
            <a:pPr marL="0" indent="0">
              <a:buNone/>
              <a:defRPr/>
            </a:pPr>
            <a:r>
              <a:rPr lang="en-US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Order &amp; Poll</a:t>
            </a:r>
            <a:endParaRPr lang="en-US" sz="1050"/>
          </a:p>
        </p:txBody>
      </p:sp>
      <p:sp>
        <p:nvSpPr>
          <p:cNvPr id="1697539978" name="Shape 30"/>
          <p:cNvSpPr/>
          <p:nvPr/>
        </p:nvSpPr>
        <p:spPr bwMode="auto">
          <a:xfrm>
            <a:off x="2321169" y="3145536"/>
            <a:ext cx="4114800" cy="914400"/>
          </a:xfrm>
          <a:prstGeom prst="rect">
            <a:avLst/>
          </a:prstGeom>
          <a:solidFill>
            <a:srgbClr val="EFF3F7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678947133" name="Text 31"/>
          <p:cNvSpPr/>
          <p:nvPr/>
        </p:nvSpPr>
        <p:spPr bwMode="auto">
          <a:xfrm>
            <a:off x="2376033" y="3145536"/>
            <a:ext cx="4041648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Client → Gateway → Diagnostic Aggregator →</a:t>
            </a:r>
            <a:endParaRPr lang="en-US" sz="1050"/>
          </a:p>
          <a:p>
            <a:pPr marL="0" indent="0">
              <a:buNone/>
              <a:defRPr/>
            </a:pPr>
            <a:r>
              <a:rPr lang="en-US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Laboratorio (async) + Imaging (async)</a:t>
            </a:r>
            <a:endParaRPr lang="en-US" sz="1050"/>
          </a:p>
        </p:txBody>
      </p:sp>
      <p:sp>
        <p:nvSpPr>
          <p:cNvPr id="292720619" name="Shape 32"/>
          <p:cNvSpPr/>
          <p:nvPr/>
        </p:nvSpPr>
        <p:spPr bwMode="auto">
          <a:xfrm>
            <a:off x="6481689" y="3145536"/>
            <a:ext cx="2514600" cy="914400"/>
          </a:xfrm>
          <a:prstGeom prst="rect">
            <a:avLst/>
          </a:prstGeom>
          <a:solidFill>
            <a:srgbClr val="EFF3F7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371340822" name="Text 33"/>
          <p:cNvSpPr/>
          <p:nvPr/>
        </p:nvSpPr>
        <p:spPr bwMode="auto">
          <a:xfrm>
            <a:off x="6536553" y="3145536"/>
            <a:ext cx="2441448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1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Async request-reply</a:t>
            </a:r>
            <a:endParaRPr lang="en-US" sz="1100"/>
          </a:p>
          <a:p>
            <a:pPr marL="0" indent="0">
              <a:buNone/>
              <a:defRPr/>
            </a:pPr>
            <a:r>
              <a:rPr lang="en-US" sz="11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with polling/callback</a:t>
            </a:r>
            <a:endParaRPr lang="en-US" sz="1100"/>
          </a:p>
        </p:txBody>
      </p:sp>
      <p:sp>
        <p:nvSpPr>
          <p:cNvPr id="1231594307" name="Shape 34"/>
          <p:cNvSpPr/>
          <p:nvPr/>
        </p:nvSpPr>
        <p:spPr bwMode="auto">
          <a:xfrm>
            <a:off x="309489" y="4123944"/>
            <a:ext cx="64008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509932440" name="Text 35"/>
          <p:cNvSpPr/>
          <p:nvPr/>
        </p:nvSpPr>
        <p:spPr bwMode="auto">
          <a:xfrm>
            <a:off x="364353" y="4123944"/>
            <a:ext cx="566928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300" b="1">
                <a:solidFill>
                  <a:srgbClr val="1F4E79"/>
                </a:solidFill>
                <a:latin typeface="Calibri"/>
                <a:ea typeface="Calibri"/>
                <a:cs typeface="Calibri"/>
              </a:rPr>
              <a:t>UC-4</a:t>
            </a:r>
            <a:endParaRPr lang="en-US" sz="1300"/>
          </a:p>
        </p:txBody>
      </p:sp>
      <p:sp>
        <p:nvSpPr>
          <p:cNvPr id="2097008402" name="Shape 36"/>
          <p:cNvSpPr/>
          <p:nvPr/>
        </p:nvSpPr>
        <p:spPr bwMode="auto">
          <a:xfrm>
            <a:off x="949569" y="4123944"/>
            <a:ext cx="137160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761747034" name="Text 37"/>
          <p:cNvSpPr/>
          <p:nvPr/>
        </p:nvSpPr>
        <p:spPr bwMode="auto">
          <a:xfrm>
            <a:off x="1004433" y="4123944"/>
            <a:ext cx="1298448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New Prescription</a:t>
            </a:r>
            <a:endParaRPr lang="en-US" sz="1050"/>
          </a:p>
          <a:p>
            <a:pPr marL="0" indent="0">
              <a:buNone/>
              <a:defRPr/>
            </a:pPr>
            <a:r>
              <a:rPr lang="en-US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(direct)</a:t>
            </a:r>
            <a:endParaRPr lang="en-US" sz="1050"/>
          </a:p>
        </p:txBody>
      </p:sp>
      <p:sp>
        <p:nvSpPr>
          <p:cNvPr id="643133793" name="Shape 38"/>
          <p:cNvSpPr/>
          <p:nvPr/>
        </p:nvSpPr>
        <p:spPr bwMode="auto">
          <a:xfrm>
            <a:off x="2321169" y="4123944"/>
            <a:ext cx="411480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575871747" name="Text 39"/>
          <p:cNvSpPr/>
          <p:nvPr/>
        </p:nvSpPr>
        <p:spPr bwMode="auto">
          <a:xfrm>
            <a:off x="2376033" y="4123944"/>
            <a:ext cx="4041648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Client → Gateway → Farmacia</a:t>
            </a:r>
            <a:endParaRPr lang="en-US" sz="1050"/>
          </a:p>
          <a:p>
            <a:pPr marL="0" indent="0">
              <a:buNone/>
              <a:defRPr/>
            </a:pPr>
            <a:r>
              <a:rPr lang="en-US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(no prosumer involved)</a:t>
            </a:r>
            <a:endParaRPr lang="en-US" sz="1050"/>
          </a:p>
        </p:txBody>
      </p:sp>
      <p:sp>
        <p:nvSpPr>
          <p:cNvPr id="1684157678" name="Shape 40"/>
          <p:cNvSpPr/>
          <p:nvPr/>
        </p:nvSpPr>
        <p:spPr bwMode="auto">
          <a:xfrm>
            <a:off x="6481689" y="4123944"/>
            <a:ext cx="251460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639410255" name="Text 41"/>
          <p:cNvSpPr/>
          <p:nvPr/>
        </p:nvSpPr>
        <p:spPr bwMode="auto">
          <a:xfrm>
            <a:off x="6536553" y="4123944"/>
            <a:ext cx="2441448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1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Direct client→provider</a:t>
            </a:r>
            <a:endParaRPr lang="en-US" sz="1100"/>
          </a:p>
          <a:p>
            <a:pPr marL="0" indent="0">
              <a:buNone/>
              <a:defRPr/>
            </a:pPr>
            <a:r>
              <a:rPr lang="en-US" sz="11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REST CRUD</a:t>
            </a:r>
            <a:endParaRPr lang="en-US" sz="11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030056585" name="Immagine 1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372684" y="271681"/>
            <a:ext cx="8249513" cy="4600136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117903470" name="Text 11"/>
          <p:cNvSpPr/>
          <p:nvPr/>
        </p:nvSpPr>
        <p:spPr bwMode="auto">
          <a:xfrm>
            <a:off x="464937" y="84406"/>
            <a:ext cx="566928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endParaRPr lang="en-US" sz="1300"/>
          </a:p>
        </p:txBody>
      </p:sp>
      <p:sp>
        <p:nvSpPr>
          <p:cNvPr id="1587231795" name="Text 13"/>
          <p:cNvSpPr/>
          <p:nvPr/>
        </p:nvSpPr>
        <p:spPr bwMode="auto">
          <a:xfrm>
            <a:off x="1105017" y="84406"/>
            <a:ext cx="1298448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endParaRPr lang="en-US" sz="1050"/>
          </a:p>
        </p:txBody>
      </p:sp>
      <p:sp>
        <p:nvSpPr>
          <p:cNvPr id="735403444" name="Text 15"/>
          <p:cNvSpPr/>
          <p:nvPr/>
        </p:nvSpPr>
        <p:spPr bwMode="auto">
          <a:xfrm>
            <a:off x="2476617" y="84406"/>
            <a:ext cx="4041648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endParaRPr lang="en-US" sz="105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253414864" name="Immagine 1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1775901" y="248323"/>
            <a:ext cx="5531679" cy="46468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364954886" name="Immagine 2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1684276" y="250678"/>
            <a:ext cx="6103363" cy="4642143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438674418" name="Immagine 1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1168737" y="513576"/>
            <a:ext cx="6924338" cy="399764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16">
    <p:bg>
      <p:bgPr shadeToTitle="0">
        <a:solidFill>
          <a:srgbClr val="F5F8FA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060256" name="Text 0"/>
          <p:cNvSpPr/>
          <p:nvPr/>
        </p:nvSpPr>
        <p:spPr bwMode="auto">
          <a:xfrm>
            <a:off x="457200" y="201168"/>
            <a:ext cx="82296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  <a:defRPr/>
            </a:pPr>
            <a:r>
              <a:rPr lang="en-US" sz="3400" b="1">
                <a:solidFill>
                  <a:srgbClr val="1F4E79"/>
                </a:solidFill>
                <a:latin typeface="Calibri"/>
                <a:ea typeface="Calibri"/>
                <a:cs typeface="Calibri"/>
              </a:rPr>
              <a:t>Technology Stack</a:t>
            </a:r>
            <a:endParaRPr lang="en-US" sz="3400"/>
          </a:p>
        </p:txBody>
      </p:sp>
      <p:sp>
        <p:nvSpPr>
          <p:cNvPr id="1052350503" name="Shape 1"/>
          <p:cNvSpPr/>
          <p:nvPr/>
        </p:nvSpPr>
        <p:spPr bwMode="auto">
          <a:xfrm>
            <a:off x="457200" y="1078992"/>
            <a:ext cx="8229600" cy="22860"/>
          </a:xfrm>
          <a:prstGeom prst="rect">
            <a:avLst/>
          </a:prstGeom>
          <a:solidFill>
            <a:srgbClr val="E8EEF2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23794125" name="Shape 2"/>
          <p:cNvSpPr/>
          <p:nvPr/>
        </p:nvSpPr>
        <p:spPr bwMode="auto">
          <a:xfrm>
            <a:off x="457200" y="1188720"/>
            <a:ext cx="3931920" cy="3840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444040108" name="Text 3"/>
          <p:cNvSpPr/>
          <p:nvPr/>
        </p:nvSpPr>
        <p:spPr bwMode="auto">
          <a:xfrm>
            <a:off x="640080" y="1261872"/>
            <a:ext cx="3566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300" b="1">
                <a:solidFill>
                  <a:srgbClr val="1F4E79"/>
                </a:solidFill>
                <a:latin typeface="Calibri"/>
                <a:ea typeface="Calibri"/>
                <a:cs typeface="Calibri"/>
              </a:rPr>
              <a:t>Frameworks &amp; Libraries</a:t>
            </a:r>
            <a:endParaRPr lang="en-US" sz="1300"/>
          </a:p>
        </p:txBody>
      </p:sp>
      <p:sp>
        <p:nvSpPr>
          <p:cNvPr id="465725207" name="Text 4"/>
          <p:cNvSpPr/>
          <p:nvPr/>
        </p:nvSpPr>
        <p:spPr bwMode="auto">
          <a:xfrm>
            <a:off x="640080" y="1664208"/>
            <a:ext cx="18288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050" b="1">
                <a:solidFill>
                  <a:srgbClr val="0F6E56"/>
                </a:solidFill>
                <a:latin typeface="Calibri"/>
                <a:ea typeface="Calibri"/>
                <a:cs typeface="Calibri"/>
              </a:rPr>
              <a:t>Java 17</a:t>
            </a:r>
            <a:endParaRPr lang="en-US" sz="1050"/>
          </a:p>
        </p:txBody>
      </p:sp>
      <p:sp>
        <p:nvSpPr>
          <p:cNvPr id="1590419522" name="Text 5"/>
          <p:cNvSpPr/>
          <p:nvPr/>
        </p:nvSpPr>
        <p:spPr bwMode="auto">
          <a:xfrm>
            <a:off x="2487168" y="1664208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9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LTS runtime (pinned)</a:t>
            </a:r>
            <a:endParaRPr lang="en-US" sz="950"/>
          </a:p>
        </p:txBody>
      </p:sp>
      <p:sp>
        <p:nvSpPr>
          <p:cNvPr id="449485380" name="Text 6"/>
          <p:cNvSpPr/>
          <p:nvPr/>
        </p:nvSpPr>
        <p:spPr bwMode="auto">
          <a:xfrm>
            <a:off x="640080" y="2084832"/>
            <a:ext cx="18288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050" b="1">
                <a:solidFill>
                  <a:srgbClr val="0F6E56"/>
                </a:solidFill>
                <a:latin typeface="Calibri"/>
                <a:ea typeface="Calibri"/>
                <a:cs typeface="Calibri"/>
              </a:rPr>
              <a:t>Spring Boot 3.2.x</a:t>
            </a:r>
            <a:endParaRPr lang="en-US" sz="1050"/>
          </a:p>
        </p:txBody>
      </p:sp>
      <p:sp>
        <p:nvSpPr>
          <p:cNvPr id="570938047" name="Text 7"/>
          <p:cNvSpPr/>
          <p:nvPr/>
        </p:nvSpPr>
        <p:spPr bwMode="auto">
          <a:xfrm>
            <a:off x="2487168" y="2084832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9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Service base + embedded Tomcat</a:t>
            </a:r>
            <a:endParaRPr lang="en-US" sz="950"/>
          </a:p>
        </p:txBody>
      </p:sp>
      <p:sp>
        <p:nvSpPr>
          <p:cNvPr id="1191122312" name="Text 8"/>
          <p:cNvSpPr/>
          <p:nvPr/>
        </p:nvSpPr>
        <p:spPr bwMode="auto">
          <a:xfrm>
            <a:off x="640080" y="2505456"/>
            <a:ext cx="18288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050" b="1">
                <a:solidFill>
                  <a:srgbClr val="0F6E56"/>
                </a:solidFill>
                <a:latin typeface="Calibri"/>
                <a:ea typeface="Calibri"/>
                <a:cs typeface="Calibri"/>
              </a:rPr>
              <a:t>Spring Cloud 2023.0.x</a:t>
            </a:r>
            <a:endParaRPr lang="en-US" sz="1050"/>
          </a:p>
        </p:txBody>
      </p:sp>
      <p:sp>
        <p:nvSpPr>
          <p:cNvPr id="237593006" name="Text 9"/>
          <p:cNvSpPr/>
          <p:nvPr/>
        </p:nvSpPr>
        <p:spPr bwMode="auto">
          <a:xfrm>
            <a:off x="2487168" y="2505456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9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Eureka, Gateway, Config, OpenFeign, LoadBalancer</a:t>
            </a:r>
            <a:endParaRPr lang="en-US" sz="950"/>
          </a:p>
        </p:txBody>
      </p:sp>
      <p:sp>
        <p:nvSpPr>
          <p:cNvPr id="1553384562" name="Text 10"/>
          <p:cNvSpPr/>
          <p:nvPr/>
        </p:nvSpPr>
        <p:spPr bwMode="auto">
          <a:xfrm>
            <a:off x="640080" y="2926080"/>
            <a:ext cx="18288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050" b="1">
                <a:solidFill>
                  <a:srgbClr val="0F6E56"/>
                </a:solidFill>
                <a:latin typeface="Calibri"/>
                <a:ea typeface="Calibri"/>
                <a:cs typeface="Calibri"/>
              </a:rPr>
              <a:t>Apache CXF 4.0.x</a:t>
            </a:r>
            <a:endParaRPr lang="en-US" sz="1050"/>
          </a:p>
        </p:txBody>
      </p:sp>
      <p:sp>
        <p:nvSpPr>
          <p:cNvPr id="2030966837" name="Text 11"/>
          <p:cNvSpPr/>
          <p:nvPr/>
        </p:nvSpPr>
        <p:spPr bwMode="auto">
          <a:xfrm>
            <a:off x="2487168" y="2926080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9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SOAP contract-first — Anagrafe service + JAX-WS client</a:t>
            </a:r>
            <a:endParaRPr lang="en-US" sz="950"/>
          </a:p>
        </p:txBody>
      </p:sp>
      <p:sp>
        <p:nvSpPr>
          <p:cNvPr id="197786075" name="Text 12"/>
          <p:cNvSpPr/>
          <p:nvPr/>
        </p:nvSpPr>
        <p:spPr bwMode="auto">
          <a:xfrm>
            <a:off x="640080" y="3346704"/>
            <a:ext cx="18288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050" b="1">
                <a:solidFill>
                  <a:srgbClr val="0F6E56"/>
                </a:solidFill>
                <a:latin typeface="Calibri"/>
                <a:ea typeface="Calibri"/>
                <a:cs typeface="Calibri"/>
              </a:rPr>
              <a:t>Resilience4j 2.2.x</a:t>
            </a:r>
            <a:endParaRPr lang="en-US" sz="1050"/>
          </a:p>
        </p:txBody>
      </p:sp>
      <p:sp>
        <p:nvSpPr>
          <p:cNvPr id="263293740" name="Text 13"/>
          <p:cNvSpPr/>
          <p:nvPr/>
        </p:nvSpPr>
        <p:spPr bwMode="auto">
          <a:xfrm>
            <a:off x="2487168" y="3346704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9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Circuit breaker on Care Coordinator Feign calls</a:t>
            </a:r>
            <a:endParaRPr lang="en-US" sz="950"/>
          </a:p>
        </p:txBody>
      </p:sp>
      <p:sp>
        <p:nvSpPr>
          <p:cNvPr id="345748328" name="Text 14"/>
          <p:cNvSpPr/>
          <p:nvPr/>
        </p:nvSpPr>
        <p:spPr bwMode="auto">
          <a:xfrm>
            <a:off x="640080" y="3767328"/>
            <a:ext cx="18288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050" b="1">
                <a:solidFill>
                  <a:srgbClr val="0F6E56"/>
                </a:solidFill>
                <a:latin typeface="Calibri"/>
                <a:ea typeface="Calibri"/>
                <a:cs typeface="Calibri"/>
              </a:rPr>
              <a:t>springdoc-openapi 2.3.x</a:t>
            </a:r>
            <a:endParaRPr lang="en-US" sz="1050"/>
          </a:p>
        </p:txBody>
      </p:sp>
      <p:sp>
        <p:nvSpPr>
          <p:cNvPr id="146985095" name="Text 15"/>
          <p:cNvSpPr/>
          <p:nvPr/>
        </p:nvSpPr>
        <p:spPr bwMode="auto">
          <a:xfrm>
            <a:off x="2487168" y="3767328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9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Swagger UI on all REST services</a:t>
            </a:r>
            <a:endParaRPr lang="en-US" sz="950"/>
          </a:p>
        </p:txBody>
      </p:sp>
      <p:sp>
        <p:nvSpPr>
          <p:cNvPr id="1081884573" name="Text 16"/>
          <p:cNvSpPr/>
          <p:nvPr/>
        </p:nvSpPr>
        <p:spPr bwMode="auto">
          <a:xfrm>
            <a:off x="640080" y="4187952"/>
            <a:ext cx="18288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050" b="1">
                <a:solidFill>
                  <a:srgbClr val="0F6E56"/>
                </a:solidFill>
                <a:latin typeface="Calibri"/>
                <a:ea typeface="Calibri"/>
                <a:cs typeface="Calibri"/>
              </a:rPr>
              <a:t>Spring Data JPA</a:t>
            </a:r>
            <a:endParaRPr lang="en-US" sz="1050"/>
          </a:p>
        </p:txBody>
      </p:sp>
      <p:sp>
        <p:nvSpPr>
          <p:cNvPr id="958301623" name="Text 17"/>
          <p:cNvSpPr/>
          <p:nvPr/>
        </p:nvSpPr>
        <p:spPr bwMode="auto">
          <a:xfrm>
            <a:off x="2487168" y="4187952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9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Repository layer over MySQL</a:t>
            </a:r>
            <a:endParaRPr lang="en-US" sz="950"/>
          </a:p>
        </p:txBody>
      </p:sp>
      <p:sp>
        <p:nvSpPr>
          <p:cNvPr id="1622776336" name="Text 18"/>
          <p:cNvSpPr/>
          <p:nvPr/>
        </p:nvSpPr>
        <p:spPr bwMode="auto">
          <a:xfrm>
            <a:off x="640080" y="4608576"/>
            <a:ext cx="18288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050" b="1">
                <a:solidFill>
                  <a:srgbClr val="0F6E56"/>
                </a:solidFill>
                <a:latin typeface="Calibri"/>
                <a:ea typeface="Calibri"/>
                <a:cs typeface="Calibri"/>
              </a:rPr>
              <a:t>Apache Maven 3.9.x</a:t>
            </a:r>
            <a:endParaRPr lang="en-US" sz="1050"/>
          </a:p>
        </p:txBody>
      </p:sp>
      <p:sp>
        <p:nvSpPr>
          <p:cNvPr id="950157783" name="Text 19"/>
          <p:cNvSpPr/>
          <p:nvPr/>
        </p:nvSpPr>
        <p:spPr bwMode="auto">
          <a:xfrm>
            <a:off x="2487168" y="4608576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9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Build — independent per-service POMs (no parent)</a:t>
            </a:r>
            <a:endParaRPr lang="en-US" sz="950"/>
          </a:p>
        </p:txBody>
      </p:sp>
      <p:sp>
        <p:nvSpPr>
          <p:cNvPr id="1573909301" name="Shape 20"/>
          <p:cNvSpPr/>
          <p:nvPr/>
        </p:nvSpPr>
        <p:spPr bwMode="auto">
          <a:xfrm>
            <a:off x="4754880" y="1188720"/>
            <a:ext cx="3931920" cy="3840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308688274" name="Text 21"/>
          <p:cNvSpPr/>
          <p:nvPr/>
        </p:nvSpPr>
        <p:spPr bwMode="auto">
          <a:xfrm>
            <a:off x="4937760" y="1261872"/>
            <a:ext cx="3566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300" b="1">
                <a:solidFill>
                  <a:srgbClr val="1F4E79"/>
                </a:solidFill>
                <a:latin typeface="Calibri"/>
                <a:ea typeface="Calibri"/>
                <a:cs typeface="Calibri"/>
              </a:rPr>
              <a:t>Infrastructure</a:t>
            </a:r>
            <a:endParaRPr lang="en-US" sz="1300"/>
          </a:p>
        </p:txBody>
      </p:sp>
      <p:sp>
        <p:nvSpPr>
          <p:cNvPr id="1164594534" name="Text 22"/>
          <p:cNvSpPr/>
          <p:nvPr/>
        </p:nvSpPr>
        <p:spPr bwMode="auto">
          <a:xfrm>
            <a:off x="4937760" y="1664208"/>
            <a:ext cx="16916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050" b="1">
                <a:solidFill>
                  <a:srgbClr val="534AB7"/>
                </a:solidFill>
                <a:latin typeface="Calibri"/>
                <a:ea typeface="Calibri"/>
                <a:cs typeface="Calibri"/>
              </a:rPr>
              <a:t>MySQL 8</a:t>
            </a:r>
            <a:endParaRPr lang="en-US" sz="1050"/>
          </a:p>
        </p:txBody>
      </p:sp>
      <p:sp>
        <p:nvSpPr>
          <p:cNvPr id="1137203709" name="Text 23"/>
          <p:cNvSpPr/>
          <p:nvPr/>
        </p:nvSpPr>
        <p:spPr bwMode="auto">
          <a:xfrm>
            <a:off x="6656832" y="1664208"/>
            <a:ext cx="18745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9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Relational persistence, one schema per provider</a:t>
            </a:r>
            <a:endParaRPr lang="en-US" sz="950"/>
          </a:p>
        </p:txBody>
      </p:sp>
      <p:sp>
        <p:nvSpPr>
          <p:cNvPr id="1037153511" name="Text 24"/>
          <p:cNvSpPr/>
          <p:nvPr/>
        </p:nvSpPr>
        <p:spPr bwMode="auto">
          <a:xfrm>
            <a:off x="4937760" y="2084832"/>
            <a:ext cx="16916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050" b="1">
                <a:solidFill>
                  <a:srgbClr val="534AB7"/>
                </a:solidFill>
                <a:latin typeface="Calibri"/>
                <a:ea typeface="Calibri"/>
                <a:cs typeface="Calibri"/>
              </a:rPr>
              <a:t>Docker + Compose</a:t>
            </a:r>
            <a:endParaRPr lang="en-US" sz="1050"/>
          </a:p>
        </p:txBody>
      </p:sp>
      <p:sp>
        <p:nvSpPr>
          <p:cNvPr id="549936014" name="Text 25"/>
          <p:cNvSpPr/>
          <p:nvPr/>
        </p:nvSpPr>
        <p:spPr bwMode="auto">
          <a:xfrm>
            <a:off x="6656832" y="2084832"/>
            <a:ext cx="18745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9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Single-command full-stack deployment</a:t>
            </a:r>
            <a:endParaRPr lang="en-US" sz="950"/>
          </a:p>
        </p:txBody>
      </p:sp>
      <p:sp>
        <p:nvSpPr>
          <p:cNvPr id="61861164" name="Text 26"/>
          <p:cNvSpPr/>
          <p:nvPr/>
        </p:nvSpPr>
        <p:spPr bwMode="auto">
          <a:xfrm>
            <a:off x="4937760" y="2505456"/>
            <a:ext cx="16916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050" b="1">
                <a:solidFill>
                  <a:srgbClr val="534AB7"/>
                </a:solidFill>
                <a:latin typeface="Calibri"/>
                <a:ea typeface="Calibri"/>
                <a:cs typeface="Calibri"/>
              </a:rPr>
              <a:t>Netflix Eureka</a:t>
            </a:r>
            <a:endParaRPr lang="en-US" sz="1050"/>
          </a:p>
        </p:txBody>
      </p:sp>
      <p:sp>
        <p:nvSpPr>
          <p:cNvPr id="862676857" name="Text 27"/>
          <p:cNvSpPr/>
          <p:nvPr/>
        </p:nvSpPr>
        <p:spPr bwMode="auto">
          <a:xfrm>
            <a:off x="6656832" y="2505456"/>
            <a:ext cx="18745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9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Service registry, self-registration, health checks</a:t>
            </a:r>
            <a:endParaRPr lang="en-US" sz="950"/>
          </a:p>
        </p:txBody>
      </p:sp>
      <p:sp>
        <p:nvSpPr>
          <p:cNvPr id="1575522928" name="Text 28"/>
          <p:cNvSpPr/>
          <p:nvPr/>
        </p:nvSpPr>
        <p:spPr bwMode="auto">
          <a:xfrm>
            <a:off x="4937760" y="2926080"/>
            <a:ext cx="16916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050" b="1">
                <a:solidFill>
                  <a:srgbClr val="534AB7"/>
                </a:solidFill>
                <a:latin typeface="Calibri"/>
                <a:ea typeface="Calibri"/>
                <a:cs typeface="Calibri"/>
              </a:rPr>
              <a:t>Spring Cloud Gateway</a:t>
            </a:r>
            <a:endParaRPr lang="en-US" sz="1050"/>
          </a:p>
        </p:txBody>
      </p:sp>
      <p:sp>
        <p:nvSpPr>
          <p:cNvPr id="767967230" name="Text 29"/>
          <p:cNvSpPr/>
          <p:nvPr/>
        </p:nvSpPr>
        <p:spPr bwMode="auto">
          <a:xfrm>
            <a:off x="6656832" y="2926080"/>
            <a:ext cx="18745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9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API Gateway, lb:// routing, path rewriting</a:t>
            </a:r>
            <a:endParaRPr lang="en-US" sz="950"/>
          </a:p>
        </p:txBody>
      </p:sp>
      <p:sp>
        <p:nvSpPr>
          <p:cNvPr id="1240445394" name="Text 30"/>
          <p:cNvSpPr/>
          <p:nvPr/>
        </p:nvSpPr>
        <p:spPr bwMode="auto">
          <a:xfrm>
            <a:off x="4937760" y="3346704"/>
            <a:ext cx="16916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050" b="1">
                <a:solidFill>
                  <a:srgbClr val="534AB7"/>
                </a:solidFill>
                <a:latin typeface="Calibri"/>
                <a:ea typeface="Calibri"/>
                <a:cs typeface="Calibri"/>
              </a:rPr>
              <a:t>Spring Cloud Config</a:t>
            </a:r>
            <a:endParaRPr lang="en-US" sz="1050"/>
          </a:p>
        </p:txBody>
      </p:sp>
      <p:sp>
        <p:nvSpPr>
          <p:cNvPr id="2116924440" name="Text 31"/>
          <p:cNvSpPr/>
          <p:nvPr/>
        </p:nvSpPr>
        <p:spPr bwMode="auto">
          <a:xfrm>
            <a:off x="6656832" y="3346704"/>
            <a:ext cx="18745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9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Centralised externalised config from git repo</a:t>
            </a:r>
            <a:endParaRPr lang="en-US" sz="950"/>
          </a:p>
        </p:txBody>
      </p:sp>
      <p:sp>
        <p:nvSpPr>
          <p:cNvPr id="677420843" name="Text 32"/>
          <p:cNvSpPr/>
          <p:nvPr/>
        </p:nvSpPr>
        <p:spPr bwMode="auto">
          <a:xfrm>
            <a:off x="4937760" y="3767328"/>
            <a:ext cx="16916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050" b="1">
                <a:solidFill>
                  <a:srgbClr val="534AB7"/>
                </a:solidFill>
                <a:latin typeface="Calibri"/>
                <a:ea typeface="Calibri"/>
                <a:cs typeface="Calibri"/>
              </a:rPr>
              <a:t>Spring Cloud OpenFeign</a:t>
            </a:r>
            <a:endParaRPr lang="en-US" sz="1050"/>
          </a:p>
        </p:txBody>
      </p:sp>
      <p:sp>
        <p:nvSpPr>
          <p:cNvPr id="738762519" name="Text 33"/>
          <p:cNvSpPr/>
          <p:nvPr/>
        </p:nvSpPr>
        <p:spPr bwMode="auto">
          <a:xfrm>
            <a:off x="6656832" y="3767328"/>
            <a:ext cx="18745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9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REST client with Eureka name resolution</a:t>
            </a:r>
            <a:endParaRPr lang="en-US" sz="950"/>
          </a:p>
        </p:txBody>
      </p:sp>
      <p:sp>
        <p:nvSpPr>
          <p:cNvPr id="65636812" name="Text 34"/>
          <p:cNvSpPr/>
          <p:nvPr/>
        </p:nvSpPr>
        <p:spPr bwMode="auto">
          <a:xfrm>
            <a:off x="4937760" y="4187952"/>
            <a:ext cx="16916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050" b="1">
                <a:solidFill>
                  <a:srgbClr val="534AB7"/>
                </a:solidFill>
                <a:latin typeface="Calibri"/>
                <a:ea typeface="Calibri"/>
                <a:cs typeface="Calibri"/>
              </a:rPr>
              <a:t>@Async / ThreadPool</a:t>
            </a:r>
            <a:endParaRPr lang="en-US" sz="1050"/>
          </a:p>
        </p:txBody>
      </p:sp>
      <p:sp>
        <p:nvSpPr>
          <p:cNvPr id="85583667" name="Text 35"/>
          <p:cNvSpPr/>
          <p:nvPr/>
        </p:nvSpPr>
        <p:spPr bwMode="auto">
          <a:xfrm>
            <a:off x="6656832" y="4187952"/>
            <a:ext cx="18745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9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Non-blocking processing in Laboratorio &amp; Imaging</a:t>
            </a:r>
            <a:endParaRPr lang="en-US" sz="950"/>
          </a:p>
        </p:txBody>
      </p:sp>
      <p:sp>
        <p:nvSpPr>
          <p:cNvPr id="399040104" name="Text 36"/>
          <p:cNvSpPr/>
          <p:nvPr/>
        </p:nvSpPr>
        <p:spPr bwMode="auto">
          <a:xfrm>
            <a:off x="4937760" y="4608576"/>
            <a:ext cx="16916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050" b="1">
                <a:solidFill>
                  <a:srgbClr val="534AB7"/>
                </a:solidFill>
                <a:latin typeface="Calibri"/>
                <a:ea typeface="Calibri"/>
                <a:cs typeface="Calibri"/>
              </a:rPr>
              <a:t>CompletableFuture</a:t>
            </a:r>
            <a:endParaRPr lang="en-US" sz="1050"/>
          </a:p>
        </p:txBody>
      </p:sp>
      <p:sp>
        <p:nvSpPr>
          <p:cNvPr id="75339451" name="Text 37"/>
          <p:cNvSpPr/>
          <p:nvPr/>
        </p:nvSpPr>
        <p:spPr bwMode="auto">
          <a:xfrm>
            <a:off x="6656832" y="4608576"/>
            <a:ext cx="18745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9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Fork-join parallel orchestration in Care Coordinator</a:t>
            </a:r>
            <a:endParaRPr lang="en-US" sz="95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theme/_rels/theme1.xml.rels><?xml version="1.0" encoding="UTF-8" standalone="yes"?><Relationships xmlns="http://schemas.openxmlformats.org/package/2006/relationships"></Relationships>
</file>

<file path=ppt/theme/_rels/theme2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Arial"/>
        <a:cs typeface="Arial"/>
      </a:majorFont>
      <a:minorFont>
        <a:latin typeface="Calibri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/>
        <a:ea typeface="Arial"/>
        <a:cs typeface="Arial"/>
      </a:majorFont>
      <a:minorFont>
        <a:latin typeface="Aptos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 bwMode="auto"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ONLYOFFICE/9.4.0.129</Application>
  <PresentationFormat>On-screen Show (4:3)</PresentationFormat>
  <Paragraphs>0</Paragraphs>
  <Slides>17</Slides>
  <Notes>17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18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/>
  <cp:revision>3</cp:revision>
  <dcterms:created xsi:type="dcterms:W3CDTF">2026-06-22T13:52:18Z</dcterms:created>
  <dcterms:modified xsi:type="dcterms:W3CDTF">2026-06-22T15:18:14Z</dcterms:modified>
</cp:coreProperties>
</file>