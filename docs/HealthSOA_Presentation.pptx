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 type="screen16x9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09" d="100"/>
          <a:sy n="109" d="100"/>
        </p:scale>
        <p:origin x="867" y="85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7449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99726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4314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50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65299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05123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6686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08991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196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55536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55334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91391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4845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48161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71123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628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35602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83386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78397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7920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58911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689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65071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859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91411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9431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40531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4747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884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52210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82189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1622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293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7192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79282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16678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9302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6185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223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242196-202C-F19F-E59B-19A0C2A48E0E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533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0318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1267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8B224E-5401-2944-BD9E-177ABE848A1D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09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493213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5532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D4132B-99D2-A016-0E8A-93AF35626232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53647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5602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7180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EBE06E-E069-3376-C5E3-792169FA5BE7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73328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4250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88472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609355" name="Shape 0"/>
          <p:cNvSpPr/>
          <p:nvPr/>
        </p:nvSpPr>
        <p:spPr bwMode="auto">
          <a:xfrm>
            <a:off x="0" y="0"/>
            <a:ext cx="164592" cy="51480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2459104" name="Text 1"/>
          <p:cNvSpPr/>
          <p:nvPr/>
        </p:nvSpPr>
        <p:spPr bwMode="auto">
          <a:xfrm>
            <a:off x="502920" y="82296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HealthSOA</a:t>
            </a:r>
            <a:endParaRPr lang="en-US" sz="6000"/>
          </a:p>
        </p:txBody>
      </p:sp>
      <p:sp>
        <p:nvSpPr>
          <p:cNvPr id="988031572" name="Text 2"/>
          <p:cNvSpPr/>
          <p:nvPr/>
        </p:nvSpPr>
        <p:spPr bwMode="auto">
          <a:xfrm>
            <a:off x="502920" y="2057400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Hospital Platform for Pre-Procedure</a:t>
            </a:r>
            <a:endParaRPr lang="en-US" sz="2400"/>
          </a:p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Clinical Assessment</a:t>
            </a:r>
            <a:endParaRPr lang="en-US" sz="2400"/>
          </a:p>
        </p:txBody>
      </p:sp>
      <p:sp>
        <p:nvSpPr>
          <p:cNvPr id="1912741677" name="Text 3"/>
          <p:cNvSpPr/>
          <p:nvPr/>
        </p:nvSpPr>
        <p:spPr bwMode="auto">
          <a:xfrm>
            <a:off x="502920" y="324612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Service-Oriented Software Engineering  ·  A.A. 2025/2026</a:t>
            </a:r>
            <a:endParaRPr lang="en-US" sz="1500"/>
          </a:p>
        </p:txBody>
      </p:sp>
      <p:sp>
        <p:nvSpPr>
          <p:cNvPr id="1598873837" name="Text 4"/>
          <p:cNvSpPr/>
          <p:nvPr/>
        </p:nvSpPr>
        <p:spPr bwMode="auto">
          <a:xfrm>
            <a:off x="502920" y="36118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Università degli Studi dell'Aquila  ·  DISIM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577105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1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Domain, Architecture &amp; Infrastructure</a:t>
            </a:r>
            <a:endParaRPr lang="en-US" sz="4200"/>
          </a:p>
        </p:txBody>
      </p:sp>
      <p:sp>
        <p:nvSpPr>
          <p:cNvPr id="487988286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Edoardo Di Giuseppe</a:t>
            </a:r>
            <a:endParaRPr lang="en-US" sz="2000"/>
          </a:p>
        </p:txBody>
      </p:sp>
      <p:sp>
        <p:nvSpPr>
          <p:cNvPr id="1634479877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i="1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Domain &amp; Motivation · System Overview · Infrastructure · Load Balancing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1394365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Domain &amp; Motivation</a:t>
            </a:r>
            <a:endParaRPr lang="en-US" sz="3400"/>
          </a:p>
        </p:txBody>
      </p:sp>
      <p:sp>
        <p:nvSpPr>
          <p:cNvPr id="1900350656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67755624" name="Shape 2"/>
          <p:cNvSpPr/>
          <p:nvPr/>
        </p:nvSpPr>
        <p:spPr bwMode="auto">
          <a:xfrm>
            <a:off x="457200" y="1207008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43028196" name="Shape 3"/>
          <p:cNvSpPr/>
          <p:nvPr/>
        </p:nvSpPr>
        <p:spPr bwMode="auto">
          <a:xfrm>
            <a:off x="457200" y="1207008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85610850" name="Text 4"/>
          <p:cNvSpPr/>
          <p:nvPr/>
        </p:nvSpPr>
        <p:spPr bwMode="auto">
          <a:xfrm>
            <a:off x="685800" y="127101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Legacy SOAP Integration</a:t>
            </a:r>
            <a:endParaRPr lang="en-US" sz="1300"/>
          </a:p>
        </p:txBody>
      </p:sp>
      <p:sp>
        <p:nvSpPr>
          <p:cNvPr id="1373247604" name="Text 5"/>
          <p:cNvSpPr/>
          <p:nvPr/>
        </p:nvSpPr>
        <p:spPr bwMode="auto">
          <a:xfrm>
            <a:off x="685800" y="157276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regional Anagrafe Sanitaria is a real-world institutional system that exposes typed contracts via WSDL (HL7-style). Contract-first SOAP is imposed by the interoperability requirement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not an aesthetic choice.</a:t>
            </a:r>
            <a:endParaRPr lang="en-US" sz="1050"/>
          </a:p>
        </p:txBody>
      </p:sp>
      <p:sp>
        <p:nvSpPr>
          <p:cNvPr id="1158560829" name="Shape 6"/>
          <p:cNvSpPr/>
          <p:nvPr/>
        </p:nvSpPr>
        <p:spPr bwMode="auto">
          <a:xfrm>
            <a:off x="457200" y="2139696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60309" name="Shape 7"/>
          <p:cNvSpPr/>
          <p:nvPr/>
        </p:nvSpPr>
        <p:spPr bwMode="auto">
          <a:xfrm>
            <a:off x="457200" y="2139696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1722169" name="Text 8"/>
          <p:cNvSpPr/>
          <p:nvPr/>
        </p:nvSpPr>
        <p:spPr bwMode="auto">
          <a:xfrm>
            <a:off x="685800" y="220370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Asynchronous Lab Processing</a:t>
            </a:r>
            <a:endParaRPr lang="en-US" sz="1300"/>
          </a:p>
        </p:txBody>
      </p:sp>
      <p:sp>
        <p:nvSpPr>
          <p:cNvPr id="1957992795" name="Text 9"/>
          <p:cNvSpPr/>
          <p:nvPr/>
        </p:nvSpPr>
        <p:spPr bwMode="auto">
          <a:xfrm>
            <a:off x="685800" y="250545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lab panel ordered urgently has real latency while the biological sample is processed. A synchronous call would hold threads and connections; asynchrony is mandated by the physics of the problem.</a:t>
            </a:r>
            <a:endParaRPr lang="en-US" sz="1050"/>
          </a:p>
        </p:txBody>
      </p:sp>
      <p:sp>
        <p:nvSpPr>
          <p:cNvPr id="417314114" name="Shape 10"/>
          <p:cNvSpPr/>
          <p:nvPr/>
        </p:nvSpPr>
        <p:spPr bwMode="auto">
          <a:xfrm>
            <a:off x="457200" y="3072384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20693363" name="Shape 11"/>
          <p:cNvSpPr/>
          <p:nvPr/>
        </p:nvSpPr>
        <p:spPr bwMode="auto">
          <a:xfrm>
            <a:off x="457200" y="3072384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2328590" name="Text 12"/>
          <p:cNvSpPr/>
          <p:nvPr/>
        </p:nvSpPr>
        <p:spPr bwMode="auto">
          <a:xfrm>
            <a:off x="685800" y="31363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Independent Parallel Branches</a:t>
            </a:r>
            <a:endParaRPr lang="en-US" sz="1300"/>
          </a:p>
        </p:txBody>
      </p:sp>
      <p:sp>
        <p:nvSpPr>
          <p:cNvPr id="1978256449" name="Text 13"/>
          <p:cNvSpPr/>
          <p:nvPr/>
        </p:nvSpPr>
        <p:spPr bwMode="auto">
          <a:xfrm>
            <a:off x="685800" y="343814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fitness assessment needs the diagnostic bundle (lab + imaging) AND the clinical history (registry + prescriptions) at the same time. The two data-collection branches are logically independent; sequential execution would needlessly double latency.</a:t>
            </a:r>
            <a:endParaRPr lang="en-US" sz="1050"/>
          </a:p>
        </p:txBody>
      </p:sp>
      <p:sp>
        <p:nvSpPr>
          <p:cNvPr id="1395231843" name="Shape 14"/>
          <p:cNvSpPr/>
          <p:nvPr/>
        </p:nvSpPr>
        <p:spPr bwMode="auto">
          <a:xfrm>
            <a:off x="457200" y="4005072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6504672" name="Shape 15"/>
          <p:cNvSpPr/>
          <p:nvPr/>
        </p:nvSpPr>
        <p:spPr bwMode="auto">
          <a:xfrm>
            <a:off x="457200" y="4005072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8488594" name="Text 16"/>
          <p:cNvSpPr/>
          <p:nvPr/>
        </p:nvSpPr>
        <p:spPr bwMode="auto">
          <a:xfrm>
            <a:off x="685800" y="4069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Bursty Peak Load</a:t>
            </a:r>
            <a:endParaRPr lang="en-US" sz="1300"/>
          </a:p>
        </p:txBody>
      </p:sp>
      <p:sp>
        <p:nvSpPr>
          <p:cNvPr id="558111998" name="Text 17"/>
          <p:cNvSpPr/>
          <p:nvPr/>
        </p:nvSpPr>
        <p:spPr bwMode="auto">
          <a:xfrm>
            <a:off x="685800" y="43708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and Laboratorio sit on the critical path of every workflow and are hit by many clinicians simultaneously during morning rounds and ER rushes. Load is bursty and read-heavy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replication is motivated by specific system behaviour.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69816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System Overview</a:t>
            </a:r>
            <a:endParaRPr lang="en-US" sz="3400"/>
          </a:p>
        </p:txBody>
      </p:sp>
      <p:sp>
        <p:nvSpPr>
          <p:cNvPr id="1176327787" name="Text 24"/>
          <p:cNvSpPr/>
          <p:nvPr/>
        </p:nvSpPr>
        <p:spPr bwMode="auto">
          <a:xfrm>
            <a:off x="6903720" y="3547872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950"/>
          </a:p>
        </p:txBody>
      </p:sp>
      <p:sp>
        <p:nvSpPr>
          <p:cNvPr id="924502360" name="Text 30"/>
          <p:cNvSpPr/>
          <p:nvPr/>
        </p:nvSpPr>
        <p:spPr bwMode="auto">
          <a:xfrm>
            <a:off x="457200" y="449884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1000"/>
          </a:p>
        </p:txBody>
      </p:sp>
      <p:pic>
        <p:nvPicPr>
          <p:cNvPr id="1903858315" name="Immagine 4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17187" y="856670"/>
            <a:ext cx="4909625" cy="415180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49647592" name="Shape 1"/>
          <p:cNvSpPr/>
          <p:nvPr/>
        </p:nvSpPr>
        <p:spPr bwMode="auto">
          <a:xfrm>
            <a:off x="457200" y="745235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4482528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 Services</a:t>
            </a:r>
            <a:endParaRPr lang="en-US" sz="3400"/>
          </a:p>
        </p:txBody>
      </p:sp>
      <p:sp>
        <p:nvSpPr>
          <p:cNvPr id="1649982452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88217934" name="Shape 2"/>
          <p:cNvSpPr/>
          <p:nvPr/>
        </p:nvSpPr>
        <p:spPr bwMode="auto">
          <a:xfrm>
            <a:off x="457200" y="1207008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0158632" name="Text 3"/>
          <p:cNvSpPr/>
          <p:nvPr/>
        </p:nvSpPr>
        <p:spPr bwMode="auto">
          <a:xfrm>
            <a:off x="640080" y="12801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Config Server</a:t>
            </a:r>
            <a:endParaRPr lang="en-US" sz="1400"/>
          </a:p>
        </p:txBody>
      </p:sp>
      <p:sp>
        <p:nvSpPr>
          <p:cNvPr id="1806641122" name="Shape 4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84332633" name="Text 5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:8888</a:t>
            </a:r>
            <a:endParaRPr lang="en-US" sz="1200"/>
          </a:p>
        </p:txBody>
      </p:sp>
      <p:sp>
        <p:nvSpPr>
          <p:cNvPr id="849953566" name="Text 6"/>
          <p:cNvSpPr/>
          <p:nvPr/>
        </p:nvSpPr>
        <p:spPr bwMode="auto">
          <a:xfrm>
            <a:off x="658368" y="160934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Centralises all service properties in a sibling git repository (healthsoa-properties-repository)</a:t>
            </a:r>
            <a:endParaRPr lang="en-US" sz="1050"/>
          </a:p>
        </p:txBody>
      </p:sp>
      <p:sp>
        <p:nvSpPr>
          <p:cNvPr id="1542192565" name="Text 7"/>
          <p:cNvSpPr/>
          <p:nvPr/>
        </p:nvSpPr>
        <p:spPr bwMode="auto">
          <a:xfrm>
            <a:off x="658368" y="1847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Each microservice reads its entire config on startup via spring.config.import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hardcoded values</a:t>
            </a:r>
            <a:endParaRPr lang="en-US" sz="1050"/>
          </a:p>
        </p:txBody>
      </p:sp>
      <p:sp>
        <p:nvSpPr>
          <p:cNvPr id="1712664326" name="Text 8"/>
          <p:cNvSpPr/>
          <p:nvPr/>
        </p:nvSpPr>
        <p:spPr bwMode="auto">
          <a:xfrm>
            <a:off x="658368" y="2084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Runtime refresh: POST /actuator/refresh + @RefreshScope pushes config changes without restarting</a:t>
            </a:r>
            <a:endParaRPr lang="en-US" sz="1050"/>
          </a:p>
        </p:txBody>
      </p:sp>
      <p:sp>
        <p:nvSpPr>
          <p:cNvPr id="1113106052" name="Shape 9"/>
          <p:cNvSpPr/>
          <p:nvPr/>
        </p:nvSpPr>
        <p:spPr bwMode="auto">
          <a:xfrm>
            <a:off x="457200" y="2468880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0388562" name="Text 10"/>
          <p:cNvSpPr/>
          <p:nvPr/>
        </p:nvSpPr>
        <p:spPr bwMode="auto">
          <a:xfrm>
            <a:off x="640080" y="25420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Discovery Server — Eureka</a:t>
            </a:r>
            <a:endParaRPr lang="en-US" sz="1400"/>
          </a:p>
        </p:txBody>
      </p:sp>
      <p:sp>
        <p:nvSpPr>
          <p:cNvPr id="932231587" name="Shape 11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75870114" name="Text 12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:8761</a:t>
            </a:r>
            <a:endParaRPr lang="en-US" sz="1200"/>
          </a:p>
        </p:txBody>
      </p:sp>
      <p:sp>
        <p:nvSpPr>
          <p:cNvPr id="1820941199" name="Text 13"/>
          <p:cNvSpPr/>
          <p:nvPr/>
        </p:nvSpPr>
        <p:spPr bwMode="auto">
          <a:xfrm>
            <a:off x="658368" y="287121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All services self-register at startup via @EnableDiscoveryClient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static address book</a:t>
            </a:r>
            <a:endParaRPr lang="en-US" sz="1050"/>
          </a:p>
        </p:txBody>
      </p:sp>
      <p:sp>
        <p:nvSpPr>
          <p:cNvPr id="1914107210" name="Text 14"/>
          <p:cNvSpPr/>
          <p:nvPr/>
        </p:nvSpPr>
        <p:spPr bwMode="auto">
          <a:xfrm>
            <a:off x="658368" y="3108960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Gateway and Feign clients resolve service names dynamically; load balancing is transparent</a:t>
            </a:r>
            <a:endParaRPr lang="en-US" sz="1050"/>
          </a:p>
        </p:txBody>
      </p:sp>
      <p:sp>
        <p:nvSpPr>
          <p:cNvPr id="157053710" name="Text 15"/>
          <p:cNvSpPr/>
          <p:nvPr/>
        </p:nvSpPr>
        <p:spPr bwMode="auto">
          <a:xfrm>
            <a:off x="658368" y="33467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Health dashboard at http://localhost:8761 shows registered instances and their status</a:t>
            </a:r>
            <a:endParaRPr lang="en-US" sz="1050"/>
          </a:p>
        </p:txBody>
      </p:sp>
      <p:sp>
        <p:nvSpPr>
          <p:cNvPr id="1393005208" name="Shape 16"/>
          <p:cNvSpPr/>
          <p:nvPr/>
        </p:nvSpPr>
        <p:spPr bwMode="auto">
          <a:xfrm>
            <a:off x="457200" y="3730752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85947292" name="Text 17"/>
          <p:cNvSpPr/>
          <p:nvPr/>
        </p:nvSpPr>
        <p:spPr bwMode="auto">
          <a:xfrm>
            <a:off x="640080" y="380390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API Gateway</a:t>
            </a:r>
            <a:endParaRPr lang="en-US" sz="1400"/>
          </a:p>
        </p:txBody>
      </p:sp>
      <p:sp>
        <p:nvSpPr>
          <p:cNvPr id="1765900123" name="Shape 18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6719686" name="Text 19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:9000</a:t>
            </a:r>
            <a:endParaRPr lang="en-US" sz="1200"/>
          </a:p>
        </p:txBody>
      </p:sp>
      <p:sp>
        <p:nvSpPr>
          <p:cNvPr id="1422598258" name="Text 20"/>
          <p:cNvSpPr/>
          <p:nvPr/>
        </p:nvSpPr>
        <p:spPr bwMode="auto">
          <a:xfrm>
            <a:off x="658368" y="4133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Single public entry point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clients never call services directly, only /api/&lt;prefix&gt;/**</a:t>
            </a:r>
            <a:endParaRPr lang="en-US" sz="1050"/>
          </a:p>
        </p:txBody>
      </p:sp>
      <p:sp>
        <p:nvSpPr>
          <p:cNvPr id="863069521" name="Text 21"/>
          <p:cNvSpPr/>
          <p:nvPr/>
        </p:nvSpPr>
        <p:spPr bwMode="auto">
          <a:xfrm>
            <a:off x="658368" y="4370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Routes use lb://service-name URIs; Spring Cloud LoadBalancer picks a healthy replica</a:t>
            </a:r>
            <a:endParaRPr lang="en-US" sz="1050"/>
          </a:p>
        </p:txBody>
      </p:sp>
      <p:sp>
        <p:nvSpPr>
          <p:cNvPr id="975244002" name="Text 22"/>
          <p:cNvSpPr/>
          <p:nvPr/>
        </p:nvSpPr>
        <p:spPr bwMode="auto">
          <a:xfrm>
            <a:off x="658368" y="460857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437339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Load Balancing &amp; Scalability</a:t>
            </a:r>
            <a:endParaRPr lang="en-US" sz="3400"/>
          </a:p>
        </p:txBody>
      </p:sp>
      <p:sp>
        <p:nvSpPr>
          <p:cNvPr id="186724845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5172333" name="Shape 2"/>
          <p:cNvSpPr/>
          <p:nvPr/>
        </p:nvSpPr>
        <p:spPr bwMode="auto">
          <a:xfrm>
            <a:off x="45720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14944195" name="Text 3"/>
          <p:cNvSpPr/>
          <p:nvPr/>
        </p:nvSpPr>
        <p:spPr bwMode="auto">
          <a:xfrm>
            <a:off x="64008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Scalable Services</a:t>
            </a:r>
            <a:endParaRPr lang="en-US" sz="1400"/>
          </a:p>
        </p:txBody>
      </p:sp>
      <p:sp>
        <p:nvSpPr>
          <p:cNvPr id="1851155111" name="Text 4"/>
          <p:cNvSpPr/>
          <p:nvPr/>
        </p:nvSpPr>
        <p:spPr bwMode="auto">
          <a:xfrm>
            <a:off x="658368" y="16916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 :9101</a:t>
            </a:r>
            <a:endParaRPr lang="en-US" sz="1150"/>
          </a:p>
        </p:txBody>
      </p:sp>
      <p:sp>
        <p:nvSpPr>
          <p:cNvPr id="491969961" name="Text 5"/>
          <p:cNvSpPr/>
          <p:nvPr/>
        </p:nvSpPr>
        <p:spPr bwMode="auto">
          <a:xfrm>
            <a:off x="658368" y="1965960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Read-heavy on every workflow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demographics, history, allergies queried by every request</a:t>
            </a:r>
            <a:endParaRPr lang="en-US" sz="950"/>
          </a:p>
        </p:txBody>
      </p:sp>
      <p:sp>
        <p:nvSpPr>
          <p:cNvPr id="1211467931" name="Text 6"/>
          <p:cNvSpPr/>
          <p:nvPr/>
        </p:nvSpPr>
        <p:spPr bwMode="auto">
          <a:xfrm>
            <a:off x="658368" y="244144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 :9102</a:t>
            </a:r>
            <a:endParaRPr lang="en-US" sz="1150"/>
          </a:p>
        </p:txBody>
      </p:sp>
      <p:sp>
        <p:nvSpPr>
          <p:cNvPr id="1070622327" name="Text 7"/>
          <p:cNvSpPr/>
          <p:nvPr/>
        </p:nvSpPr>
        <p:spPr bwMode="auto">
          <a:xfrm>
            <a:off x="658368" y="27157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Peak order bursts during morning rounds and ER rushes; async processing with per-instance thread pools</a:t>
            </a:r>
            <a:endParaRPr lang="en-US" sz="950"/>
          </a:p>
        </p:txBody>
      </p:sp>
      <p:sp>
        <p:nvSpPr>
          <p:cNvPr id="1625928749" name="Text 8"/>
          <p:cNvSpPr/>
          <p:nvPr/>
        </p:nvSpPr>
        <p:spPr bwMode="auto">
          <a:xfrm>
            <a:off x="658368" y="31912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 :9104</a:t>
            </a:r>
            <a:endParaRPr lang="en-US" sz="1150"/>
          </a:p>
        </p:txBody>
      </p:sp>
      <p:sp>
        <p:nvSpPr>
          <p:cNvPr id="1355860306" name="Text 9"/>
          <p:cNvSpPr/>
          <p:nvPr/>
        </p:nvSpPr>
        <p:spPr bwMode="auto">
          <a:xfrm>
            <a:off x="658368" y="3465576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Same bursty profile as Laboratorio; stateless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any replica handles any request</a:t>
            </a:r>
            <a:endParaRPr lang="en-US" sz="950"/>
          </a:p>
        </p:txBody>
      </p:sp>
      <p:sp>
        <p:nvSpPr>
          <p:cNvPr id="1918753949" name="Text 10"/>
          <p:cNvSpPr/>
          <p:nvPr/>
        </p:nvSpPr>
        <p:spPr bwMode="auto">
          <a:xfrm>
            <a:off x="658368" y="394106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Diagnostic Aggregator  :9201</a:t>
            </a:r>
            <a:endParaRPr lang="en-US" sz="1150"/>
          </a:p>
        </p:txBody>
      </p:sp>
      <p:sp>
        <p:nvSpPr>
          <p:cNvPr id="1650094975" name="Text 11"/>
          <p:cNvSpPr/>
          <p:nvPr/>
        </p:nvSpPr>
        <p:spPr bwMode="auto">
          <a:xfrm>
            <a:off x="658368" y="4215384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 path of UC-3; stateless trackingId design enables transparent horizontal scaling</a:t>
            </a:r>
            <a:endParaRPr lang="en-US" sz="950"/>
          </a:p>
        </p:txBody>
      </p:sp>
      <p:sp>
        <p:nvSpPr>
          <p:cNvPr id="143683962" name="Text 12"/>
          <p:cNvSpPr/>
          <p:nvPr/>
        </p:nvSpPr>
        <p:spPr bwMode="auto">
          <a:xfrm>
            <a:off x="658368" y="45720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  <p:sp>
        <p:nvSpPr>
          <p:cNvPr id="356990458" name="Shape 13"/>
          <p:cNvSpPr/>
          <p:nvPr/>
        </p:nvSpPr>
        <p:spPr bwMode="auto">
          <a:xfrm>
            <a:off x="475488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33299970" name="Text 14"/>
          <p:cNvSpPr/>
          <p:nvPr/>
        </p:nvSpPr>
        <p:spPr bwMode="auto"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How It Works</a:t>
            </a:r>
            <a:endParaRPr lang="en-US" sz="1400"/>
          </a:p>
        </p:txBody>
      </p:sp>
      <p:sp>
        <p:nvSpPr>
          <p:cNvPr id="992495700" name="Text 15"/>
          <p:cNvSpPr/>
          <p:nvPr/>
        </p:nvSpPr>
        <p:spPr bwMode="auto">
          <a:xfrm>
            <a:off x="4937760" y="16916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Eureka registration</a:t>
            </a:r>
            <a:endParaRPr lang="en-US" sz="1100"/>
          </a:p>
        </p:txBody>
      </p:sp>
      <p:sp>
        <p:nvSpPr>
          <p:cNvPr id="1640365445" name="Text 16"/>
          <p:cNvSpPr/>
          <p:nvPr/>
        </p:nvSpPr>
        <p:spPr bwMode="auto">
          <a:xfrm>
            <a:off x="4937760" y="1947671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Every replica self-registers; gateway and Feign query the live registry at call time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static routes.</a:t>
            </a:r>
            <a:endParaRPr lang="en-US" sz="950"/>
          </a:p>
        </p:txBody>
      </p:sp>
      <p:sp>
        <p:nvSpPr>
          <p:cNvPr id="146915764" name="Text 17"/>
          <p:cNvSpPr/>
          <p:nvPr/>
        </p:nvSpPr>
        <p:spPr bwMode="auto">
          <a:xfrm>
            <a:off x="4937760" y="2359152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lb:// routing</a:t>
            </a:r>
            <a:endParaRPr lang="en-US" sz="1100"/>
          </a:p>
        </p:txBody>
      </p:sp>
      <p:sp>
        <p:nvSpPr>
          <p:cNvPr id="1005160688" name="Text 18"/>
          <p:cNvSpPr/>
          <p:nvPr/>
        </p:nvSpPr>
        <p:spPr bwMode="auto">
          <a:xfrm>
            <a:off x="4937760" y="26151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Gateway routes contain lb://service-name; Spring Cloud LoadBalancer distributes across healthy instances.</a:t>
            </a:r>
            <a:endParaRPr lang="en-US" sz="950"/>
          </a:p>
        </p:txBody>
      </p:sp>
      <p:sp>
        <p:nvSpPr>
          <p:cNvPr id="1662667618" name="Text 19"/>
          <p:cNvSpPr/>
          <p:nvPr/>
        </p:nvSpPr>
        <p:spPr bwMode="auto">
          <a:xfrm>
            <a:off x="4937760" y="3026664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@FeignClient(name=…)</a:t>
            </a:r>
            <a:endParaRPr lang="en-US" sz="1100"/>
          </a:p>
        </p:txBody>
      </p:sp>
      <p:sp>
        <p:nvSpPr>
          <p:cNvPr id="1243196519" name="Text 20"/>
          <p:cNvSpPr/>
          <p:nvPr/>
        </p:nvSpPr>
        <p:spPr bwMode="auto">
          <a:xfrm>
            <a:off x="4937760" y="328269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Feign resolves the name via Eureka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IP, no port. Round-robin load balancing is implicit.</a:t>
            </a:r>
            <a:endParaRPr lang="en-US" sz="950"/>
          </a:p>
        </p:txBody>
      </p:sp>
      <p:sp>
        <p:nvSpPr>
          <p:cNvPr id="2060036309" name="Text 21"/>
          <p:cNvSpPr/>
          <p:nvPr/>
        </p:nvSpPr>
        <p:spPr bwMode="auto">
          <a:xfrm>
            <a:off x="4937760" y="369417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docker-compose --scale</a:t>
            </a:r>
            <a:endParaRPr lang="en-US" sz="1100"/>
          </a:p>
        </p:txBody>
      </p:sp>
      <p:sp>
        <p:nvSpPr>
          <p:cNvPr id="973880422" name="Text 22"/>
          <p:cNvSpPr/>
          <p:nvPr/>
        </p:nvSpPr>
        <p:spPr bwMode="auto">
          <a:xfrm>
            <a:off x="4937760" y="395020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docker-compose up --scale laboratorio-service=3 spins up replicas with zero code changes.</a:t>
            </a:r>
            <a:endParaRPr lang="en-US" sz="950"/>
          </a:p>
        </p:txBody>
      </p:sp>
      <p:sp>
        <p:nvSpPr>
          <p:cNvPr id="891610182" name="Text 23"/>
          <p:cNvSpPr/>
          <p:nvPr/>
        </p:nvSpPr>
        <p:spPr bwMode="auto">
          <a:xfrm>
            <a:off x="4937760" y="436168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sp>
        <p:nvSpPr>
          <p:cNvPr id="843253482" name="Text 24"/>
          <p:cNvSpPr/>
          <p:nvPr/>
        </p:nvSpPr>
        <p:spPr bwMode="auto">
          <a:xfrm>
            <a:off x="4937760" y="46177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  <p:sp>
        <p:nvSpPr>
          <p:cNvPr id="1666471183" name="Text 25"/>
          <p:cNvSpPr/>
          <p:nvPr/>
        </p:nvSpPr>
        <p:spPr bwMode="auto">
          <a:xfrm>
            <a:off x="4937760" y="4572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3589494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2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Providers, Prosumers &amp; Data Model</a:t>
            </a:r>
            <a:endParaRPr lang="en-US" sz="4200"/>
          </a:p>
        </p:txBody>
      </p:sp>
      <p:sp>
        <p:nvSpPr>
          <p:cNvPr id="686837681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665896384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  <p:sp>
        <p:nvSpPr>
          <p:cNvPr id="1059677004" name="Text 1"/>
          <p:cNvSpPr/>
          <p:nvPr/>
        </p:nvSpPr>
        <p:spPr bwMode="auto">
          <a:xfrm>
            <a:off x="883919" y="2666999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Lorenzo Di Giandomenico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995874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Providers</a:t>
            </a:r>
            <a:endParaRPr lang="en-US" sz="3400"/>
          </a:p>
        </p:txBody>
      </p:sp>
      <p:sp>
        <p:nvSpPr>
          <p:cNvPr id="1970596405" name="Shape 1"/>
          <p:cNvSpPr/>
          <p:nvPr/>
        </p:nvSpPr>
        <p:spPr bwMode="auto">
          <a:xfrm>
            <a:off x="457200" y="71323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84374650" name="Shape 2"/>
          <p:cNvSpPr/>
          <p:nvPr/>
        </p:nvSpPr>
        <p:spPr bwMode="auto">
          <a:xfrm>
            <a:off x="264115" y="886968"/>
            <a:ext cx="16459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32638475" name="Text 3"/>
          <p:cNvSpPr/>
          <p:nvPr/>
        </p:nvSpPr>
        <p:spPr bwMode="auto">
          <a:xfrm>
            <a:off x="328123" y="886968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1800032250" name="Shape 4"/>
          <p:cNvSpPr/>
          <p:nvPr/>
        </p:nvSpPr>
        <p:spPr bwMode="auto">
          <a:xfrm>
            <a:off x="1910035" y="886968"/>
            <a:ext cx="11887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5608562" name="Text 5"/>
          <p:cNvSpPr/>
          <p:nvPr/>
        </p:nvSpPr>
        <p:spPr bwMode="auto">
          <a:xfrm>
            <a:off x="1974043" y="886968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Protocol</a:t>
            </a:r>
            <a:endParaRPr lang="en-US" sz="1200"/>
          </a:p>
        </p:txBody>
      </p:sp>
      <p:sp>
        <p:nvSpPr>
          <p:cNvPr id="2146447765" name="Shape 6"/>
          <p:cNvSpPr/>
          <p:nvPr/>
        </p:nvSpPr>
        <p:spPr bwMode="auto">
          <a:xfrm>
            <a:off x="3098755" y="886968"/>
            <a:ext cx="7315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83189010" name="Text 7"/>
          <p:cNvSpPr/>
          <p:nvPr/>
        </p:nvSpPr>
        <p:spPr bwMode="auto">
          <a:xfrm>
            <a:off x="3162763" y="886968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503798662" name="Shape 8"/>
          <p:cNvSpPr/>
          <p:nvPr/>
        </p:nvSpPr>
        <p:spPr bwMode="auto">
          <a:xfrm>
            <a:off x="3830275" y="886968"/>
            <a:ext cx="512064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316378" name="Text 9"/>
          <p:cNvSpPr/>
          <p:nvPr/>
        </p:nvSpPr>
        <p:spPr bwMode="auto">
          <a:xfrm>
            <a:off x="3894283" y="886968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Responsibility</a:t>
            </a:r>
            <a:endParaRPr lang="en-US" sz="1200"/>
          </a:p>
        </p:txBody>
      </p:sp>
      <p:sp>
        <p:nvSpPr>
          <p:cNvPr id="848728131" name="Shape 10"/>
          <p:cNvSpPr/>
          <p:nvPr/>
        </p:nvSpPr>
        <p:spPr bwMode="auto">
          <a:xfrm>
            <a:off x="264115" y="1682496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374975" name="Text 11"/>
          <p:cNvSpPr/>
          <p:nvPr/>
        </p:nvSpPr>
        <p:spPr bwMode="auto">
          <a:xfrm>
            <a:off x="328123" y="1682496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2107660052" name="Shape 12"/>
          <p:cNvSpPr/>
          <p:nvPr/>
        </p:nvSpPr>
        <p:spPr bwMode="auto">
          <a:xfrm>
            <a:off x="1910035" y="1682496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0888194" name="Text 13"/>
          <p:cNvSpPr/>
          <p:nvPr/>
        </p:nvSpPr>
        <p:spPr bwMode="auto">
          <a:xfrm>
            <a:off x="1974043" y="1682496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(CXF)</a:t>
            </a:r>
            <a:endParaRPr lang="en-US" sz="1100"/>
          </a:p>
        </p:txBody>
      </p:sp>
      <p:sp>
        <p:nvSpPr>
          <p:cNvPr id="844653865" name="Shape 14"/>
          <p:cNvSpPr/>
          <p:nvPr/>
        </p:nvSpPr>
        <p:spPr bwMode="auto">
          <a:xfrm>
            <a:off x="3098755" y="1682496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64422381" name="Text 15"/>
          <p:cNvSpPr/>
          <p:nvPr/>
        </p:nvSpPr>
        <p:spPr bwMode="auto">
          <a:xfrm>
            <a:off x="3162763" y="1682496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9101</a:t>
            </a:r>
            <a:endParaRPr lang="en-US" sz="1300"/>
          </a:p>
        </p:txBody>
      </p:sp>
      <p:sp>
        <p:nvSpPr>
          <p:cNvPr id="1411719487" name="Shape 16"/>
          <p:cNvSpPr/>
          <p:nvPr/>
        </p:nvSpPr>
        <p:spPr bwMode="auto">
          <a:xfrm>
            <a:off x="3830275" y="1682496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7896585" name="Text 17"/>
          <p:cNvSpPr/>
          <p:nvPr/>
        </p:nvSpPr>
        <p:spPr bwMode="auto">
          <a:xfrm>
            <a:off x="3894283" y="1682496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demographics, medical history (conditions)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and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known allergies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b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</a:b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ontract-first WSDL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1436421761" name="Shape 18"/>
          <p:cNvSpPr/>
          <p:nvPr/>
        </p:nvSpPr>
        <p:spPr bwMode="auto">
          <a:xfrm>
            <a:off x="264115" y="2478024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5027380" name="Text 19"/>
          <p:cNvSpPr/>
          <p:nvPr/>
        </p:nvSpPr>
        <p:spPr bwMode="auto">
          <a:xfrm>
            <a:off x="328123" y="2478024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1562729340" name="Shape 20"/>
          <p:cNvSpPr/>
          <p:nvPr/>
        </p:nvSpPr>
        <p:spPr bwMode="auto">
          <a:xfrm>
            <a:off x="1910035" y="2478024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361042" name="Text 21"/>
          <p:cNvSpPr/>
          <p:nvPr/>
        </p:nvSpPr>
        <p:spPr bwMode="auto">
          <a:xfrm>
            <a:off x="1974043" y="2478024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async</a:t>
            </a:r>
            <a:endParaRPr lang="en-US" sz="1100"/>
          </a:p>
        </p:txBody>
      </p:sp>
      <p:sp>
        <p:nvSpPr>
          <p:cNvPr id="1374775926" name="Shape 22"/>
          <p:cNvSpPr/>
          <p:nvPr/>
        </p:nvSpPr>
        <p:spPr bwMode="auto">
          <a:xfrm>
            <a:off x="3098755" y="2478024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9678532" name="Text 23"/>
          <p:cNvSpPr/>
          <p:nvPr/>
        </p:nvSpPr>
        <p:spPr bwMode="auto">
          <a:xfrm>
            <a:off x="3162763" y="2478024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9102</a:t>
            </a:r>
            <a:endParaRPr lang="en-US" sz="1300"/>
          </a:p>
        </p:txBody>
      </p:sp>
      <p:sp>
        <p:nvSpPr>
          <p:cNvPr id="1927098430" name="Shape 24"/>
          <p:cNvSpPr/>
          <p:nvPr/>
        </p:nvSpPr>
        <p:spPr bwMode="auto">
          <a:xfrm>
            <a:off x="3830275" y="2478024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95382761" name="Text 25"/>
          <p:cNvSpPr/>
          <p:nvPr/>
        </p:nvSpPr>
        <p:spPr bwMode="auto">
          <a:xfrm>
            <a:off x="3894283" y="2478024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 test orders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and measurements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status polling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for 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result retrieval, callback/webhook support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119208180" name="Shape 26"/>
          <p:cNvSpPr/>
          <p:nvPr/>
        </p:nvSpPr>
        <p:spPr bwMode="auto">
          <a:xfrm>
            <a:off x="264115" y="3273552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1684620" name="Text 27"/>
          <p:cNvSpPr/>
          <p:nvPr/>
        </p:nvSpPr>
        <p:spPr bwMode="auto">
          <a:xfrm>
            <a:off x="328123" y="3273552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Farmacia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1629134471" name="Shape 28"/>
          <p:cNvSpPr/>
          <p:nvPr/>
        </p:nvSpPr>
        <p:spPr bwMode="auto">
          <a:xfrm>
            <a:off x="1910035" y="3273552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3508160" name="Text 29"/>
          <p:cNvSpPr/>
          <p:nvPr/>
        </p:nvSpPr>
        <p:spPr bwMode="auto">
          <a:xfrm>
            <a:off x="1974043" y="3273552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endParaRPr lang="en-US" sz="1100"/>
          </a:p>
        </p:txBody>
      </p:sp>
      <p:sp>
        <p:nvSpPr>
          <p:cNvPr id="144503953" name="Shape 30"/>
          <p:cNvSpPr/>
          <p:nvPr/>
        </p:nvSpPr>
        <p:spPr bwMode="auto">
          <a:xfrm>
            <a:off x="3098755" y="3273552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1496016" name="Text 31"/>
          <p:cNvSpPr/>
          <p:nvPr/>
        </p:nvSpPr>
        <p:spPr bwMode="auto">
          <a:xfrm>
            <a:off x="3162763" y="3273552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9103</a:t>
            </a:r>
            <a:endParaRPr lang="en-US" sz="1300"/>
          </a:p>
        </p:txBody>
      </p:sp>
      <p:sp>
        <p:nvSpPr>
          <p:cNvPr id="210614835" name="Shape 32"/>
          <p:cNvSpPr/>
          <p:nvPr/>
        </p:nvSpPr>
        <p:spPr bwMode="auto">
          <a:xfrm>
            <a:off x="3830275" y="3273552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67469889" name="Text 33"/>
          <p:cNvSpPr/>
          <p:nvPr/>
        </p:nvSpPr>
        <p:spPr bwMode="auto">
          <a:xfrm>
            <a:off x="3894283" y="3273552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Active prescriptions per patient, drug interaction check endpoint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313316586" name="Shape 34"/>
          <p:cNvSpPr/>
          <p:nvPr/>
        </p:nvSpPr>
        <p:spPr bwMode="auto">
          <a:xfrm>
            <a:off x="264115" y="4069080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3820799" name="Text 35"/>
          <p:cNvSpPr/>
          <p:nvPr/>
        </p:nvSpPr>
        <p:spPr bwMode="auto">
          <a:xfrm>
            <a:off x="328123" y="406908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Service</a:t>
            </a:r>
            <a:endParaRPr lang="en-US" sz="1100"/>
          </a:p>
        </p:txBody>
      </p:sp>
      <p:sp>
        <p:nvSpPr>
          <p:cNvPr id="1022002167" name="Shape 36"/>
          <p:cNvSpPr/>
          <p:nvPr/>
        </p:nvSpPr>
        <p:spPr bwMode="auto">
          <a:xfrm>
            <a:off x="1910035" y="4069080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3667956" name="Text 37"/>
          <p:cNvSpPr/>
          <p:nvPr/>
        </p:nvSpPr>
        <p:spPr bwMode="auto">
          <a:xfrm>
            <a:off x="1974043" y="40690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async</a:t>
            </a:r>
            <a:endParaRPr lang="en-US" sz="1100"/>
          </a:p>
        </p:txBody>
      </p:sp>
      <p:sp>
        <p:nvSpPr>
          <p:cNvPr id="2025872863" name="Shape 38"/>
          <p:cNvSpPr/>
          <p:nvPr/>
        </p:nvSpPr>
        <p:spPr bwMode="auto">
          <a:xfrm>
            <a:off x="3098755" y="4069080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5387054" name="Text 39"/>
          <p:cNvSpPr/>
          <p:nvPr/>
        </p:nvSpPr>
        <p:spPr bwMode="auto">
          <a:xfrm>
            <a:off x="3162763" y="406908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9104</a:t>
            </a:r>
            <a:endParaRPr lang="en-US" sz="1300"/>
          </a:p>
        </p:txBody>
      </p:sp>
      <p:sp>
        <p:nvSpPr>
          <p:cNvPr id="907031996" name="Shape 40"/>
          <p:cNvSpPr/>
          <p:nvPr/>
        </p:nvSpPr>
        <p:spPr bwMode="auto">
          <a:xfrm>
            <a:off x="3830275" y="406908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93478844" name="Text 41"/>
          <p:cNvSpPr/>
          <p:nvPr/>
        </p:nvSpPr>
        <p:spPr bwMode="auto">
          <a:xfrm>
            <a:off x="3894283" y="406908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Radiology and imaging reports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same async model as Laboratorio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Service.</a:t>
            </a:r>
            <a:endParaRPr lang="en-US" sz="1100"/>
          </a:p>
        </p:txBody>
      </p:sp>
      <p:sp>
        <p:nvSpPr>
          <p:cNvPr id="1075885197" name="Text 42"/>
          <p:cNvSpPr/>
          <p:nvPr/>
        </p:nvSpPr>
        <p:spPr bwMode="auto">
          <a:xfrm>
            <a:off x="457200" y="479145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316665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Prosumers</a:t>
            </a:r>
            <a:endParaRPr lang="en-US" sz="3400"/>
          </a:p>
        </p:txBody>
      </p:sp>
      <p:sp>
        <p:nvSpPr>
          <p:cNvPr id="1912535661" name="Shape 1"/>
          <p:cNvSpPr/>
          <p:nvPr/>
        </p:nvSpPr>
        <p:spPr bwMode="auto">
          <a:xfrm>
            <a:off x="429768" y="772668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5100229" name="Shape 2"/>
          <p:cNvSpPr/>
          <p:nvPr/>
        </p:nvSpPr>
        <p:spPr bwMode="auto">
          <a:xfrm>
            <a:off x="274319" y="882396"/>
            <a:ext cx="12801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21738107" name="Text 3"/>
          <p:cNvSpPr/>
          <p:nvPr/>
        </p:nvSpPr>
        <p:spPr bwMode="auto">
          <a:xfrm>
            <a:off x="338327" y="882396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1148442585" name="Shape 4"/>
          <p:cNvSpPr/>
          <p:nvPr/>
        </p:nvSpPr>
        <p:spPr bwMode="auto">
          <a:xfrm>
            <a:off x="1554479" y="882396"/>
            <a:ext cx="64008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4501253" name="Text 5"/>
          <p:cNvSpPr/>
          <p:nvPr/>
        </p:nvSpPr>
        <p:spPr bwMode="auto">
          <a:xfrm>
            <a:off x="1618487" y="882396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460695486" name="Shape 6"/>
          <p:cNvSpPr/>
          <p:nvPr/>
        </p:nvSpPr>
        <p:spPr bwMode="auto">
          <a:xfrm>
            <a:off x="2194559" y="882396"/>
            <a:ext cx="228600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0961320" name="Text 7"/>
          <p:cNvSpPr/>
          <p:nvPr/>
        </p:nvSpPr>
        <p:spPr bwMode="auto">
          <a:xfrm>
            <a:off x="2258567" y="88239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Providers Consumed</a:t>
            </a:r>
            <a:endParaRPr lang="en-US" sz="1200"/>
          </a:p>
        </p:txBody>
      </p:sp>
      <p:sp>
        <p:nvSpPr>
          <p:cNvPr id="218509527" name="Shape 8"/>
          <p:cNvSpPr/>
          <p:nvPr/>
        </p:nvSpPr>
        <p:spPr bwMode="auto">
          <a:xfrm>
            <a:off x="4480559" y="882396"/>
            <a:ext cx="44805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38283786" name="Text 9"/>
          <p:cNvSpPr/>
          <p:nvPr/>
        </p:nvSpPr>
        <p:spPr bwMode="auto">
          <a:xfrm>
            <a:off x="4544568" y="882396"/>
            <a:ext cx="4389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</a:t>
            </a:r>
            <a:endParaRPr lang="en-US" sz="1200"/>
          </a:p>
        </p:txBody>
      </p:sp>
      <p:sp>
        <p:nvSpPr>
          <p:cNvPr id="414677884" name="Shape 10"/>
          <p:cNvSpPr/>
          <p:nvPr/>
        </p:nvSpPr>
        <p:spPr bwMode="auto">
          <a:xfrm>
            <a:off x="274319" y="132130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24037517" name="Text 11"/>
          <p:cNvSpPr/>
          <p:nvPr/>
        </p:nvSpPr>
        <p:spPr bwMode="auto">
          <a:xfrm>
            <a:off x="338327" y="132130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700739712" name="Shape 12"/>
          <p:cNvSpPr/>
          <p:nvPr/>
        </p:nvSpPr>
        <p:spPr bwMode="auto">
          <a:xfrm>
            <a:off x="1554479" y="132130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5214618" name="Text 13"/>
          <p:cNvSpPr/>
          <p:nvPr/>
        </p:nvSpPr>
        <p:spPr bwMode="auto">
          <a:xfrm>
            <a:off x="1618487" y="132130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9201</a:t>
            </a:r>
            <a:endParaRPr lang="en-US" sz="1200"/>
          </a:p>
        </p:txBody>
      </p:sp>
      <p:sp>
        <p:nvSpPr>
          <p:cNvPr id="1657540169" name="Shape 14"/>
          <p:cNvSpPr/>
          <p:nvPr/>
        </p:nvSpPr>
        <p:spPr bwMode="auto">
          <a:xfrm>
            <a:off x="2194559" y="132130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8935552" name="Text 15"/>
          <p:cNvSpPr/>
          <p:nvPr/>
        </p:nvSpPr>
        <p:spPr bwMode="auto">
          <a:xfrm>
            <a:off x="2258567" y="132130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Serivce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 async)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Imaging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 async)</a:t>
            </a:r>
            <a:endParaRPr lang="en-US" sz="1050"/>
          </a:p>
        </p:txBody>
      </p:sp>
      <p:sp>
        <p:nvSpPr>
          <p:cNvPr id="1580608229" name="Shape 16"/>
          <p:cNvSpPr/>
          <p:nvPr/>
        </p:nvSpPr>
        <p:spPr bwMode="auto">
          <a:xfrm>
            <a:off x="4480559" y="132130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92191284" name="Text 17"/>
          <p:cNvSpPr/>
          <p:nvPr/>
        </p:nvSpPr>
        <p:spPr bwMode="auto">
          <a:xfrm>
            <a:off x="4544568" y="132130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UC-3: Order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diagnostic panel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process the request asynchronously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compose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TestResults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ImagingReports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filtered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by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panel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value, to build a Diagno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stic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Bundle.</a:t>
            </a:r>
            <a:endParaRPr lang="en-US" sz="1050"/>
          </a:p>
        </p:txBody>
      </p:sp>
      <p:sp>
        <p:nvSpPr>
          <p:cNvPr id="292895066" name="Shape 18"/>
          <p:cNvSpPr/>
          <p:nvPr/>
        </p:nvSpPr>
        <p:spPr bwMode="auto">
          <a:xfrm>
            <a:off x="274319" y="251002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4841042" name="Text 19"/>
          <p:cNvSpPr/>
          <p:nvPr/>
        </p:nvSpPr>
        <p:spPr bwMode="auto">
          <a:xfrm>
            <a:off x="338327" y="251002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954542394" name="Shape 20"/>
          <p:cNvSpPr/>
          <p:nvPr/>
        </p:nvSpPr>
        <p:spPr bwMode="auto">
          <a:xfrm>
            <a:off x="1554479" y="251002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0429031" name="Text 21"/>
          <p:cNvSpPr/>
          <p:nvPr/>
        </p:nvSpPr>
        <p:spPr bwMode="auto">
          <a:xfrm>
            <a:off x="1618487" y="251002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9202</a:t>
            </a:r>
            <a:endParaRPr lang="en-US" sz="1200"/>
          </a:p>
        </p:txBody>
      </p:sp>
      <p:sp>
        <p:nvSpPr>
          <p:cNvPr id="1426431664" name="Shape 22"/>
          <p:cNvSpPr/>
          <p:nvPr/>
        </p:nvSpPr>
        <p:spPr bwMode="auto">
          <a:xfrm>
            <a:off x="2194559" y="251002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1825463" name="Text 23"/>
          <p:cNvSpPr/>
          <p:nvPr/>
        </p:nvSpPr>
        <p:spPr bwMode="auto">
          <a:xfrm>
            <a:off x="2258567" y="251002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(SOAP/CXF)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Farmacia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(REST)</a:t>
            </a:r>
            <a:endParaRPr lang="en-US" sz="1050"/>
          </a:p>
        </p:txBody>
      </p:sp>
      <p:sp>
        <p:nvSpPr>
          <p:cNvPr id="919098144" name="Shape 24"/>
          <p:cNvSpPr/>
          <p:nvPr/>
        </p:nvSpPr>
        <p:spPr bwMode="auto">
          <a:xfrm>
            <a:off x="4480559" y="251002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61581113" name="Text 25"/>
          <p:cNvSpPr/>
          <p:nvPr/>
        </p:nvSpPr>
        <p:spPr bwMode="auto">
          <a:xfrm>
            <a:off x="4544568" y="251002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UC-2: Bridge SOAP↔RES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compose demographics + history + prescriptions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to build a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ClinicalProfile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050"/>
          </a:p>
        </p:txBody>
      </p:sp>
      <p:sp>
        <p:nvSpPr>
          <p:cNvPr id="880568188" name="Shape 26"/>
          <p:cNvSpPr/>
          <p:nvPr/>
        </p:nvSpPr>
        <p:spPr bwMode="auto">
          <a:xfrm>
            <a:off x="274319" y="369874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675057" name="Text 27"/>
          <p:cNvSpPr/>
          <p:nvPr/>
        </p:nvSpPr>
        <p:spPr bwMode="auto">
          <a:xfrm>
            <a:off x="338327" y="369874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Care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Coordinator</a:t>
            </a:r>
            <a:endParaRPr lang="en-US" sz="1050"/>
          </a:p>
        </p:txBody>
      </p:sp>
      <p:sp>
        <p:nvSpPr>
          <p:cNvPr id="831128443" name="Shape 28"/>
          <p:cNvSpPr/>
          <p:nvPr/>
        </p:nvSpPr>
        <p:spPr bwMode="auto">
          <a:xfrm>
            <a:off x="1554479" y="369874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1258179" name="Text 29"/>
          <p:cNvSpPr/>
          <p:nvPr/>
        </p:nvSpPr>
        <p:spPr bwMode="auto">
          <a:xfrm>
            <a:off x="1618487" y="369874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9203</a:t>
            </a:r>
            <a:endParaRPr lang="en-US" sz="1200"/>
          </a:p>
        </p:txBody>
      </p:sp>
      <p:sp>
        <p:nvSpPr>
          <p:cNvPr id="768014270" name="Shape 30"/>
          <p:cNvSpPr/>
          <p:nvPr/>
        </p:nvSpPr>
        <p:spPr bwMode="auto">
          <a:xfrm>
            <a:off x="2194559" y="369874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34279098" name="Text 31"/>
          <p:cNvSpPr/>
          <p:nvPr/>
        </p:nvSpPr>
        <p:spPr bwMode="auto">
          <a:xfrm>
            <a:off x="2258567" y="369874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Aggregator (REST)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Aggregator (REST)</a:t>
            </a:r>
            <a:endParaRPr lang="en-US" sz="1050">
              <a:solidFill>
                <a:srgbClr val="595959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  <a:defRPr/>
            </a:pPr>
            <a:r>
              <a:rPr lang="it-IT" sz="1050" i="1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Here we consume Prosumers!</a:t>
            </a:r>
            <a:endParaRPr sz="1050" i="1">
              <a:solidFill>
                <a:srgbClr val="595959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24889806" name="Shape 32"/>
          <p:cNvSpPr/>
          <p:nvPr/>
        </p:nvSpPr>
        <p:spPr bwMode="auto">
          <a:xfrm>
            <a:off x="4480559" y="369874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2575847" name="Text 33"/>
          <p:cNvSpPr/>
          <p:nvPr/>
        </p:nvSpPr>
        <p:spPr bwMode="auto">
          <a:xfrm>
            <a:off x="4544568" y="369874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UC-1: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omplete fitness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assessment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for a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done with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arallel orchestration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- </a:t>
            </a:r>
            <a:r>
              <a:rPr>
                <a:solidFill>
                  <a:srgbClr val="595959"/>
                </a:solidFill>
              </a:rPr>
              <a:t>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results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cross-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reference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 into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FitnessReport</a:t>
            </a:r>
            <a:r>
              <a:rPr lang="it-IT" sz="1050"/>
              <a:t>.</a:t>
            </a:r>
            <a:endParaRPr lang="en-US" sz="1050"/>
          </a:p>
        </p:txBody>
      </p:sp>
      <p:sp>
        <p:nvSpPr>
          <p:cNvPr id="1152855111" name="Text 34"/>
          <p:cNvSpPr/>
          <p:nvPr/>
        </p:nvSpPr>
        <p:spPr bwMode="auto">
          <a:xfrm>
            <a:off x="274319" y="481431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246309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Key Data Structures</a:t>
            </a:r>
            <a:endParaRPr lang="en-US" sz="3400"/>
          </a:p>
        </p:txBody>
      </p:sp>
      <p:sp>
        <p:nvSpPr>
          <p:cNvPr id="1824875483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2659384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29682513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Domain Objects (Providers)</a:t>
            </a:r>
            <a:endParaRPr lang="en-US" sz="1300"/>
          </a:p>
        </p:txBody>
      </p:sp>
      <p:sp>
        <p:nvSpPr>
          <p:cNvPr id="34955336" name="Text 4"/>
          <p:cNvSpPr/>
          <p:nvPr/>
        </p:nvSpPr>
        <p:spPr bwMode="auto">
          <a:xfrm>
            <a:off x="640079" y="17922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Patient</a:t>
            </a:r>
            <a:endParaRPr lang="en-US" sz="1100"/>
          </a:p>
        </p:txBody>
      </p:sp>
      <p:sp>
        <p:nvSpPr>
          <p:cNvPr id="550678214" name="Text 5"/>
          <p:cNvSpPr/>
          <p:nvPr/>
        </p:nvSpPr>
        <p:spPr bwMode="auto">
          <a:xfrm>
            <a:off x="1874519" y="17465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id · fiscal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first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name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last name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of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irth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· gender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phone number</a:t>
            </a:r>
            <a:endParaRPr lang="en-US" sz="900"/>
          </a:p>
        </p:txBody>
      </p:sp>
      <p:sp>
        <p:nvSpPr>
          <p:cNvPr id="187787055" name="Text 6"/>
          <p:cNvSpPr/>
          <p:nvPr/>
        </p:nvSpPr>
        <p:spPr bwMode="auto">
          <a:xfrm>
            <a:off x="640079" y="22494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Condition</a:t>
            </a:r>
            <a:endParaRPr lang="en-US" sz="1100"/>
          </a:p>
        </p:txBody>
      </p:sp>
      <p:sp>
        <p:nvSpPr>
          <p:cNvPr id="749895548" name="Text 7"/>
          <p:cNvSpPr/>
          <p:nvPr/>
        </p:nvSpPr>
        <p:spPr bwMode="auto">
          <a:xfrm>
            <a:off x="1874519" y="22037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icd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10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description · diagnosis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· status (ACTIVE/RESOLVED)</a:t>
            </a:r>
            <a:endParaRPr lang="en-US" sz="900"/>
          </a:p>
        </p:txBody>
      </p:sp>
      <p:sp>
        <p:nvSpPr>
          <p:cNvPr id="1936635098" name="Text 8"/>
          <p:cNvSpPr/>
          <p:nvPr/>
        </p:nvSpPr>
        <p:spPr bwMode="auto">
          <a:xfrm>
            <a:off x="640079" y="27066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Allergy</a:t>
            </a:r>
            <a:endParaRPr lang="en-US" sz="1100"/>
          </a:p>
        </p:txBody>
      </p:sp>
      <p:sp>
        <p:nvSpPr>
          <p:cNvPr id="827034460" name="Text 9"/>
          <p:cNvSpPr/>
          <p:nvPr/>
        </p:nvSpPr>
        <p:spPr bwMode="auto">
          <a:xfrm>
            <a:off x="1874519" y="26609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substance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severity (MILD/SEVERE/ANAPHYLACTIC) · detected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</a:t>
            </a:r>
            <a:endParaRPr lang="en-US" sz="900"/>
          </a:p>
        </p:txBody>
      </p:sp>
      <p:sp>
        <p:nvSpPr>
          <p:cNvPr id="481102714" name="Text 10"/>
          <p:cNvSpPr/>
          <p:nvPr/>
        </p:nvSpPr>
        <p:spPr bwMode="auto">
          <a:xfrm>
            <a:off x="640079" y="316382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Prescription</a:t>
            </a:r>
            <a:endParaRPr lang="en-US" sz="1100"/>
          </a:p>
        </p:txBody>
      </p:sp>
      <p:sp>
        <p:nvSpPr>
          <p:cNvPr id="1121331854" name="Text 11"/>
          <p:cNvSpPr/>
          <p:nvPr/>
        </p:nvSpPr>
        <p:spPr bwMode="auto">
          <a:xfrm>
            <a:off x="1874519" y="312724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drug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ame · atc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dosage · frequency · start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date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end date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prescribing doctor.</a:t>
            </a:r>
            <a:endParaRPr lang="en-US" sz="900"/>
          </a:p>
        </p:txBody>
      </p:sp>
      <p:sp>
        <p:nvSpPr>
          <p:cNvPr id="1412929629" name="Text 12"/>
          <p:cNvSpPr/>
          <p:nvPr/>
        </p:nvSpPr>
        <p:spPr bwMode="auto">
          <a:xfrm>
            <a:off x="640079" y="36210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Test</a:t>
            </a:r>
            <a:r>
              <a:rPr lang="it-IT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Order</a:t>
            </a:r>
            <a:endParaRPr lang="en-US" sz="1100"/>
          </a:p>
        </p:txBody>
      </p:sp>
      <p:sp>
        <p:nvSpPr>
          <p:cNvPr id="857153640" name="Text 13"/>
          <p:cNvSpPr/>
          <p:nvPr/>
        </p:nvSpPr>
        <p:spPr bwMode="auto">
          <a:xfrm>
            <a:off x="1874519" y="35753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 ·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patient id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exam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status (PENDING/PROCESSING/COMPLETED/ERROR)</a:t>
            </a:r>
            <a:r>
              <a:rPr lang="it-IT" sz="900"/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of creation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date of update</a:t>
            </a:r>
            <a:endParaRPr lang="en-US" sz="900" b="0" i="0" u="none" strike="noStrike" cap="none" spc="0">
              <a:solidFill>
                <a:srgbClr val="595959"/>
              </a:solidFill>
              <a:latin typeface="Calibri"/>
              <a:cs typeface="Calibri"/>
            </a:endParaRPr>
          </a:p>
        </p:txBody>
      </p:sp>
      <p:sp>
        <p:nvSpPr>
          <p:cNvPr id="1073115331" name="Text 14"/>
          <p:cNvSpPr/>
          <p:nvPr/>
        </p:nvSpPr>
        <p:spPr bwMode="auto">
          <a:xfrm>
            <a:off x="640079" y="40782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Measurement</a:t>
            </a:r>
            <a:endParaRPr lang="en-US" sz="1100"/>
          </a:p>
        </p:txBody>
      </p:sp>
      <p:sp>
        <p:nvSpPr>
          <p:cNvPr id="1600018877" name="Text 15"/>
          <p:cNvSpPr/>
          <p:nvPr/>
        </p:nvSpPr>
        <p:spPr bwMode="auto">
          <a:xfrm>
            <a:off x="1874519" y="40325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id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parameter · value · unit · ref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erence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ange · anomaly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(TRUE/FALSE)</a:t>
            </a:r>
            <a:endParaRPr lang="en-US" sz="900"/>
          </a:p>
        </p:txBody>
      </p:sp>
      <p:sp>
        <p:nvSpPr>
          <p:cNvPr id="1272750507" name="Text 16"/>
          <p:cNvSpPr/>
          <p:nvPr/>
        </p:nvSpPr>
        <p:spPr bwMode="auto">
          <a:xfrm>
            <a:off x="640079" y="45354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</a:t>
            </a:r>
            <a:r>
              <a:rPr lang="it-IT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Report</a:t>
            </a:r>
            <a:endParaRPr lang="en-US" sz="1100"/>
          </a:p>
        </p:txBody>
      </p:sp>
      <p:sp>
        <p:nvSpPr>
          <p:cNvPr id="1749162605" name="Text 17"/>
          <p:cNvSpPr/>
          <p:nvPr/>
        </p:nvSpPr>
        <p:spPr bwMode="auto">
          <a:xfrm>
            <a:off x="1874519" y="44897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id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exam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t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ype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status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findings ·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conclusion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report date</a:t>
            </a:r>
            <a:endParaRPr lang="en-US" sz="900"/>
          </a:p>
        </p:txBody>
      </p:sp>
      <p:sp>
        <p:nvSpPr>
          <p:cNvPr id="219959867" name="Shape 18"/>
          <p:cNvSpPr/>
          <p:nvPr/>
        </p:nvSpPr>
        <p:spPr bwMode="auto">
          <a:xfrm>
            <a:off x="4754880" y="1179575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63126096" name="Text 19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Composed Objects (Prosumers)</a:t>
            </a:r>
            <a:endParaRPr lang="en-US" sz="1300"/>
          </a:p>
        </p:txBody>
      </p:sp>
      <p:sp>
        <p:nvSpPr>
          <p:cNvPr id="692715945" name="Text 20"/>
          <p:cNvSpPr/>
          <p:nvPr/>
        </p:nvSpPr>
        <p:spPr bwMode="auto">
          <a:xfrm>
            <a:off x="4937760" y="189280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Bundle</a:t>
            </a:r>
            <a:endParaRPr lang="en-US" sz="1100"/>
          </a:p>
        </p:txBody>
      </p:sp>
      <p:sp>
        <p:nvSpPr>
          <p:cNvPr id="1066592790" name="Text 21"/>
          <p:cNvSpPr/>
          <p:nvPr/>
        </p:nvSpPr>
        <p:spPr bwMode="auto">
          <a:xfrm>
            <a:off x="6400800" y="1792222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TestResult (</a:t>
            </a:r>
            <a:r>
              <a:rPr lang="it-IT" sz="850" i="1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 Order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List&lt;ImagingReport&gt;</a:t>
            </a:r>
            <a:endParaRPr lang="en-US" sz="850"/>
          </a:p>
        </p:txBody>
      </p:sp>
      <p:sp>
        <p:nvSpPr>
          <p:cNvPr id="2079416436" name="Text 22"/>
          <p:cNvSpPr/>
          <p:nvPr/>
        </p:nvSpPr>
        <p:spPr bwMode="auto">
          <a:xfrm>
            <a:off x="4937760" y="255117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Profile</a:t>
            </a:r>
            <a:endParaRPr lang="en-US" sz="1100"/>
          </a:p>
        </p:txBody>
      </p:sp>
      <p:sp>
        <p:nvSpPr>
          <p:cNvPr id="1978049385" name="Text 23"/>
          <p:cNvSpPr/>
          <p:nvPr/>
        </p:nvSpPr>
        <p:spPr bwMode="auto">
          <a:xfrm>
            <a:off x="6400800" y="238201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List&lt;Condition&gt;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List&lt;Allergy&gt;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List&lt;Prescription&gt;</a:t>
            </a:r>
            <a:endParaRPr lang="en-US" sz="850"/>
          </a:p>
        </p:txBody>
      </p:sp>
      <p:sp>
        <p:nvSpPr>
          <p:cNvPr id="1843961760" name="Text 24"/>
          <p:cNvSpPr/>
          <p:nvPr/>
        </p:nvSpPr>
        <p:spPr bwMode="auto">
          <a:xfrm>
            <a:off x="4937760" y="33467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Risk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Flag</a:t>
            </a:r>
            <a:endParaRPr lang="en-US" sz="1100"/>
          </a:p>
        </p:txBody>
      </p:sp>
      <p:sp>
        <p:nvSpPr>
          <p:cNvPr id="1094088269" name="Text 25"/>
          <p:cNvSpPr/>
          <p:nvPr/>
        </p:nvSpPr>
        <p:spPr bwMode="auto">
          <a:xfrm>
            <a:off x="6400800" y="3145533"/>
            <a:ext cx="2148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type (DRUG_CONTRAINDICATION / CRITICAL_VALUE / ALLERGY / OTHER)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severity (INFO/WARNING/CRITICAL)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description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source</a:t>
            </a:r>
            <a:r>
              <a:rPr lang="it-IT"/>
              <a:t> </a:t>
            </a:r>
            <a:endParaRPr lang="en-US"/>
          </a:p>
        </p:txBody>
      </p:sp>
      <p:sp>
        <p:nvSpPr>
          <p:cNvPr id="1474400512" name="Text 26"/>
          <p:cNvSpPr/>
          <p:nvPr/>
        </p:nvSpPr>
        <p:spPr bwMode="auto">
          <a:xfrm>
            <a:off x="4937760" y="429768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Fitness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Report</a:t>
            </a:r>
            <a:endParaRPr lang="en-US" sz="1100"/>
          </a:p>
        </p:txBody>
      </p:sp>
      <p:sp>
        <p:nvSpPr>
          <p:cNvPr id="678084511" name="Text 27"/>
          <p:cNvSpPr/>
          <p:nvPr/>
        </p:nvSpPr>
        <p:spPr bwMode="auto">
          <a:xfrm>
            <a:off x="6400800" y="4078224"/>
            <a:ext cx="2148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outcome: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| WITH_RESERVATION |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UNFIT</a:t>
            </a:r>
            <a:endParaRPr lang="en-US" sz="850"/>
          </a:p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patientId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generatedAt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linicalProfile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iagnosticBundle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List&lt;RiskFlag&gt;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34899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3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Use Cases, Sequence Diagrams, Technological Stack</a:t>
            </a:r>
            <a:endParaRPr lang="en-US" sz="4200"/>
          </a:p>
        </p:txBody>
      </p:sp>
      <p:sp>
        <p:nvSpPr>
          <p:cNvPr id="1869229557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933419180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  <p:sp>
        <p:nvSpPr>
          <p:cNvPr id="2048996188" name="Text 1"/>
          <p:cNvSpPr/>
          <p:nvPr/>
        </p:nvSpPr>
        <p:spPr bwMode="auto">
          <a:xfrm>
            <a:off x="883919" y="2666999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Federico Capricci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6757296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Use Cases Summary</a:t>
            </a:r>
            <a:endParaRPr lang="en-US" sz="3400"/>
          </a:p>
        </p:txBody>
      </p:sp>
      <p:sp>
        <p:nvSpPr>
          <p:cNvPr id="1195601032" name="Shape 1"/>
          <p:cNvSpPr/>
          <p:nvPr/>
        </p:nvSpPr>
        <p:spPr bwMode="auto">
          <a:xfrm>
            <a:off x="309489" y="694944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3881914" name="Shape 2"/>
          <p:cNvSpPr/>
          <p:nvPr/>
        </p:nvSpPr>
        <p:spPr bwMode="auto">
          <a:xfrm>
            <a:off x="309489" y="804672"/>
            <a:ext cx="64008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248635" name="Text 3"/>
          <p:cNvSpPr/>
          <p:nvPr/>
        </p:nvSpPr>
        <p:spPr bwMode="auto">
          <a:xfrm>
            <a:off x="364353" y="804672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UC</a:t>
            </a:r>
            <a:endParaRPr lang="en-US" sz="1200"/>
          </a:p>
        </p:txBody>
      </p:sp>
      <p:sp>
        <p:nvSpPr>
          <p:cNvPr id="1120712151" name="Shape 4"/>
          <p:cNvSpPr/>
          <p:nvPr/>
        </p:nvSpPr>
        <p:spPr bwMode="auto">
          <a:xfrm>
            <a:off x="949569" y="804672"/>
            <a:ext cx="1371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29867459" name="Text 5"/>
          <p:cNvSpPr/>
          <p:nvPr/>
        </p:nvSpPr>
        <p:spPr bwMode="auto">
          <a:xfrm>
            <a:off x="1004433" y="804672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</a:t>
            </a:r>
            <a:endParaRPr lang="en-US" sz="1200"/>
          </a:p>
        </p:txBody>
      </p:sp>
      <p:sp>
        <p:nvSpPr>
          <p:cNvPr id="1236913493" name="Shape 6"/>
          <p:cNvSpPr/>
          <p:nvPr/>
        </p:nvSpPr>
        <p:spPr bwMode="auto">
          <a:xfrm>
            <a:off x="2321169" y="804672"/>
            <a:ext cx="41148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3098044" name="Text 7"/>
          <p:cNvSpPr/>
          <p:nvPr/>
        </p:nvSpPr>
        <p:spPr bwMode="auto">
          <a:xfrm>
            <a:off x="2376033" y="804672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Components</a:t>
            </a:r>
            <a:endParaRPr lang="en-US" sz="1200"/>
          </a:p>
        </p:txBody>
      </p:sp>
      <p:sp>
        <p:nvSpPr>
          <p:cNvPr id="1599030380" name="Shape 8"/>
          <p:cNvSpPr/>
          <p:nvPr/>
        </p:nvSpPr>
        <p:spPr bwMode="auto">
          <a:xfrm>
            <a:off x="6481689" y="804672"/>
            <a:ext cx="2514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6743476" name="Text 9"/>
          <p:cNvSpPr/>
          <p:nvPr/>
        </p:nvSpPr>
        <p:spPr bwMode="auto">
          <a:xfrm>
            <a:off x="6536553" y="804672"/>
            <a:ext cx="2441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Interaction</a:t>
            </a:r>
            <a:endParaRPr lang="en-US" sz="1200"/>
          </a:p>
        </p:txBody>
      </p:sp>
      <p:sp>
        <p:nvSpPr>
          <p:cNvPr id="646209530" name="Shape 10"/>
          <p:cNvSpPr/>
          <p:nvPr/>
        </p:nvSpPr>
        <p:spPr bwMode="auto">
          <a:xfrm>
            <a:off x="309489" y="1188720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44883570" name="Text 11"/>
          <p:cNvSpPr/>
          <p:nvPr/>
        </p:nvSpPr>
        <p:spPr bwMode="auto">
          <a:xfrm>
            <a:off x="364353" y="1188720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UC-1</a:t>
            </a:r>
            <a:endParaRPr lang="en-US" sz="1300"/>
          </a:p>
        </p:txBody>
      </p:sp>
      <p:sp>
        <p:nvSpPr>
          <p:cNvPr id="539506443" name="Shape 12"/>
          <p:cNvSpPr/>
          <p:nvPr/>
        </p:nvSpPr>
        <p:spPr bwMode="auto">
          <a:xfrm>
            <a:off x="949569" y="1188720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13983652" name="Text 13"/>
          <p:cNvSpPr/>
          <p:nvPr/>
        </p:nvSpPr>
        <p:spPr bwMode="auto">
          <a:xfrm>
            <a:off x="1004433" y="1188720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Full Fitness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Assessment</a:t>
            </a:r>
            <a:endParaRPr lang="en-US" sz="1050"/>
          </a:p>
        </p:txBody>
      </p:sp>
      <p:sp>
        <p:nvSpPr>
          <p:cNvPr id="2127979057" name="Shape 14"/>
          <p:cNvSpPr/>
          <p:nvPr/>
        </p:nvSpPr>
        <p:spPr bwMode="auto">
          <a:xfrm>
            <a:off x="2321169" y="1188720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98662191" name="Text 15"/>
          <p:cNvSpPr/>
          <p:nvPr/>
        </p:nvSpPr>
        <p:spPr bwMode="auto">
          <a:xfrm>
            <a:off x="2376033" y="1188720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Care Coordinator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 + Diagnostic Agg → providers</a:t>
            </a:r>
            <a:endParaRPr lang="en-US" sz="1050"/>
          </a:p>
        </p:txBody>
      </p:sp>
      <p:sp>
        <p:nvSpPr>
          <p:cNvPr id="947104760" name="Shape 16"/>
          <p:cNvSpPr/>
          <p:nvPr/>
        </p:nvSpPr>
        <p:spPr bwMode="auto">
          <a:xfrm>
            <a:off x="6481689" y="1188720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9544700" name="Text 17"/>
          <p:cNvSpPr/>
          <p:nvPr/>
        </p:nvSpPr>
        <p:spPr bwMode="auto">
          <a:xfrm>
            <a:off x="6536553" y="1188720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Parallel branches +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 barrier (allOf)</a:t>
            </a:r>
            <a:endParaRPr lang="en-US" sz="1100"/>
          </a:p>
        </p:txBody>
      </p:sp>
      <p:sp>
        <p:nvSpPr>
          <p:cNvPr id="1801666776" name="Shape 18"/>
          <p:cNvSpPr/>
          <p:nvPr/>
        </p:nvSpPr>
        <p:spPr bwMode="auto">
          <a:xfrm>
            <a:off x="309489" y="2167128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3445539" name="Text 19"/>
          <p:cNvSpPr/>
          <p:nvPr/>
        </p:nvSpPr>
        <p:spPr bwMode="auto">
          <a:xfrm>
            <a:off x="364353" y="2167128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UC-2</a:t>
            </a:r>
            <a:endParaRPr lang="en-US" sz="1300"/>
          </a:p>
        </p:txBody>
      </p:sp>
      <p:sp>
        <p:nvSpPr>
          <p:cNvPr id="1194113241" name="Shape 20"/>
          <p:cNvSpPr/>
          <p:nvPr/>
        </p:nvSpPr>
        <p:spPr bwMode="auto">
          <a:xfrm>
            <a:off x="949569" y="2167128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9439261" name="Text 21"/>
          <p:cNvSpPr/>
          <p:nvPr/>
        </p:nvSpPr>
        <p:spPr bwMode="auto">
          <a:xfrm>
            <a:off x="1004433" y="2167128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History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Consultation</a:t>
            </a:r>
            <a:endParaRPr lang="en-US" sz="1050"/>
          </a:p>
        </p:txBody>
      </p:sp>
      <p:sp>
        <p:nvSpPr>
          <p:cNvPr id="1291029697" name="Shape 22"/>
          <p:cNvSpPr/>
          <p:nvPr/>
        </p:nvSpPr>
        <p:spPr bwMode="auto">
          <a:xfrm>
            <a:off x="2321169" y="2167128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2561001" name="Text 23"/>
          <p:cNvSpPr/>
          <p:nvPr/>
        </p:nvSpPr>
        <p:spPr bwMode="auto">
          <a:xfrm>
            <a:off x="2376033" y="2167128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Clinical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(SOAP) + Farmacia (REST)</a:t>
            </a:r>
            <a:endParaRPr lang="en-US" sz="1050"/>
          </a:p>
        </p:txBody>
      </p:sp>
      <p:sp>
        <p:nvSpPr>
          <p:cNvPr id="21751088" name="Shape 24"/>
          <p:cNvSpPr/>
          <p:nvPr/>
        </p:nvSpPr>
        <p:spPr bwMode="auto">
          <a:xfrm>
            <a:off x="6481689" y="21671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5292821" name="Text 25"/>
          <p:cNvSpPr/>
          <p:nvPr/>
        </p:nvSpPr>
        <p:spPr bwMode="auto">
          <a:xfrm>
            <a:off x="6536553" y="2167128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Synchronous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composition</a:t>
            </a:r>
            <a:endParaRPr lang="en-US" sz="1100"/>
          </a:p>
        </p:txBody>
      </p:sp>
      <p:sp>
        <p:nvSpPr>
          <p:cNvPr id="1078358900" name="Shape 26"/>
          <p:cNvSpPr/>
          <p:nvPr/>
        </p:nvSpPr>
        <p:spPr bwMode="auto">
          <a:xfrm>
            <a:off x="309489" y="3145536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8473139" name="Text 27"/>
          <p:cNvSpPr/>
          <p:nvPr/>
        </p:nvSpPr>
        <p:spPr bwMode="auto">
          <a:xfrm>
            <a:off x="364353" y="3145536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UC-3</a:t>
            </a:r>
            <a:endParaRPr lang="en-US" sz="1300"/>
          </a:p>
        </p:txBody>
      </p:sp>
      <p:sp>
        <p:nvSpPr>
          <p:cNvPr id="1179105899" name="Shape 28"/>
          <p:cNvSpPr/>
          <p:nvPr/>
        </p:nvSpPr>
        <p:spPr bwMode="auto">
          <a:xfrm>
            <a:off x="949569" y="3145536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8685782" name="Text 29"/>
          <p:cNvSpPr/>
          <p:nvPr/>
        </p:nvSpPr>
        <p:spPr bwMode="auto">
          <a:xfrm>
            <a:off x="1004433" y="3145536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Test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&amp; Poll</a:t>
            </a:r>
            <a:endParaRPr lang="en-US" sz="1050"/>
          </a:p>
        </p:txBody>
      </p:sp>
      <p:sp>
        <p:nvSpPr>
          <p:cNvPr id="1664567122" name="Shape 30"/>
          <p:cNvSpPr/>
          <p:nvPr/>
        </p:nvSpPr>
        <p:spPr bwMode="auto">
          <a:xfrm>
            <a:off x="2321169" y="3145536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9717894" name="Text 31"/>
          <p:cNvSpPr/>
          <p:nvPr/>
        </p:nvSpPr>
        <p:spPr bwMode="auto">
          <a:xfrm>
            <a:off x="2376033" y="3145536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Diagnostic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(async) + Imaging (async)</a:t>
            </a:r>
            <a:endParaRPr lang="en-US" sz="1050"/>
          </a:p>
        </p:txBody>
      </p:sp>
      <p:sp>
        <p:nvSpPr>
          <p:cNvPr id="1921411719" name="Shape 32"/>
          <p:cNvSpPr/>
          <p:nvPr/>
        </p:nvSpPr>
        <p:spPr bwMode="auto">
          <a:xfrm>
            <a:off x="6481689" y="3145536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1122928" name="Text 33"/>
          <p:cNvSpPr/>
          <p:nvPr/>
        </p:nvSpPr>
        <p:spPr bwMode="auto">
          <a:xfrm>
            <a:off x="6536553" y="3145536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Async request-reply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with polling/callback</a:t>
            </a:r>
            <a:endParaRPr lang="en-US" sz="1100"/>
          </a:p>
        </p:txBody>
      </p:sp>
      <p:sp>
        <p:nvSpPr>
          <p:cNvPr id="997138386" name="Shape 34"/>
          <p:cNvSpPr/>
          <p:nvPr/>
        </p:nvSpPr>
        <p:spPr bwMode="auto">
          <a:xfrm>
            <a:off x="309489" y="4123944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9753875" name="Text 35"/>
          <p:cNvSpPr/>
          <p:nvPr/>
        </p:nvSpPr>
        <p:spPr bwMode="auto">
          <a:xfrm>
            <a:off x="364353" y="4123944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UC-4</a:t>
            </a:r>
            <a:endParaRPr lang="en-US" sz="1300"/>
          </a:p>
        </p:txBody>
      </p:sp>
      <p:sp>
        <p:nvSpPr>
          <p:cNvPr id="1161603452" name="Shape 36"/>
          <p:cNvSpPr/>
          <p:nvPr/>
        </p:nvSpPr>
        <p:spPr bwMode="auto">
          <a:xfrm>
            <a:off x="949569" y="4123944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198860" name="Text 37"/>
          <p:cNvSpPr/>
          <p:nvPr/>
        </p:nvSpPr>
        <p:spPr bwMode="auto">
          <a:xfrm>
            <a:off x="1004433" y="4123944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New Prescription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(direct)</a:t>
            </a:r>
            <a:endParaRPr lang="en-US" sz="1050"/>
          </a:p>
        </p:txBody>
      </p:sp>
      <p:sp>
        <p:nvSpPr>
          <p:cNvPr id="293646157" name="Shape 38"/>
          <p:cNvSpPr/>
          <p:nvPr/>
        </p:nvSpPr>
        <p:spPr bwMode="auto">
          <a:xfrm>
            <a:off x="2321169" y="4123944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8160903" name="Text 39"/>
          <p:cNvSpPr/>
          <p:nvPr/>
        </p:nvSpPr>
        <p:spPr bwMode="auto">
          <a:xfrm>
            <a:off x="2376033" y="4123944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Farmacia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(no prosumer involved)</a:t>
            </a:r>
            <a:endParaRPr lang="en-US" sz="1050"/>
          </a:p>
        </p:txBody>
      </p:sp>
      <p:sp>
        <p:nvSpPr>
          <p:cNvPr id="1212730521" name="Shape 40"/>
          <p:cNvSpPr/>
          <p:nvPr/>
        </p:nvSpPr>
        <p:spPr bwMode="auto">
          <a:xfrm>
            <a:off x="6481689" y="4123944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2854883" name="Text 41"/>
          <p:cNvSpPr/>
          <p:nvPr/>
        </p:nvSpPr>
        <p:spPr bwMode="auto">
          <a:xfrm>
            <a:off x="6536553" y="4123944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Direct client→provider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CRUD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682028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UC-1  Full Fitness Assessment</a:t>
            </a:r>
            <a:endParaRPr/>
          </a:p>
        </p:txBody>
      </p:sp>
      <p:sp>
        <p:nvSpPr>
          <p:cNvPr id="1601214952" name="ScenCard"/>
          <p:cNvSpPr/>
          <p:nvPr/>
        </p:nvSpPr>
        <p:spPr bwMode="auto">
          <a:xfrm>
            <a:off x="457200" y="1508759"/>
            <a:ext cx="35661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500" b="1">
                <a:solidFill>
                  <a:srgbClr val="1F4E79"/>
                </a:solidFill>
                <a:latin typeface="Calibri"/>
              </a:rPr>
              <a:t>The Physician Requests</a:t>
            </a:r>
            <a:endParaRPr/>
          </a:p>
          <a:p>
            <a:pPr marL="0" indent="0" algn="l">
              <a:buNone/>
              <a:defRPr/>
            </a:pPr>
            <a:r>
              <a:rPr lang="en-US" sz="1250">
                <a:solidFill>
                  <a:srgbClr val="595959"/>
                </a:solidFill>
                <a:latin typeface="Calibri"/>
              </a:rPr>
              <a:t>A complete fitness assessment for a surgical or medical procedure.</a:t>
            </a:r>
            <a:endParaRPr/>
          </a:p>
          <a:p>
            <a:pPr marL="0" indent="0" algn="l">
              <a:buNone/>
              <a:defRPr/>
            </a:pPr>
            <a:r>
              <a:rPr lang="en-US" sz="1250">
                <a:solidFill>
                  <a:srgbClr val="595959"/>
                </a:solidFill>
                <a:latin typeface="Calibri"/>
              </a:rPr>
              <a:t>The system collects data from multiple services in parallel and aggregates them into a single clinical response.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</a:rPr>
              <a:t>Assessment outcome:</a:t>
            </a:r>
            <a:endParaRPr/>
          </a:p>
        </p:txBody>
      </p:sp>
      <p:sp>
        <p:nvSpPr>
          <p:cNvPr id="909134023" name="Bar201"/>
          <p:cNvSpPr/>
          <p:nvPr/>
        </p:nvSpPr>
        <p:spPr bwMode="auto">
          <a:xfrm>
            <a:off x="457200" y="1508759"/>
            <a:ext cx="64008" cy="3108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9818390" name="Badge210"/>
          <p:cNvSpPr/>
          <p:nvPr/>
        </p:nvSpPr>
        <p:spPr bwMode="auto">
          <a:xfrm>
            <a:off x="640080" y="3383279"/>
            <a:ext cx="583387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FIT</a:t>
            </a:r>
            <a:endParaRPr/>
          </a:p>
        </p:txBody>
      </p:sp>
      <p:sp>
        <p:nvSpPr>
          <p:cNvPr id="1412116955" name="Badge211"/>
          <p:cNvSpPr/>
          <p:nvPr/>
        </p:nvSpPr>
        <p:spPr bwMode="auto">
          <a:xfrm>
            <a:off x="1600200" y="3394525"/>
            <a:ext cx="1133856" cy="384048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FIT WITH RESERVATION</a:t>
            </a:r>
            <a:endParaRPr/>
          </a:p>
        </p:txBody>
      </p:sp>
      <p:sp>
        <p:nvSpPr>
          <p:cNvPr id="585601824" name="Badge212"/>
          <p:cNvSpPr/>
          <p:nvPr/>
        </p:nvSpPr>
        <p:spPr bwMode="auto">
          <a:xfrm>
            <a:off x="3148279" y="3383279"/>
            <a:ext cx="652882" cy="38404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UNFIT</a:t>
            </a:r>
            <a:endParaRPr/>
          </a:p>
        </p:txBody>
      </p:sp>
      <p:sp>
        <p:nvSpPr>
          <p:cNvPr id="1320170426" name="RepLbl"/>
          <p:cNvSpPr/>
          <p:nvPr/>
        </p:nvSpPr>
        <p:spPr bwMode="auto">
          <a:xfrm>
            <a:off x="4572000" y="834205"/>
            <a:ext cx="4343400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1F4E79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FitnessReport · Response Contents</a:t>
            </a:r>
            <a:endParaRPr/>
          </a:p>
        </p:txBody>
      </p:sp>
      <p:sp>
        <p:nvSpPr>
          <p:cNvPr id="1955280604" name="Bar300"/>
          <p:cNvSpPr/>
          <p:nvPr/>
        </p:nvSpPr>
        <p:spPr bwMode="auto">
          <a:xfrm>
            <a:off x="4572000" y="1291405"/>
            <a:ext cx="64008" cy="402336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60472641" name="Item0"/>
          <p:cNvSpPr/>
          <p:nvPr/>
        </p:nvSpPr>
        <p:spPr bwMode="auto">
          <a:xfrm>
            <a:off x="4572000" y="12914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Overall outcome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FIT / FIT WITH RESERVATION / UNFIT</a:t>
            </a:r>
            <a:endParaRPr/>
          </a:p>
        </p:txBody>
      </p:sp>
      <p:sp>
        <p:nvSpPr>
          <p:cNvPr id="620022881" name="Bar310"/>
          <p:cNvSpPr/>
          <p:nvPr/>
        </p:nvSpPr>
        <p:spPr bwMode="auto">
          <a:xfrm>
            <a:off x="4572000" y="1748605"/>
            <a:ext cx="64008" cy="402336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3564729" name="Item1"/>
          <p:cNvSpPr/>
          <p:nvPr/>
        </p:nvSpPr>
        <p:spPr bwMode="auto">
          <a:xfrm>
            <a:off x="4572000" y="17486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Patient summary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Identifying data of the patient</a:t>
            </a:r>
            <a:endParaRPr/>
          </a:p>
        </p:txBody>
      </p:sp>
      <p:sp>
        <p:nvSpPr>
          <p:cNvPr id="1141761693" name="Bar320"/>
          <p:cNvSpPr/>
          <p:nvPr/>
        </p:nvSpPr>
        <p:spPr bwMode="auto">
          <a:xfrm>
            <a:off x="4572000" y="22058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4611480" name="Item2"/>
          <p:cNvSpPr/>
          <p:nvPr/>
        </p:nvSpPr>
        <p:spPr bwMode="auto">
          <a:xfrm>
            <a:off x="4572000" y="22058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Known conditions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Active and past diagnoses (ICD codes)</a:t>
            </a:r>
            <a:endParaRPr/>
          </a:p>
        </p:txBody>
      </p:sp>
      <p:sp>
        <p:nvSpPr>
          <p:cNvPr id="829461806" name="Bar330"/>
          <p:cNvSpPr/>
          <p:nvPr/>
        </p:nvSpPr>
        <p:spPr bwMode="auto">
          <a:xfrm>
            <a:off x="4572000" y="26630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2983962" name="Item3"/>
          <p:cNvSpPr/>
          <p:nvPr/>
        </p:nvSpPr>
        <p:spPr bwMode="auto">
          <a:xfrm>
            <a:off x="4572000" y="26630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Registered allergies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Allergen, severity, date detected</a:t>
            </a:r>
            <a:endParaRPr/>
          </a:p>
        </p:txBody>
      </p:sp>
      <p:sp>
        <p:nvSpPr>
          <p:cNvPr id="1269621806" name="Bar340"/>
          <p:cNvSpPr/>
          <p:nvPr/>
        </p:nvSpPr>
        <p:spPr bwMode="auto">
          <a:xfrm>
            <a:off x="4572000" y="31202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68685023" name="Item4"/>
          <p:cNvSpPr/>
          <p:nvPr/>
        </p:nvSpPr>
        <p:spPr bwMode="auto">
          <a:xfrm>
            <a:off x="4572000" y="31202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Active prescriptions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Drug, dosage, frequency</a:t>
            </a:r>
            <a:endParaRPr/>
          </a:p>
        </p:txBody>
      </p:sp>
      <p:sp>
        <p:nvSpPr>
          <p:cNvPr id="1142343804" name="Bar350"/>
          <p:cNvSpPr/>
          <p:nvPr/>
        </p:nvSpPr>
        <p:spPr bwMode="auto">
          <a:xfrm>
            <a:off x="4572000" y="3577404"/>
            <a:ext cx="64008" cy="402336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9337209" name="Item5"/>
          <p:cNvSpPr/>
          <p:nvPr/>
        </p:nvSpPr>
        <p:spPr bwMode="auto">
          <a:xfrm>
            <a:off x="4572000" y="3577404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Laboratory results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Measurements with anomalyFlag</a:t>
            </a:r>
            <a:endParaRPr/>
          </a:p>
        </p:txBody>
      </p:sp>
      <p:sp>
        <p:nvSpPr>
          <p:cNvPr id="594397559" name="Bar360"/>
          <p:cNvSpPr/>
          <p:nvPr/>
        </p:nvSpPr>
        <p:spPr bwMode="auto">
          <a:xfrm>
            <a:off x="4572000" y="4034605"/>
            <a:ext cx="64008" cy="402336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8464183" name="Item6"/>
          <p:cNvSpPr/>
          <p:nvPr/>
        </p:nvSpPr>
        <p:spPr bwMode="auto">
          <a:xfrm>
            <a:off x="4572000" y="40346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Diagnostic reports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Imaging: findings, criticalFlag</a:t>
            </a:r>
            <a:endParaRPr/>
          </a:p>
        </p:txBody>
      </p:sp>
      <p:sp>
        <p:nvSpPr>
          <p:cNvPr id="1834196050" name="Bar370"/>
          <p:cNvSpPr/>
          <p:nvPr/>
        </p:nvSpPr>
        <p:spPr bwMode="auto">
          <a:xfrm>
            <a:off x="4572000" y="4491805"/>
            <a:ext cx="64008" cy="402336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4973188" name="Item7"/>
          <p:cNvSpPr/>
          <p:nvPr/>
        </p:nvSpPr>
        <p:spPr bwMode="auto">
          <a:xfrm>
            <a:off x="4572000" y="44918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Risk factors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 contraindication · Critical value · Allergy</a:t>
            </a:r>
            <a:endParaRPr/>
          </a:p>
        </p:txBody>
      </p:sp>
      <p:sp>
        <p:nvSpPr>
          <p:cNvPr id="1675361685" name="Shape 1"/>
          <p:cNvSpPr/>
          <p:nvPr/>
        </p:nvSpPr>
        <p:spPr bwMode="auto">
          <a:xfrm>
            <a:off x="489203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360871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UC-2  Clinical History Consultation</a:t>
            </a:r>
            <a:endParaRPr/>
          </a:p>
        </p:txBody>
      </p:sp>
      <p:sp>
        <p:nvSpPr>
          <p:cNvPr id="738320584" name="Intro"/>
          <p:cNvSpPr/>
          <p:nvPr/>
        </p:nvSpPr>
        <p:spPr bwMode="auto">
          <a:xfrm>
            <a:off x="457200" y="959996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</a:rPr>
              <a:t>Scenario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needs to review the patient's medical history without requesting a full fitness assessment.</a:t>
            </a:r>
            <a:endParaRPr/>
          </a:p>
        </p:txBody>
      </p:sp>
      <p:sp>
        <p:nvSpPr>
          <p:cNvPr id="1246954513" name="Bar201"/>
          <p:cNvSpPr/>
          <p:nvPr/>
        </p:nvSpPr>
        <p:spPr bwMode="auto">
          <a:xfrm>
            <a:off x="457200" y="959996"/>
            <a:ext cx="45719" cy="10515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5487342" name="CPLbl"/>
          <p:cNvSpPr/>
          <p:nvPr/>
        </p:nvSpPr>
        <p:spPr bwMode="auto">
          <a:xfrm>
            <a:off x="3680460" y="1497639"/>
            <a:ext cx="5166360" cy="384048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ClinicalProfile · Object returned to the physician</a:t>
            </a:r>
            <a:endParaRPr/>
          </a:p>
        </p:txBody>
      </p:sp>
      <p:sp>
        <p:nvSpPr>
          <p:cNvPr id="300396354" name="Bar220"/>
          <p:cNvSpPr/>
          <p:nvPr/>
        </p:nvSpPr>
        <p:spPr bwMode="auto">
          <a:xfrm>
            <a:off x="3680460" y="1954839"/>
            <a:ext cx="64008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38072732" name="CP0"/>
          <p:cNvSpPr/>
          <p:nvPr/>
        </p:nvSpPr>
        <p:spPr bwMode="auto">
          <a:xfrm>
            <a:off x="3680460" y="1954839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Patient data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id, name, fiscal code, date of birth, gender</a:t>
            </a:r>
            <a:endParaRPr/>
          </a:p>
        </p:txBody>
      </p:sp>
      <p:sp>
        <p:nvSpPr>
          <p:cNvPr id="1606292326" name="Bar230"/>
          <p:cNvSpPr/>
          <p:nvPr/>
        </p:nvSpPr>
        <p:spPr bwMode="auto">
          <a:xfrm>
            <a:off x="3680460" y="2476047"/>
            <a:ext cx="64008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4389041" name="CP1"/>
          <p:cNvSpPr/>
          <p:nvPr/>
        </p:nvSpPr>
        <p:spPr bwMode="auto">
          <a:xfrm>
            <a:off x="3680460" y="2476047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Past diagnoses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List of ICD conditions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 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status ACTIVE / RESOLVED</a:t>
            </a:r>
            <a:endParaRPr/>
          </a:p>
        </p:txBody>
      </p:sp>
      <p:sp>
        <p:nvSpPr>
          <p:cNvPr id="485187591" name="Bar240"/>
          <p:cNvSpPr/>
          <p:nvPr/>
        </p:nvSpPr>
        <p:spPr bwMode="auto">
          <a:xfrm>
            <a:off x="3680460" y="2997255"/>
            <a:ext cx="64008" cy="457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7750489" name="CP2"/>
          <p:cNvSpPr/>
          <p:nvPr/>
        </p:nvSpPr>
        <p:spPr bwMode="auto">
          <a:xfrm>
            <a:off x="3680460" y="2997255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Known allergies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Allergen, severity (MILD / SEVERE / ANAPHYLACTIC)</a:t>
            </a:r>
            <a:endParaRPr/>
          </a:p>
        </p:txBody>
      </p:sp>
      <p:sp>
        <p:nvSpPr>
          <p:cNvPr id="266605900" name="Bar250"/>
          <p:cNvSpPr/>
          <p:nvPr/>
        </p:nvSpPr>
        <p:spPr bwMode="auto">
          <a:xfrm>
            <a:off x="3680460" y="3518463"/>
            <a:ext cx="64008" cy="457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1281695" name="CP3"/>
          <p:cNvSpPr/>
          <p:nvPr/>
        </p:nvSpPr>
        <p:spPr bwMode="auto">
          <a:xfrm>
            <a:off x="3680460" y="3518463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Active prescriptions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Drug, ATC code, dosage, frequency, dates</a:t>
            </a:r>
            <a:endParaRPr/>
          </a:p>
        </p:txBody>
      </p:sp>
      <p:sp>
        <p:nvSpPr>
          <p:cNvPr id="521730879" name="AnaSource"/>
          <p:cNvSpPr/>
          <p:nvPr/>
        </p:nvSpPr>
        <p:spPr bwMode="auto">
          <a:xfrm>
            <a:off x="457200" y="2370520"/>
            <a:ext cx="2743200" cy="1051560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</a:rPr>
              <a:t>Anagrafe</a:t>
            </a:r>
            <a:r>
              <a:rPr lang="en-US" sz="1400" b="1">
                <a:solidFill>
                  <a:srgbClr val="0F6E56"/>
                </a:solidFill>
                <a:latin typeface="Calibri"/>
              </a:rPr>
              <a:t> Service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Protocol: SOAP / CXF  ·  :9101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Patient data · medical history · allergies</a:t>
            </a:r>
            <a:endParaRPr/>
          </a:p>
        </p:txBody>
      </p:sp>
      <p:sp>
        <p:nvSpPr>
          <p:cNvPr id="1929669236" name="Bar301"/>
          <p:cNvSpPr/>
          <p:nvPr/>
        </p:nvSpPr>
        <p:spPr bwMode="auto">
          <a:xfrm>
            <a:off x="457200" y="2370520"/>
            <a:ext cx="64008" cy="10515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47908432" name="FarmSource"/>
          <p:cNvSpPr/>
          <p:nvPr/>
        </p:nvSpPr>
        <p:spPr bwMode="auto">
          <a:xfrm>
            <a:off x="489204" y="3813172"/>
            <a:ext cx="2711196" cy="1051560"/>
          </a:xfrm>
          <a:prstGeom prst="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C55A11"/>
                </a:solidFill>
                <a:latin typeface="Calibri"/>
              </a:rPr>
              <a:t>Farmacia Service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Protocol: REST  ·  :9103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Active prescriptions per patient</a:t>
            </a:r>
            <a:endParaRPr/>
          </a:p>
        </p:txBody>
      </p:sp>
      <p:sp>
        <p:nvSpPr>
          <p:cNvPr id="130435541" name="Bar311"/>
          <p:cNvSpPr/>
          <p:nvPr/>
        </p:nvSpPr>
        <p:spPr bwMode="auto">
          <a:xfrm>
            <a:off x="457200" y="3813172"/>
            <a:ext cx="65556" cy="105156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63461844" name="Shape 1"/>
          <p:cNvSpPr/>
          <p:nvPr/>
        </p:nvSpPr>
        <p:spPr bwMode="auto">
          <a:xfrm>
            <a:off x="480059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621425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UC-3  Diagnostic Test Order &amp; Monitoring</a:t>
            </a:r>
            <a:endParaRPr/>
          </a:p>
        </p:txBody>
      </p:sp>
      <p:sp>
        <p:nvSpPr>
          <p:cNvPr id="1218914124" name="Badge200"/>
          <p:cNvSpPr/>
          <p:nvPr/>
        </p:nvSpPr>
        <p:spPr bwMode="auto">
          <a:xfrm>
            <a:off x="685800" y="1508759"/>
            <a:ext cx="246888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① Order</a:t>
            </a:r>
            <a:endParaRPr/>
          </a:p>
        </p:txBody>
      </p:sp>
      <p:sp>
        <p:nvSpPr>
          <p:cNvPr id="628674602" name="P1"/>
          <p:cNvSpPr/>
          <p:nvPr/>
        </p:nvSpPr>
        <p:spPr bwMode="auto">
          <a:xfrm>
            <a:off x="68580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requests a diagnostic panel (e.g. renal panel, metabolic panel).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The system responds immediately: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0F6E56"/>
                </a:solidFill>
                <a:latin typeface="Calibri"/>
              </a:rPr>
              <a:t>• trackingId  (tracking code)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0F6E56"/>
                </a:solidFill>
                <a:latin typeface="Calibri"/>
              </a:rPr>
              <a:t>• HTTP 202 Accepted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The physician can continue working without waiting.</a:t>
            </a:r>
            <a:endParaRPr/>
          </a:p>
        </p:txBody>
      </p:sp>
      <p:sp>
        <p:nvSpPr>
          <p:cNvPr id="1778966857" name="Bar202"/>
          <p:cNvSpPr/>
          <p:nvPr/>
        </p:nvSpPr>
        <p:spPr bwMode="auto">
          <a:xfrm>
            <a:off x="685800" y="1920240"/>
            <a:ext cx="64008" cy="23317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00498822" name="Badge210"/>
          <p:cNvSpPr/>
          <p:nvPr/>
        </p:nvSpPr>
        <p:spPr bwMode="auto">
          <a:xfrm>
            <a:off x="3337560" y="1508759"/>
            <a:ext cx="2468880" cy="41148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② Processing</a:t>
            </a:r>
            <a:endParaRPr/>
          </a:p>
        </p:txBody>
      </p:sp>
      <p:sp>
        <p:nvSpPr>
          <p:cNvPr id="372012440" name="P2"/>
          <p:cNvSpPr/>
          <p:nvPr/>
        </p:nvSpPr>
        <p:spPr bwMode="auto">
          <a:xfrm>
            <a:off x="333756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client polls the system using the trackingId.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While processing, the response shows: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status: PROCESSING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In the background: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Laboratorio :9102  processes lab tests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Imaging :9104  processes radiology reports</a:t>
            </a:r>
            <a:endParaRPr/>
          </a:p>
        </p:txBody>
      </p:sp>
      <p:sp>
        <p:nvSpPr>
          <p:cNvPr id="1670384765" name="Bar212"/>
          <p:cNvSpPr/>
          <p:nvPr/>
        </p:nvSpPr>
        <p:spPr bwMode="auto">
          <a:xfrm>
            <a:off x="3337560" y="1920240"/>
            <a:ext cx="64008" cy="233172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8237866" name="Badge220"/>
          <p:cNvSpPr/>
          <p:nvPr/>
        </p:nvSpPr>
        <p:spPr bwMode="auto">
          <a:xfrm>
            <a:off x="5989320" y="1508759"/>
            <a:ext cx="2468880" cy="41148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③ Final Result</a:t>
            </a:r>
            <a:endParaRPr/>
          </a:p>
        </p:txBody>
      </p:sp>
      <p:sp>
        <p:nvSpPr>
          <p:cNvPr id="1084611589" name="P3"/>
          <p:cNvSpPr/>
          <p:nvPr/>
        </p:nvSpPr>
        <p:spPr bwMode="auto">
          <a:xfrm>
            <a:off x="598932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Once processing is complete, the system returns the DiagnosticBundle: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</a:rPr>
              <a:t>DiagnosticBundle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List&lt;TestResult&gt;  (lab results)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List&lt;ImagingReport&gt;  (diagnostic reports)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The physician always interacts with a single entry point and receives an aggregated response.</a:t>
            </a:r>
            <a:endParaRPr/>
          </a:p>
        </p:txBody>
      </p:sp>
      <p:sp>
        <p:nvSpPr>
          <p:cNvPr id="33679111" name="Bar222"/>
          <p:cNvSpPr/>
          <p:nvPr/>
        </p:nvSpPr>
        <p:spPr bwMode="auto">
          <a:xfrm>
            <a:off x="5989320" y="1920240"/>
            <a:ext cx="64008" cy="233172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90939465" name="Shape 1"/>
          <p:cNvSpPr/>
          <p:nvPr/>
        </p:nvSpPr>
        <p:spPr bwMode="auto">
          <a:xfrm>
            <a:off x="480058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661166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UC-4  New Prescription</a:t>
            </a:r>
            <a:endParaRPr/>
          </a:p>
        </p:txBody>
      </p:sp>
      <p:sp>
        <p:nvSpPr>
          <p:cNvPr id="915457805" name="Sub"/>
          <p:cNvSpPr/>
          <p:nvPr/>
        </p:nvSpPr>
        <p:spPr bwMode="auto">
          <a:xfrm>
            <a:off x="345989" y="470001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250" i="1">
                <a:solidFill>
                  <a:srgbClr val="595959"/>
                </a:solidFill>
                <a:latin typeface="Calibri"/>
              </a:rPr>
              <a:t>Direct client → provider interaction: not every operation requires an aggregator</a:t>
            </a:r>
            <a:endParaRPr/>
          </a:p>
        </p:txBody>
      </p:sp>
      <p:sp>
        <p:nvSpPr>
          <p:cNvPr id="77819215" name="Scenario"/>
          <p:cNvSpPr/>
          <p:nvPr/>
        </p:nvSpPr>
        <p:spPr bwMode="auto">
          <a:xfrm>
            <a:off x="457200" y="1042416"/>
            <a:ext cx="3108960" cy="2083843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50" b="1">
                <a:solidFill>
                  <a:srgbClr val="1F4E79"/>
                </a:solidFill>
                <a:latin typeface="Calibri"/>
              </a:rPr>
              <a:t>Scenario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enters a new pharmacological prescription for a patient.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C55A11"/>
                </a:solidFill>
                <a:latin typeface="Calibri"/>
              </a:rPr>
              <a:t>No prosumer involved: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Farmacia is the direct provider, responsible for its own domain.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This use case shows that SOA does not always mandate aggregation: when an operation belongs to a single domain, the client reaches that provider directly.</a:t>
            </a:r>
            <a:endParaRPr/>
          </a:p>
        </p:txBody>
      </p:sp>
      <p:sp>
        <p:nvSpPr>
          <p:cNvPr id="1018449744" name="Bar201"/>
          <p:cNvSpPr/>
          <p:nvPr/>
        </p:nvSpPr>
        <p:spPr bwMode="auto">
          <a:xfrm>
            <a:off x="457200" y="1042416"/>
            <a:ext cx="64008" cy="2083843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570022" name="ReqLbl"/>
          <p:cNvSpPr/>
          <p:nvPr/>
        </p:nvSpPr>
        <p:spPr bwMode="auto">
          <a:xfrm>
            <a:off x="3886200" y="1431036"/>
            <a:ext cx="4800600" cy="384048"/>
          </a:xfrm>
          <a:prstGeom prst="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Request Payload</a:t>
            </a:r>
            <a:endParaRPr/>
          </a:p>
        </p:txBody>
      </p:sp>
      <p:sp>
        <p:nvSpPr>
          <p:cNvPr id="922366890" name="Bar220"/>
          <p:cNvSpPr/>
          <p:nvPr/>
        </p:nvSpPr>
        <p:spPr bwMode="auto">
          <a:xfrm>
            <a:off x="3886200" y="1888236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0516816" name="Req0"/>
          <p:cNvSpPr/>
          <p:nvPr/>
        </p:nvSpPr>
        <p:spPr bwMode="auto">
          <a:xfrm>
            <a:off x="3886200" y="1888236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drug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Drug name + ATC code</a:t>
            </a:r>
            <a:endParaRPr/>
          </a:p>
        </p:txBody>
      </p:sp>
      <p:sp>
        <p:nvSpPr>
          <p:cNvPr id="823073694" name="Bar230"/>
          <p:cNvSpPr/>
          <p:nvPr/>
        </p:nvSpPr>
        <p:spPr bwMode="auto">
          <a:xfrm>
            <a:off x="3886200" y="2327148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3770174" name="Req1"/>
          <p:cNvSpPr/>
          <p:nvPr/>
        </p:nvSpPr>
        <p:spPr bwMode="auto">
          <a:xfrm>
            <a:off x="3886200" y="2327148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dosage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Quantity per administration</a:t>
            </a:r>
            <a:endParaRPr/>
          </a:p>
        </p:txBody>
      </p:sp>
      <p:sp>
        <p:nvSpPr>
          <p:cNvPr id="1301970076" name="Bar240"/>
          <p:cNvSpPr/>
          <p:nvPr/>
        </p:nvSpPr>
        <p:spPr bwMode="auto">
          <a:xfrm>
            <a:off x="3886200" y="2766060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20376230" name="Req2"/>
          <p:cNvSpPr/>
          <p:nvPr/>
        </p:nvSpPr>
        <p:spPr bwMode="auto">
          <a:xfrm>
            <a:off x="3886200" y="2766060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frequency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Administration schedule</a:t>
            </a:r>
            <a:endParaRPr/>
          </a:p>
        </p:txBody>
      </p:sp>
      <p:sp>
        <p:nvSpPr>
          <p:cNvPr id="2136749983" name="Bar250"/>
          <p:cNvSpPr/>
          <p:nvPr/>
        </p:nvSpPr>
        <p:spPr bwMode="auto">
          <a:xfrm>
            <a:off x="3886200" y="3204972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21817228" name="Req3"/>
          <p:cNvSpPr/>
          <p:nvPr/>
        </p:nvSpPr>
        <p:spPr bwMode="auto">
          <a:xfrm>
            <a:off x="3886200" y="3204972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validity dates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startDate · endDate</a:t>
            </a:r>
            <a:endParaRPr/>
          </a:p>
        </p:txBody>
      </p:sp>
      <p:sp>
        <p:nvSpPr>
          <p:cNvPr id="847706606" name="Bar260"/>
          <p:cNvSpPr/>
          <p:nvPr/>
        </p:nvSpPr>
        <p:spPr bwMode="auto">
          <a:xfrm>
            <a:off x="3886200" y="3643884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51036182" name="Req4"/>
          <p:cNvSpPr/>
          <p:nvPr/>
        </p:nvSpPr>
        <p:spPr bwMode="auto">
          <a:xfrm>
            <a:off x="3886200" y="3643884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prescribing physician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Physician identifier</a:t>
            </a:r>
            <a:endParaRPr/>
          </a:p>
        </p:txBody>
      </p:sp>
      <p:sp>
        <p:nvSpPr>
          <p:cNvPr id="886382587" name="ResLbl"/>
          <p:cNvSpPr/>
          <p:nvPr/>
        </p:nvSpPr>
        <p:spPr bwMode="auto">
          <a:xfrm>
            <a:off x="457199" y="3451860"/>
            <a:ext cx="3108961" cy="918972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64008" rIns="91440" bIns="64008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0F6E56"/>
                </a:solidFill>
                <a:latin typeface="Calibri"/>
              </a:rPr>
              <a:t>HTTP 201 Created  →  Prescription saved</a:t>
            </a:r>
            <a:endParaRPr/>
          </a:p>
          <a:p>
            <a:pPr marL="0" indent="0" algn="l">
              <a:buNone/>
              <a:defRPr/>
            </a:pPr>
            <a:r>
              <a:rPr lang="en-US" sz="1150">
                <a:solidFill>
                  <a:srgbClr val="595959"/>
                </a:solidFill>
                <a:latin typeface="Calibri"/>
              </a:rPr>
              <a:t>id · drugName · atcCode · dosage · frequency · startDate · endDate · prescribingPhysician</a:t>
            </a:r>
            <a:endParaRPr/>
          </a:p>
        </p:txBody>
      </p:sp>
      <p:sp>
        <p:nvSpPr>
          <p:cNvPr id="1193256000" name="Bar271"/>
          <p:cNvSpPr/>
          <p:nvPr/>
        </p:nvSpPr>
        <p:spPr bwMode="auto">
          <a:xfrm>
            <a:off x="457199" y="3451860"/>
            <a:ext cx="45719" cy="9189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43385099" name="Shape 1"/>
          <p:cNvSpPr/>
          <p:nvPr/>
        </p:nvSpPr>
        <p:spPr bwMode="auto">
          <a:xfrm>
            <a:off x="480058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29685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Technology Stack</a:t>
            </a:r>
            <a:endParaRPr lang="en-US" sz="3400"/>
          </a:p>
        </p:txBody>
      </p:sp>
      <p:sp>
        <p:nvSpPr>
          <p:cNvPr id="803058277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85362309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5527624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Frameworks &amp; Libraries</a:t>
            </a:r>
            <a:endParaRPr lang="en-US" sz="1300"/>
          </a:p>
        </p:txBody>
      </p:sp>
      <p:sp>
        <p:nvSpPr>
          <p:cNvPr id="750621232" name="Text 4"/>
          <p:cNvSpPr/>
          <p:nvPr/>
        </p:nvSpPr>
        <p:spPr bwMode="auto">
          <a:xfrm>
            <a:off x="640080" y="166420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Java 17</a:t>
            </a:r>
            <a:endParaRPr lang="en-US" sz="1050"/>
          </a:p>
        </p:txBody>
      </p:sp>
      <p:sp>
        <p:nvSpPr>
          <p:cNvPr id="1296734704" name="Text 5"/>
          <p:cNvSpPr/>
          <p:nvPr/>
        </p:nvSpPr>
        <p:spPr bwMode="auto">
          <a:xfrm>
            <a:off x="2487168" y="16642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LTS runtime (pinned)</a:t>
            </a:r>
            <a:endParaRPr lang="en-US" sz="950"/>
          </a:p>
        </p:txBody>
      </p:sp>
      <p:sp>
        <p:nvSpPr>
          <p:cNvPr id="1080750099" name="Text 6"/>
          <p:cNvSpPr/>
          <p:nvPr/>
        </p:nvSpPr>
        <p:spPr bwMode="auto">
          <a:xfrm>
            <a:off x="640080" y="208483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Boot 3.2.x</a:t>
            </a:r>
            <a:endParaRPr lang="en-US" sz="1050"/>
          </a:p>
        </p:txBody>
      </p:sp>
      <p:sp>
        <p:nvSpPr>
          <p:cNvPr id="24431550" name="Text 7"/>
          <p:cNvSpPr/>
          <p:nvPr/>
        </p:nvSpPr>
        <p:spPr bwMode="auto">
          <a:xfrm>
            <a:off x="2487168" y="208483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base + embedded Tomcat</a:t>
            </a:r>
            <a:endParaRPr lang="en-US" sz="950"/>
          </a:p>
        </p:txBody>
      </p:sp>
      <p:sp>
        <p:nvSpPr>
          <p:cNvPr id="1205950976" name="Text 8"/>
          <p:cNvSpPr/>
          <p:nvPr/>
        </p:nvSpPr>
        <p:spPr bwMode="auto">
          <a:xfrm>
            <a:off x="640080" y="250545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Cloud 2023.0.x</a:t>
            </a:r>
            <a:endParaRPr lang="en-US" sz="1050"/>
          </a:p>
        </p:txBody>
      </p:sp>
      <p:sp>
        <p:nvSpPr>
          <p:cNvPr id="1847813204" name="Text 9"/>
          <p:cNvSpPr/>
          <p:nvPr/>
        </p:nvSpPr>
        <p:spPr bwMode="auto">
          <a:xfrm>
            <a:off x="2487168" y="250545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Eureka, Gateway, Config, OpenFeign, LoadBalancer</a:t>
            </a:r>
            <a:endParaRPr lang="en-US" sz="950"/>
          </a:p>
        </p:txBody>
      </p:sp>
      <p:sp>
        <p:nvSpPr>
          <p:cNvPr id="1142090439" name="Text 10"/>
          <p:cNvSpPr/>
          <p:nvPr/>
        </p:nvSpPr>
        <p:spPr bwMode="auto">
          <a:xfrm>
            <a:off x="640080" y="292608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CXF 4.0.x</a:t>
            </a:r>
            <a:endParaRPr lang="en-US" sz="1050"/>
          </a:p>
        </p:txBody>
      </p:sp>
      <p:sp>
        <p:nvSpPr>
          <p:cNvPr id="1473383431" name="Text 11"/>
          <p:cNvSpPr/>
          <p:nvPr/>
        </p:nvSpPr>
        <p:spPr bwMode="auto">
          <a:xfrm>
            <a:off x="2487168" y="29260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contract-first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Anagrafe service + JAX-WS client</a:t>
            </a:r>
            <a:endParaRPr lang="en-US" sz="950"/>
          </a:p>
        </p:txBody>
      </p:sp>
      <p:sp>
        <p:nvSpPr>
          <p:cNvPr id="181993726" name="Text 12"/>
          <p:cNvSpPr/>
          <p:nvPr/>
        </p:nvSpPr>
        <p:spPr bwMode="auto">
          <a:xfrm>
            <a:off x="640080" y="3346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Resilience4j 2.2.x</a:t>
            </a:r>
            <a:endParaRPr lang="en-US" sz="1050"/>
          </a:p>
        </p:txBody>
      </p:sp>
      <p:sp>
        <p:nvSpPr>
          <p:cNvPr id="2022176471" name="Text 13"/>
          <p:cNvSpPr/>
          <p:nvPr/>
        </p:nvSpPr>
        <p:spPr bwMode="auto">
          <a:xfrm>
            <a:off x="2487168" y="334670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Circuit breaker on Care Coordinator Feign calls</a:t>
            </a:r>
            <a:endParaRPr lang="en-US" sz="950"/>
          </a:p>
        </p:txBody>
      </p:sp>
      <p:sp>
        <p:nvSpPr>
          <p:cNvPr id="677287216" name="Text 14"/>
          <p:cNvSpPr/>
          <p:nvPr/>
        </p:nvSpPr>
        <p:spPr bwMode="auto">
          <a:xfrm>
            <a:off x="640080" y="37673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springdoc-openapi 2.3.x</a:t>
            </a:r>
            <a:endParaRPr lang="en-US" sz="1050"/>
          </a:p>
        </p:txBody>
      </p:sp>
      <p:sp>
        <p:nvSpPr>
          <p:cNvPr id="317310610" name="Text 15"/>
          <p:cNvSpPr/>
          <p:nvPr/>
        </p:nvSpPr>
        <p:spPr bwMode="auto">
          <a:xfrm>
            <a:off x="2487168" y="376732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Swagger UI on all REST services</a:t>
            </a:r>
            <a:endParaRPr lang="en-US" sz="950"/>
          </a:p>
        </p:txBody>
      </p:sp>
      <p:sp>
        <p:nvSpPr>
          <p:cNvPr id="1477969521" name="Text 16"/>
          <p:cNvSpPr/>
          <p:nvPr/>
        </p:nvSpPr>
        <p:spPr bwMode="auto">
          <a:xfrm>
            <a:off x="640080" y="418795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Data JPA</a:t>
            </a:r>
            <a:endParaRPr lang="en-US" sz="1050"/>
          </a:p>
        </p:txBody>
      </p:sp>
      <p:sp>
        <p:nvSpPr>
          <p:cNvPr id="1977658205" name="Text 17"/>
          <p:cNvSpPr/>
          <p:nvPr/>
        </p:nvSpPr>
        <p:spPr bwMode="auto">
          <a:xfrm>
            <a:off x="2487168" y="41879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Repository layer over MySQL</a:t>
            </a:r>
            <a:endParaRPr lang="en-US" sz="950"/>
          </a:p>
        </p:txBody>
      </p:sp>
      <p:sp>
        <p:nvSpPr>
          <p:cNvPr id="589535997" name="Text 18"/>
          <p:cNvSpPr/>
          <p:nvPr/>
        </p:nvSpPr>
        <p:spPr bwMode="auto">
          <a:xfrm>
            <a:off x="640080" y="460857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Maven 3.9.x</a:t>
            </a:r>
            <a:endParaRPr lang="en-US" sz="1050"/>
          </a:p>
        </p:txBody>
      </p:sp>
      <p:sp>
        <p:nvSpPr>
          <p:cNvPr id="553477625" name="Text 19"/>
          <p:cNvSpPr/>
          <p:nvPr/>
        </p:nvSpPr>
        <p:spPr bwMode="auto">
          <a:xfrm>
            <a:off x="2487168" y="460857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Build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independent per-service POMs (no parent)</a:t>
            </a:r>
            <a:endParaRPr lang="en-US" sz="950"/>
          </a:p>
        </p:txBody>
      </p:sp>
      <p:sp>
        <p:nvSpPr>
          <p:cNvPr id="969181286" name="Shape 20"/>
          <p:cNvSpPr/>
          <p:nvPr/>
        </p:nvSpPr>
        <p:spPr bwMode="auto">
          <a:xfrm>
            <a:off x="475488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4428883" name="Text 21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</a:t>
            </a:r>
            <a:endParaRPr lang="en-US" sz="1300"/>
          </a:p>
        </p:txBody>
      </p:sp>
      <p:sp>
        <p:nvSpPr>
          <p:cNvPr id="408136883" name="Text 22"/>
          <p:cNvSpPr/>
          <p:nvPr/>
        </p:nvSpPr>
        <p:spPr bwMode="auto">
          <a:xfrm>
            <a:off x="4937760" y="166420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MySQL 8</a:t>
            </a:r>
            <a:endParaRPr lang="en-US" sz="1050"/>
          </a:p>
        </p:txBody>
      </p:sp>
      <p:sp>
        <p:nvSpPr>
          <p:cNvPr id="484841196" name="Text 23"/>
          <p:cNvSpPr/>
          <p:nvPr/>
        </p:nvSpPr>
        <p:spPr bwMode="auto">
          <a:xfrm>
            <a:off x="6656832" y="16642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Relational persistence, one schema per provider</a:t>
            </a:r>
            <a:endParaRPr lang="en-US" sz="950"/>
          </a:p>
        </p:txBody>
      </p:sp>
      <p:sp>
        <p:nvSpPr>
          <p:cNvPr id="524191160" name="Text 24"/>
          <p:cNvSpPr/>
          <p:nvPr/>
        </p:nvSpPr>
        <p:spPr bwMode="auto">
          <a:xfrm>
            <a:off x="4937760" y="208483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Docker + Compose</a:t>
            </a:r>
            <a:endParaRPr lang="en-US" sz="1050"/>
          </a:p>
        </p:txBody>
      </p:sp>
      <p:sp>
        <p:nvSpPr>
          <p:cNvPr id="701382912" name="Text 25"/>
          <p:cNvSpPr/>
          <p:nvPr/>
        </p:nvSpPr>
        <p:spPr bwMode="auto">
          <a:xfrm>
            <a:off x="6656832" y="208483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Single-command full-stack deployment</a:t>
            </a:r>
            <a:endParaRPr lang="en-US" sz="950"/>
          </a:p>
        </p:txBody>
      </p:sp>
      <p:sp>
        <p:nvSpPr>
          <p:cNvPr id="548564824" name="Text 26"/>
          <p:cNvSpPr/>
          <p:nvPr/>
        </p:nvSpPr>
        <p:spPr bwMode="auto">
          <a:xfrm>
            <a:off x="4937760" y="250545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Netflix Eureka</a:t>
            </a:r>
            <a:endParaRPr lang="en-US" sz="1050"/>
          </a:p>
        </p:txBody>
      </p:sp>
      <p:sp>
        <p:nvSpPr>
          <p:cNvPr id="770420087" name="Text 27"/>
          <p:cNvSpPr/>
          <p:nvPr/>
        </p:nvSpPr>
        <p:spPr bwMode="auto">
          <a:xfrm>
            <a:off x="6656832" y="250545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registry, self-registration, health checks</a:t>
            </a:r>
            <a:endParaRPr lang="en-US" sz="950"/>
          </a:p>
        </p:txBody>
      </p:sp>
      <p:sp>
        <p:nvSpPr>
          <p:cNvPr id="91447575" name="Text 28"/>
          <p:cNvSpPr/>
          <p:nvPr/>
        </p:nvSpPr>
        <p:spPr bwMode="auto">
          <a:xfrm>
            <a:off x="4937760" y="292608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Gateway</a:t>
            </a:r>
            <a:endParaRPr lang="en-US" sz="1050"/>
          </a:p>
        </p:txBody>
      </p:sp>
      <p:sp>
        <p:nvSpPr>
          <p:cNvPr id="620244370" name="Text 29"/>
          <p:cNvSpPr/>
          <p:nvPr/>
        </p:nvSpPr>
        <p:spPr bwMode="auto">
          <a:xfrm>
            <a:off x="6656832" y="292608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API Gateway, lb:// routing, path rewriting</a:t>
            </a:r>
            <a:endParaRPr lang="en-US" sz="950"/>
          </a:p>
        </p:txBody>
      </p:sp>
      <p:sp>
        <p:nvSpPr>
          <p:cNvPr id="583423648" name="Text 30"/>
          <p:cNvSpPr/>
          <p:nvPr/>
        </p:nvSpPr>
        <p:spPr bwMode="auto">
          <a:xfrm>
            <a:off x="4937760" y="334670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Config</a:t>
            </a:r>
            <a:endParaRPr lang="en-US" sz="1050"/>
          </a:p>
        </p:txBody>
      </p:sp>
      <p:sp>
        <p:nvSpPr>
          <p:cNvPr id="1065855262" name="Text 31"/>
          <p:cNvSpPr/>
          <p:nvPr/>
        </p:nvSpPr>
        <p:spPr bwMode="auto">
          <a:xfrm>
            <a:off x="6656832" y="334670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Centralised externalised config from git repo</a:t>
            </a:r>
            <a:endParaRPr lang="en-US" sz="950"/>
          </a:p>
        </p:txBody>
      </p:sp>
      <p:sp>
        <p:nvSpPr>
          <p:cNvPr id="1989512319" name="Text 32"/>
          <p:cNvSpPr/>
          <p:nvPr/>
        </p:nvSpPr>
        <p:spPr bwMode="auto">
          <a:xfrm>
            <a:off x="4937760" y="376732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OpenFeign</a:t>
            </a:r>
            <a:endParaRPr lang="en-US" sz="1050"/>
          </a:p>
        </p:txBody>
      </p:sp>
      <p:sp>
        <p:nvSpPr>
          <p:cNvPr id="113178271" name="Text 33"/>
          <p:cNvSpPr/>
          <p:nvPr/>
        </p:nvSpPr>
        <p:spPr bwMode="auto">
          <a:xfrm>
            <a:off x="6656832" y="376732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client with Eureka name resolution</a:t>
            </a:r>
            <a:endParaRPr lang="en-US" sz="950"/>
          </a:p>
        </p:txBody>
      </p:sp>
      <p:sp>
        <p:nvSpPr>
          <p:cNvPr id="1179089663" name="Text 34"/>
          <p:cNvSpPr/>
          <p:nvPr/>
        </p:nvSpPr>
        <p:spPr bwMode="auto">
          <a:xfrm>
            <a:off x="4937760" y="418795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@Async / ThreadPool</a:t>
            </a:r>
            <a:endParaRPr lang="en-US" sz="1050"/>
          </a:p>
        </p:txBody>
      </p:sp>
      <p:sp>
        <p:nvSpPr>
          <p:cNvPr id="1518467148" name="Text 35"/>
          <p:cNvSpPr/>
          <p:nvPr/>
        </p:nvSpPr>
        <p:spPr bwMode="auto">
          <a:xfrm>
            <a:off x="6656832" y="418795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Non-blocking processing in Laboratorio &amp; Imaging</a:t>
            </a:r>
            <a:endParaRPr lang="en-US" sz="950"/>
          </a:p>
        </p:txBody>
      </p:sp>
      <p:sp>
        <p:nvSpPr>
          <p:cNvPr id="1228571991" name="Text 36"/>
          <p:cNvSpPr/>
          <p:nvPr/>
        </p:nvSpPr>
        <p:spPr bwMode="auto">
          <a:xfrm>
            <a:off x="4937760" y="460857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CompletableFuture</a:t>
            </a:r>
            <a:endParaRPr lang="en-US" sz="1050"/>
          </a:p>
        </p:txBody>
      </p:sp>
      <p:sp>
        <p:nvSpPr>
          <p:cNvPr id="1225883340" name="Text 37"/>
          <p:cNvSpPr/>
          <p:nvPr/>
        </p:nvSpPr>
        <p:spPr bwMode="auto">
          <a:xfrm>
            <a:off x="6656832" y="460857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Fork-join parallel orchestration in Care Coordinator</a:t>
            </a: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/>
  <cp:revision>6</cp:revision>
  <dcterms:created xsi:type="dcterms:W3CDTF">2026-06-22T13:52:18Z</dcterms:created>
  <dcterms:modified xsi:type="dcterms:W3CDTF">2026-06-23T12:49:56Z</dcterms:modified>
</cp:coreProperties>
</file>