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7" r:id="rId16"/>
    <p:sldId id="276" r:id="rId17"/>
    <p:sldId id="272" r:id="rId18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867" y="85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81046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89221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9882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58488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74591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049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878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37906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318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2898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59518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3011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1842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20172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6766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1610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9235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52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808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29452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7449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3597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6876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687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1699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8770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5587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2358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24020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7079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3930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50255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1695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8249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8530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25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42196-202C-F19F-E59B-19A0C2A48E0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B224E-5401-2944-BD9E-177ABE848A1D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D4132B-99D2-A016-0E8A-93AF35626232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BE06E-E069-3376-C5E3-792169FA5BE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5974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8482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7378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14010" name="Shape 0"/>
          <p:cNvSpPr/>
          <p:nvPr/>
        </p:nvSpPr>
        <p:spPr bwMode="auto">
          <a:xfrm>
            <a:off x="0" y="0"/>
            <a:ext cx="164592" cy="514807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6408225" name="Text 1"/>
          <p:cNvSpPr/>
          <p:nvPr/>
        </p:nvSpPr>
        <p:spPr bwMode="auto">
          <a:xfrm>
            <a:off x="502920" y="82296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HealthSOA</a:t>
            </a:r>
            <a:endParaRPr lang="en-US" sz="6000"/>
          </a:p>
        </p:txBody>
      </p:sp>
      <p:sp>
        <p:nvSpPr>
          <p:cNvPr id="1798451353" name="Text 2"/>
          <p:cNvSpPr/>
          <p:nvPr/>
        </p:nvSpPr>
        <p:spPr bwMode="auto">
          <a:xfrm>
            <a:off x="502920" y="20574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A8C4E0"/>
                </a:solidFill>
                <a:latin typeface="Calibri"/>
                <a:ea typeface="Calibri"/>
                <a:cs typeface="Calibri"/>
              </a:rPr>
              <a:t>Hospital Platform for Pre-Procedure</a:t>
            </a:r>
            <a:endParaRPr lang="en-US" sz="2400"/>
          </a:p>
          <a:p>
            <a:pPr marL="0" indent="0">
              <a:buNone/>
              <a:defRPr/>
            </a:pPr>
            <a:r>
              <a:rPr lang="en-US" sz="2400">
                <a:solidFill>
                  <a:srgbClr val="A8C4E0"/>
                </a:solidFill>
                <a:latin typeface="Calibri"/>
                <a:ea typeface="Calibri"/>
                <a:cs typeface="Calibri"/>
              </a:rPr>
              <a:t>Clinical Assessment</a:t>
            </a:r>
            <a:endParaRPr lang="en-US" sz="2400"/>
          </a:p>
        </p:txBody>
      </p:sp>
      <p:sp>
        <p:nvSpPr>
          <p:cNvPr id="1604083491" name="Text 3"/>
          <p:cNvSpPr/>
          <p:nvPr/>
        </p:nvSpPr>
        <p:spPr bwMode="auto">
          <a:xfrm>
            <a:off x="502920" y="32461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7BA8C8"/>
                </a:solidFill>
                <a:latin typeface="Calibri"/>
                <a:ea typeface="Calibri"/>
                <a:cs typeface="Calibri"/>
              </a:rPr>
              <a:t>Service-Oriented Software Engineering  ·  A.A. 2025/2026</a:t>
            </a:r>
            <a:endParaRPr lang="en-US" sz="1500"/>
          </a:p>
        </p:txBody>
      </p:sp>
      <p:sp>
        <p:nvSpPr>
          <p:cNvPr id="1937587133" name="Text 4"/>
          <p:cNvSpPr/>
          <p:nvPr/>
        </p:nvSpPr>
        <p:spPr bwMode="auto">
          <a:xfrm>
            <a:off x="502920" y="3611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7BA8C8"/>
                </a:solidFill>
                <a:latin typeface="Calibri"/>
                <a:ea typeface="Calibri"/>
                <a:cs typeface="Calibri"/>
              </a:rPr>
              <a:t>Università degli Studi dell'Aquila  ·  DISIM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155269" name="Text 0"/>
          <p:cNvSpPr/>
          <p:nvPr/>
        </p:nvSpPr>
        <p:spPr bwMode="auto"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Block 1 — Domain, Architecture &amp; Infrastructure</a:t>
            </a:r>
            <a:endParaRPr lang="en-US" sz="4200"/>
          </a:p>
        </p:txBody>
      </p:sp>
      <p:sp>
        <p:nvSpPr>
          <p:cNvPr id="1010086063" name="Text 1"/>
          <p:cNvSpPr/>
          <p:nvPr/>
        </p:nvSpPr>
        <p:spPr bwMode="auto"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A8C4E0"/>
                </a:solidFill>
                <a:latin typeface="Calibri"/>
                <a:ea typeface="Calibri"/>
                <a:cs typeface="Calibri"/>
              </a:rPr>
              <a:t>Presenter 1</a:t>
            </a:r>
            <a:endParaRPr lang="en-US" sz="2000"/>
          </a:p>
        </p:txBody>
      </p:sp>
      <p:sp>
        <p:nvSpPr>
          <p:cNvPr id="930060544" name="Text 2"/>
          <p:cNvSpPr/>
          <p:nvPr/>
        </p:nvSpPr>
        <p:spPr bwMode="auto">
          <a:xfrm>
            <a:off x="731520" y="301751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7BA8C8"/>
                </a:solidFill>
                <a:latin typeface="Calibri"/>
                <a:ea typeface="Calibri"/>
                <a:cs typeface="Calibri"/>
              </a:rPr>
              <a:t>Domain &amp; Motivation · System Overview · Infrastructure · Load Balancing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608777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Domain &amp; Motivation</a:t>
            </a:r>
            <a:endParaRPr lang="en-US" sz="3400"/>
          </a:p>
        </p:txBody>
      </p:sp>
      <p:sp>
        <p:nvSpPr>
          <p:cNvPr id="1625896394" name="Shape 1"/>
          <p:cNvSpPr/>
          <p:nvPr/>
        </p:nvSpPr>
        <p:spPr bwMode="auto">
          <a:xfrm>
            <a:off x="457200" y="107899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46089212" name="Shape 2"/>
          <p:cNvSpPr/>
          <p:nvPr/>
        </p:nvSpPr>
        <p:spPr bwMode="auto">
          <a:xfrm>
            <a:off x="457200" y="1207008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7571582" name="Shape 3"/>
          <p:cNvSpPr/>
          <p:nvPr/>
        </p:nvSpPr>
        <p:spPr bwMode="auto">
          <a:xfrm>
            <a:off x="457200" y="1207008"/>
            <a:ext cx="64008" cy="8229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36720746" name="Text 4"/>
          <p:cNvSpPr/>
          <p:nvPr/>
        </p:nvSpPr>
        <p:spPr bwMode="auto">
          <a:xfrm>
            <a:off x="685800" y="12710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Legacy SOAP Integration</a:t>
            </a:r>
            <a:endParaRPr lang="en-US" sz="1300"/>
          </a:p>
        </p:txBody>
      </p:sp>
      <p:sp>
        <p:nvSpPr>
          <p:cNvPr id="1936408402" name="Text 5"/>
          <p:cNvSpPr/>
          <p:nvPr/>
        </p:nvSpPr>
        <p:spPr bwMode="auto">
          <a:xfrm>
            <a:off x="685800" y="15727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The regional Anagrafe Sanitaria is a real-world institutional system that exposes typed contracts via WSDL (HL7-style). Contract-first SOAP is imposed by the interoperability requirement — not an aesthetic choice.</a:t>
            </a:r>
            <a:endParaRPr lang="en-US" sz="1050"/>
          </a:p>
        </p:txBody>
      </p:sp>
      <p:sp>
        <p:nvSpPr>
          <p:cNvPr id="1349723246" name="Shape 6"/>
          <p:cNvSpPr/>
          <p:nvPr/>
        </p:nvSpPr>
        <p:spPr bwMode="auto">
          <a:xfrm>
            <a:off x="457200" y="2139696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15665304" name="Shape 7"/>
          <p:cNvSpPr/>
          <p:nvPr/>
        </p:nvSpPr>
        <p:spPr bwMode="auto">
          <a:xfrm>
            <a:off x="457200" y="2139696"/>
            <a:ext cx="64008" cy="82296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69556885" name="Text 8"/>
          <p:cNvSpPr/>
          <p:nvPr/>
        </p:nvSpPr>
        <p:spPr bwMode="auto">
          <a:xfrm>
            <a:off x="685800" y="22037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Asynchronous Lab Processing</a:t>
            </a:r>
            <a:endParaRPr lang="en-US" sz="1300"/>
          </a:p>
        </p:txBody>
      </p:sp>
      <p:sp>
        <p:nvSpPr>
          <p:cNvPr id="1548344549" name="Text 9"/>
          <p:cNvSpPr/>
          <p:nvPr/>
        </p:nvSpPr>
        <p:spPr bwMode="auto">
          <a:xfrm>
            <a:off x="685800" y="25054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 lab panel ordered urgently has real latency while the biological sample is processed. A synchronous call would hold threads and connections; asynchrony is mandated by the physics of the problem.</a:t>
            </a:r>
            <a:endParaRPr lang="en-US" sz="1050"/>
          </a:p>
        </p:txBody>
      </p:sp>
      <p:sp>
        <p:nvSpPr>
          <p:cNvPr id="1220613339" name="Shape 10"/>
          <p:cNvSpPr/>
          <p:nvPr/>
        </p:nvSpPr>
        <p:spPr bwMode="auto">
          <a:xfrm>
            <a:off x="457200" y="3072384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398284" name="Shape 11"/>
          <p:cNvSpPr/>
          <p:nvPr/>
        </p:nvSpPr>
        <p:spPr bwMode="auto">
          <a:xfrm>
            <a:off x="457200" y="3072384"/>
            <a:ext cx="64008" cy="8229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03124095" name="Text 12"/>
          <p:cNvSpPr/>
          <p:nvPr/>
        </p:nvSpPr>
        <p:spPr bwMode="auto">
          <a:xfrm>
            <a:off x="685800" y="31363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Independent Parallel Branches</a:t>
            </a:r>
            <a:endParaRPr lang="en-US" sz="1300"/>
          </a:p>
        </p:txBody>
      </p:sp>
      <p:sp>
        <p:nvSpPr>
          <p:cNvPr id="1272530478" name="Text 13"/>
          <p:cNvSpPr/>
          <p:nvPr/>
        </p:nvSpPr>
        <p:spPr bwMode="auto">
          <a:xfrm>
            <a:off x="685800" y="343814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 fitness assessment needs the diagnostic bundle (lab + imaging) AND the clinical history (registry + prescriptions) at the same time. The two data-collection branches are logically independent; sequential execution would needlessly double latency.</a:t>
            </a:r>
            <a:endParaRPr lang="en-US" sz="1050"/>
          </a:p>
        </p:txBody>
      </p:sp>
      <p:sp>
        <p:nvSpPr>
          <p:cNvPr id="1462346994" name="Shape 14"/>
          <p:cNvSpPr/>
          <p:nvPr/>
        </p:nvSpPr>
        <p:spPr bwMode="auto">
          <a:xfrm>
            <a:off x="457200" y="4005072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72156775" name="Shape 15"/>
          <p:cNvSpPr/>
          <p:nvPr/>
        </p:nvSpPr>
        <p:spPr bwMode="auto">
          <a:xfrm>
            <a:off x="457200" y="4005072"/>
            <a:ext cx="64008" cy="82296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0242651" name="Text 16"/>
          <p:cNvSpPr/>
          <p:nvPr/>
        </p:nvSpPr>
        <p:spPr bwMode="auto">
          <a:xfrm>
            <a:off x="68580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Bursty Peak Load</a:t>
            </a:r>
            <a:endParaRPr lang="en-US" sz="1300"/>
          </a:p>
        </p:txBody>
      </p:sp>
      <p:sp>
        <p:nvSpPr>
          <p:cNvPr id="1042482325" name="Text 17"/>
          <p:cNvSpPr/>
          <p:nvPr/>
        </p:nvSpPr>
        <p:spPr bwMode="auto">
          <a:xfrm>
            <a:off x="685800" y="437083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Anagrafe and Laboratorio sit on the critical path of every workflow and are hit by many clinicians simultaneously during morning rounds and ER rushes. Load is bursty and read-heavy — replication is motivated by specific system behaviour.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114326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System Overview</a:t>
            </a:r>
            <a:endParaRPr lang="en-US" sz="3400"/>
          </a:p>
        </p:txBody>
      </p:sp>
      <p:sp>
        <p:nvSpPr>
          <p:cNvPr id="1117423439" name="Text 24"/>
          <p:cNvSpPr/>
          <p:nvPr/>
        </p:nvSpPr>
        <p:spPr bwMode="auto">
          <a:xfrm>
            <a:off x="6903720" y="35478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950"/>
          </a:p>
        </p:txBody>
      </p:sp>
      <p:sp>
        <p:nvSpPr>
          <p:cNvPr id="1679032444" name="Text 30"/>
          <p:cNvSpPr/>
          <p:nvPr/>
        </p:nvSpPr>
        <p:spPr bwMode="auto">
          <a:xfrm>
            <a:off x="457200" y="4498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000"/>
          </a:p>
        </p:txBody>
      </p:sp>
      <p:pic>
        <p:nvPicPr>
          <p:cNvPr id="1976733564" name="Immagine 4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17187" y="790525"/>
            <a:ext cx="4909625" cy="4151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328841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Infrastructure Services</a:t>
            </a:r>
            <a:endParaRPr lang="en-US" sz="3400"/>
          </a:p>
        </p:txBody>
      </p:sp>
      <p:sp>
        <p:nvSpPr>
          <p:cNvPr id="2115470992" name="Shape 1"/>
          <p:cNvSpPr/>
          <p:nvPr/>
        </p:nvSpPr>
        <p:spPr bwMode="auto">
          <a:xfrm>
            <a:off x="457200" y="107899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57528447" name="Shape 2"/>
          <p:cNvSpPr/>
          <p:nvPr/>
        </p:nvSpPr>
        <p:spPr bwMode="auto">
          <a:xfrm>
            <a:off x="457200" y="1207008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94237692" name="Text 3"/>
          <p:cNvSpPr/>
          <p:nvPr/>
        </p:nvSpPr>
        <p:spPr bwMode="auto">
          <a:xfrm>
            <a:off x="640080" y="12801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Config Server</a:t>
            </a:r>
            <a:endParaRPr lang="en-US" sz="1400"/>
          </a:p>
        </p:txBody>
      </p:sp>
      <p:sp>
        <p:nvSpPr>
          <p:cNvPr id="1684140373" name="Shape 4"/>
          <p:cNvSpPr/>
          <p:nvPr/>
        </p:nvSpPr>
        <p:spPr bwMode="auto">
          <a:xfrm>
            <a:off x="7132320" y="1280160"/>
            <a:ext cx="1371600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42824325" name="Text 5"/>
          <p:cNvSpPr/>
          <p:nvPr/>
        </p:nvSpPr>
        <p:spPr bwMode="auto">
          <a:xfrm>
            <a:off x="713232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:8888</a:t>
            </a:r>
            <a:endParaRPr lang="en-US" sz="1200"/>
          </a:p>
        </p:txBody>
      </p:sp>
      <p:sp>
        <p:nvSpPr>
          <p:cNvPr id="246491270" name="Text 6"/>
          <p:cNvSpPr/>
          <p:nvPr/>
        </p:nvSpPr>
        <p:spPr bwMode="auto">
          <a:xfrm>
            <a:off x="658368" y="160934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Centralises all service properties in a sibling git repository (healthsoa-properties-repository)</a:t>
            </a:r>
            <a:endParaRPr lang="en-US" sz="1050"/>
          </a:p>
        </p:txBody>
      </p:sp>
      <p:sp>
        <p:nvSpPr>
          <p:cNvPr id="1324308861" name="Text 7"/>
          <p:cNvSpPr/>
          <p:nvPr/>
        </p:nvSpPr>
        <p:spPr bwMode="auto">
          <a:xfrm>
            <a:off x="658368" y="18470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Each microservice reads its entire config on startup via spring.config.import — no hardcoded values</a:t>
            </a:r>
            <a:endParaRPr lang="en-US" sz="1050"/>
          </a:p>
        </p:txBody>
      </p:sp>
      <p:sp>
        <p:nvSpPr>
          <p:cNvPr id="2074335640" name="Text 8"/>
          <p:cNvSpPr/>
          <p:nvPr/>
        </p:nvSpPr>
        <p:spPr bwMode="auto">
          <a:xfrm>
            <a:off x="658368" y="208483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Runtime refresh: POST /actuator/refresh + @RefreshScope pushes config changes without restarting</a:t>
            </a:r>
            <a:endParaRPr lang="en-US" sz="1050"/>
          </a:p>
        </p:txBody>
      </p:sp>
      <p:sp>
        <p:nvSpPr>
          <p:cNvPr id="460500659" name="Shape 9"/>
          <p:cNvSpPr/>
          <p:nvPr/>
        </p:nvSpPr>
        <p:spPr bwMode="auto">
          <a:xfrm>
            <a:off x="457200" y="246888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38031513" name="Text 10"/>
          <p:cNvSpPr/>
          <p:nvPr/>
        </p:nvSpPr>
        <p:spPr bwMode="auto">
          <a:xfrm>
            <a:off x="640080" y="2542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Discovery Server — Eureka</a:t>
            </a:r>
            <a:endParaRPr lang="en-US" sz="1400"/>
          </a:p>
        </p:txBody>
      </p:sp>
      <p:sp>
        <p:nvSpPr>
          <p:cNvPr id="677833625" name="Shape 11"/>
          <p:cNvSpPr/>
          <p:nvPr/>
        </p:nvSpPr>
        <p:spPr bwMode="auto">
          <a:xfrm>
            <a:off x="7132320" y="2542032"/>
            <a:ext cx="1371600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17172962" name="Text 12"/>
          <p:cNvSpPr/>
          <p:nvPr/>
        </p:nvSpPr>
        <p:spPr bwMode="auto">
          <a:xfrm>
            <a:off x="7132320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:8761</a:t>
            </a:r>
            <a:endParaRPr lang="en-US" sz="1200"/>
          </a:p>
        </p:txBody>
      </p:sp>
      <p:sp>
        <p:nvSpPr>
          <p:cNvPr id="480796170" name="Text 13"/>
          <p:cNvSpPr/>
          <p:nvPr/>
        </p:nvSpPr>
        <p:spPr bwMode="auto">
          <a:xfrm>
            <a:off x="658368" y="287121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All services self-register at startup via @EnableDiscoveryClient — no static address book</a:t>
            </a:r>
            <a:endParaRPr lang="en-US" sz="1050"/>
          </a:p>
        </p:txBody>
      </p:sp>
      <p:sp>
        <p:nvSpPr>
          <p:cNvPr id="1954834148" name="Text 14"/>
          <p:cNvSpPr/>
          <p:nvPr/>
        </p:nvSpPr>
        <p:spPr bwMode="auto">
          <a:xfrm>
            <a:off x="658368" y="310896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Gateway and Feign clients resolve service names dynamically; load balancing is transparent</a:t>
            </a:r>
            <a:endParaRPr lang="en-US" sz="1050"/>
          </a:p>
        </p:txBody>
      </p:sp>
      <p:sp>
        <p:nvSpPr>
          <p:cNvPr id="1307746289" name="Text 15"/>
          <p:cNvSpPr/>
          <p:nvPr/>
        </p:nvSpPr>
        <p:spPr bwMode="auto">
          <a:xfrm>
            <a:off x="658368" y="334670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Health dashboard at http://localhost:8761 shows registered instances and their status</a:t>
            </a:r>
            <a:endParaRPr lang="en-US" sz="1050"/>
          </a:p>
        </p:txBody>
      </p:sp>
      <p:sp>
        <p:nvSpPr>
          <p:cNvPr id="396697672" name="Shape 16"/>
          <p:cNvSpPr/>
          <p:nvPr/>
        </p:nvSpPr>
        <p:spPr bwMode="auto">
          <a:xfrm>
            <a:off x="457200" y="3730752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5697522" name="Text 17"/>
          <p:cNvSpPr/>
          <p:nvPr/>
        </p:nvSpPr>
        <p:spPr bwMode="auto">
          <a:xfrm>
            <a:off x="640080" y="380390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API Gateway</a:t>
            </a:r>
            <a:endParaRPr lang="en-US" sz="1400"/>
          </a:p>
        </p:txBody>
      </p:sp>
      <p:sp>
        <p:nvSpPr>
          <p:cNvPr id="883323324" name="Shape 18"/>
          <p:cNvSpPr/>
          <p:nvPr/>
        </p:nvSpPr>
        <p:spPr bwMode="auto">
          <a:xfrm>
            <a:off x="7132320" y="3803904"/>
            <a:ext cx="1371600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41283756" name="Text 19"/>
          <p:cNvSpPr/>
          <p:nvPr/>
        </p:nvSpPr>
        <p:spPr bwMode="auto">
          <a:xfrm>
            <a:off x="7132320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:9000</a:t>
            </a:r>
            <a:endParaRPr lang="en-US" sz="1200"/>
          </a:p>
        </p:txBody>
      </p:sp>
      <p:sp>
        <p:nvSpPr>
          <p:cNvPr id="1691062578" name="Text 20"/>
          <p:cNvSpPr/>
          <p:nvPr/>
        </p:nvSpPr>
        <p:spPr bwMode="auto">
          <a:xfrm>
            <a:off x="658368" y="41330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Single public entry point — clients never call services directly, only /api/&lt;prefix&gt;/**</a:t>
            </a:r>
            <a:endParaRPr lang="en-US" sz="1050"/>
          </a:p>
        </p:txBody>
      </p:sp>
      <p:sp>
        <p:nvSpPr>
          <p:cNvPr id="1256601035" name="Text 21"/>
          <p:cNvSpPr/>
          <p:nvPr/>
        </p:nvSpPr>
        <p:spPr bwMode="auto">
          <a:xfrm>
            <a:off x="658368" y="437083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• Routes use lb://service-name URIs; Spring Cloud LoadBalancer picks a healthy replica</a:t>
            </a:r>
            <a:endParaRPr lang="en-US" sz="1050"/>
          </a:p>
        </p:txBody>
      </p:sp>
      <p:sp>
        <p:nvSpPr>
          <p:cNvPr id="2058691019" name="Text 22"/>
          <p:cNvSpPr/>
          <p:nvPr/>
        </p:nvSpPr>
        <p:spPr bwMode="auto">
          <a:xfrm>
            <a:off x="658368" y="460857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011846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Load Balancing &amp; Scalability</a:t>
            </a:r>
            <a:endParaRPr lang="en-US" sz="3400"/>
          </a:p>
        </p:txBody>
      </p:sp>
      <p:sp>
        <p:nvSpPr>
          <p:cNvPr id="2055069512" name="Shape 1"/>
          <p:cNvSpPr/>
          <p:nvPr/>
        </p:nvSpPr>
        <p:spPr bwMode="auto">
          <a:xfrm>
            <a:off x="457200" y="107899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29769345" name="Shape 2"/>
          <p:cNvSpPr/>
          <p:nvPr/>
        </p:nvSpPr>
        <p:spPr bwMode="auto">
          <a:xfrm>
            <a:off x="457200" y="11887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77759159" name="Text 3"/>
          <p:cNvSpPr/>
          <p:nvPr/>
        </p:nvSpPr>
        <p:spPr bwMode="auto"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Scalable Services</a:t>
            </a:r>
            <a:endParaRPr lang="en-US" sz="1400"/>
          </a:p>
        </p:txBody>
      </p:sp>
      <p:sp>
        <p:nvSpPr>
          <p:cNvPr id="1014913030" name="Text 4"/>
          <p:cNvSpPr/>
          <p:nvPr/>
        </p:nvSpPr>
        <p:spPr bwMode="auto">
          <a:xfrm>
            <a:off x="658368" y="1691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Anagrafe  :9101</a:t>
            </a:r>
            <a:endParaRPr lang="en-US" sz="1150"/>
          </a:p>
        </p:txBody>
      </p:sp>
      <p:sp>
        <p:nvSpPr>
          <p:cNvPr id="400206308" name="Text 5"/>
          <p:cNvSpPr/>
          <p:nvPr/>
        </p:nvSpPr>
        <p:spPr bwMode="auto">
          <a:xfrm>
            <a:off x="658368" y="19659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Read-heavy on every workflow — demographics, history, allergies queried by every request</a:t>
            </a:r>
            <a:endParaRPr lang="en-US" sz="950"/>
          </a:p>
        </p:txBody>
      </p:sp>
      <p:sp>
        <p:nvSpPr>
          <p:cNvPr id="2139966638" name="Text 6"/>
          <p:cNvSpPr/>
          <p:nvPr/>
        </p:nvSpPr>
        <p:spPr bwMode="auto">
          <a:xfrm>
            <a:off x="658368" y="2441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Laboratorio  :9102</a:t>
            </a:r>
            <a:endParaRPr lang="en-US" sz="1150"/>
          </a:p>
        </p:txBody>
      </p:sp>
      <p:sp>
        <p:nvSpPr>
          <p:cNvPr id="364307177" name="Text 7"/>
          <p:cNvSpPr/>
          <p:nvPr/>
        </p:nvSpPr>
        <p:spPr bwMode="auto">
          <a:xfrm>
            <a:off x="658368" y="2715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Peak order bursts during morning rounds and ER rushes; async processing with per-instance thread pools</a:t>
            </a:r>
            <a:endParaRPr lang="en-US" sz="950"/>
          </a:p>
        </p:txBody>
      </p:sp>
      <p:sp>
        <p:nvSpPr>
          <p:cNvPr id="374838762" name="Text 8"/>
          <p:cNvSpPr/>
          <p:nvPr/>
        </p:nvSpPr>
        <p:spPr bwMode="auto">
          <a:xfrm>
            <a:off x="658368" y="3191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Imaging  :9104</a:t>
            </a:r>
            <a:endParaRPr lang="en-US" sz="1150"/>
          </a:p>
        </p:txBody>
      </p:sp>
      <p:sp>
        <p:nvSpPr>
          <p:cNvPr id="986382293" name="Text 9"/>
          <p:cNvSpPr/>
          <p:nvPr/>
        </p:nvSpPr>
        <p:spPr bwMode="auto">
          <a:xfrm>
            <a:off x="658368" y="34655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Same bursty profile as Laboratorio; stateless — any replica handles any request</a:t>
            </a:r>
            <a:endParaRPr lang="en-US" sz="950"/>
          </a:p>
        </p:txBody>
      </p:sp>
      <p:sp>
        <p:nvSpPr>
          <p:cNvPr id="2132289596" name="Text 10"/>
          <p:cNvSpPr/>
          <p:nvPr/>
        </p:nvSpPr>
        <p:spPr bwMode="auto">
          <a:xfrm>
            <a:off x="658368" y="39410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Diagnostic Aggregator  :9201</a:t>
            </a:r>
            <a:endParaRPr lang="en-US" sz="1150"/>
          </a:p>
        </p:txBody>
      </p:sp>
      <p:sp>
        <p:nvSpPr>
          <p:cNvPr id="485228092" name="Text 11"/>
          <p:cNvSpPr/>
          <p:nvPr/>
        </p:nvSpPr>
        <p:spPr bwMode="auto">
          <a:xfrm>
            <a:off x="658368" y="421538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Critical path of UC-3; stateless trackingId design enables transparent horizontal scaling</a:t>
            </a:r>
            <a:endParaRPr lang="en-US" sz="950"/>
          </a:p>
        </p:txBody>
      </p:sp>
      <p:sp>
        <p:nvSpPr>
          <p:cNvPr id="2074906671" name="Text 12"/>
          <p:cNvSpPr/>
          <p:nvPr/>
        </p:nvSpPr>
        <p:spPr bwMode="auto">
          <a:xfrm>
            <a:off x="658368" y="4572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50"/>
          </a:p>
        </p:txBody>
      </p:sp>
      <p:sp>
        <p:nvSpPr>
          <p:cNvPr id="360486904" name="Shape 13"/>
          <p:cNvSpPr/>
          <p:nvPr/>
        </p:nvSpPr>
        <p:spPr bwMode="auto">
          <a:xfrm>
            <a:off x="4754880" y="11887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57434256" name="Text 14"/>
          <p:cNvSpPr/>
          <p:nvPr/>
        </p:nvSpPr>
        <p:spPr bwMode="auto"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How It Works</a:t>
            </a:r>
            <a:endParaRPr lang="en-US" sz="1400"/>
          </a:p>
        </p:txBody>
      </p:sp>
      <p:sp>
        <p:nvSpPr>
          <p:cNvPr id="1207396533" name="Text 15"/>
          <p:cNvSpPr/>
          <p:nvPr/>
        </p:nvSpPr>
        <p:spPr bwMode="auto">
          <a:xfrm>
            <a:off x="4937760" y="1691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Eureka registration</a:t>
            </a:r>
            <a:endParaRPr lang="en-US" sz="1100"/>
          </a:p>
        </p:txBody>
      </p:sp>
      <p:sp>
        <p:nvSpPr>
          <p:cNvPr id="174548844" name="Text 16"/>
          <p:cNvSpPr/>
          <p:nvPr/>
        </p:nvSpPr>
        <p:spPr bwMode="auto">
          <a:xfrm>
            <a:off x="4937760" y="1947671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Every replica self-registers; gateway and Feign query the live registry at call time — no static routes.</a:t>
            </a:r>
            <a:endParaRPr lang="en-US" sz="950"/>
          </a:p>
        </p:txBody>
      </p:sp>
      <p:sp>
        <p:nvSpPr>
          <p:cNvPr id="1802155199" name="Text 17"/>
          <p:cNvSpPr/>
          <p:nvPr/>
        </p:nvSpPr>
        <p:spPr bwMode="auto">
          <a:xfrm>
            <a:off x="4937760" y="23591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lb:// routing</a:t>
            </a:r>
            <a:endParaRPr lang="en-US" sz="1100"/>
          </a:p>
        </p:txBody>
      </p:sp>
      <p:sp>
        <p:nvSpPr>
          <p:cNvPr id="761803930" name="Text 18"/>
          <p:cNvSpPr/>
          <p:nvPr/>
        </p:nvSpPr>
        <p:spPr bwMode="auto">
          <a:xfrm>
            <a:off x="4937760" y="2615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Gateway routes contain lb://service-name; Spring Cloud LoadBalancer distributes across healthy instances.</a:t>
            </a:r>
            <a:endParaRPr lang="en-US" sz="950"/>
          </a:p>
        </p:txBody>
      </p:sp>
      <p:sp>
        <p:nvSpPr>
          <p:cNvPr id="909269859" name="Text 19"/>
          <p:cNvSpPr/>
          <p:nvPr/>
        </p:nvSpPr>
        <p:spPr bwMode="auto">
          <a:xfrm>
            <a:off x="4937760" y="3026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@FeignClient(name=…)</a:t>
            </a:r>
            <a:endParaRPr lang="en-US" sz="1100"/>
          </a:p>
        </p:txBody>
      </p:sp>
      <p:sp>
        <p:nvSpPr>
          <p:cNvPr id="1681056692" name="Text 20"/>
          <p:cNvSpPr/>
          <p:nvPr/>
        </p:nvSpPr>
        <p:spPr bwMode="auto">
          <a:xfrm>
            <a:off x="4937760" y="32826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Feign resolves the name via Eureka — no IP, no port. Round-robin load balancing is implicit.</a:t>
            </a:r>
            <a:endParaRPr lang="en-US" sz="950"/>
          </a:p>
        </p:txBody>
      </p:sp>
      <p:sp>
        <p:nvSpPr>
          <p:cNvPr id="1543776846" name="Text 21"/>
          <p:cNvSpPr/>
          <p:nvPr/>
        </p:nvSpPr>
        <p:spPr bwMode="auto">
          <a:xfrm>
            <a:off x="4937760" y="36941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docker-compose --scale</a:t>
            </a:r>
            <a:endParaRPr lang="en-US" sz="1100"/>
          </a:p>
        </p:txBody>
      </p:sp>
      <p:sp>
        <p:nvSpPr>
          <p:cNvPr id="2143945279" name="Text 22"/>
          <p:cNvSpPr/>
          <p:nvPr/>
        </p:nvSpPr>
        <p:spPr bwMode="auto">
          <a:xfrm>
            <a:off x="4937760" y="39502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docker-compose up --scale laboratorio-service=3 spins up replicas with zero code changes.</a:t>
            </a:r>
            <a:endParaRPr lang="en-US" sz="950"/>
          </a:p>
        </p:txBody>
      </p:sp>
      <p:sp>
        <p:nvSpPr>
          <p:cNvPr id="1513938991" name="Text 23"/>
          <p:cNvSpPr/>
          <p:nvPr/>
        </p:nvSpPr>
        <p:spPr bwMode="auto">
          <a:xfrm>
            <a:off x="4937760" y="43616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890427796" name="Text 24"/>
          <p:cNvSpPr/>
          <p:nvPr/>
        </p:nvSpPr>
        <p:spPr bwMode="auto">
          <a:xfrm>
            <a:off x="4937760" y="4617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902554803" name="Text 25"/>
          <p:cNvSpPr/>
          <p:nvPr/>
        </p:nvSpPr>
        <p:spPr bwMode="auto">
          <a:xfrm>
            <a:off x="4937760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78934" name="Text 0"/>
          <p:cNvSpPr/>
          <p:nvPr/>
        </p:nvSpPr>
        <p:spPr bwMode="auto"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Block 2 — Providers, Prosumers &amp; Data Model</a:t>
            </a:r>
            <a:endParaRPr lang="en-US" sz="4200"/>
          </a:p>
        </p:txBody>
      </p:sp>
      <p:sp>
        <p:nvSpPr>
          <p:cNvPr id="1180184525" name="Text 1"/>
          <p:cNvSpPr/>
          <p:nvPr/>
        </p:nvSpPr>
        <p:spPr bwMode="auto"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2000"/>
          </a:p>
        </p:txBody>
      </p:sp>
      <p:sp>
        <p:nvSpPr>
          <p:cNvPr id="1482899316" name="Text 2"/>
          <p:cNvSpPr/>
          <p:nvPr/>
        </p:nvSpPr>
        <p:spPr bwMode="auto">
          <a:xfrm>
            <a:off x="731520" y="301751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566660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Service Providers</a:t>
            </a:r>
            <a:endParaRPr lang="en-US" sz="3400"/>
          </a:p>
        </p:txBody>
      </p:sp>
      <p:sp>
        <p:nvSpPr>
          <p:cNvPr id="771059243" name="Shape 1"/>
          <p:cNvSpPr/>
          <p:nvPr/>
        </p:nvSpPr>
        <p:spPr bwMode="auto">
          <a:xfrm>
            <a:off x="457200" y="71323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1141056" name="Shape 2"/>
          <p:cNvSpPr/>
          <p:nvPr/>
        </p:nvSpPr>
        <p:spPr bwMode="auto">
          <a:xfrm>
            <a:off x="264115" y="886968"/>
            <a:ext cx="1645920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9137067" name="Text 3"/>
          <p:cNvSpPr/>
          <p:nvPr/>
        </p:nvSpPr>
        <p:spPr bwMode="auto">
          <a:xfrm>
            <a:off x="328123" y="88696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</a:t>
            </a:r>
            <a:endParaRPr lang="en-US" sz="1200"/>
          </a:p>
        </p:txBody>
      </p:sp>
      <p:sp>
        <p:nvSpPr>
          <p:cNvPr id="1141892047" name="Shape 4"/>
          <p:cNvSpPr/>
          <p:nvPr/>
        </p:nvSpPr>
        <p:spPr bwMode="auto">
          <a:xfrm>
            <a:off x="1910035" y="886968"/>
            <a:ext cx="1188720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50921231" name="Text 5"/>
          <p:cNvSpPr/>
          <p:nvPr/>
        </p:nvSpPr>
        <p:spPr bwMode="auto">
          <a:xfrm>
            <a:off x="1974043" y="88696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Protocol</a:t>
            </a:r>
            <a:endParaRPr lang="en-US" sz="1200"/>
          </a:p>
        </p:txBody>
      </p:sp>
      <p:sp>
        <p:nvSpPr>
          <p:cNvPr id="1805459379" name="Shape 6"/>
          <p:cNvSpPr/>
          <p:nvPr/>
        </p:nvSpPr>
        <p:spPr bwMode="auto">
          <a:xfrm>
            <a:off x="3098755" y="886968"/>
            <a:ext cx="731520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811372" name="Text 7"/>
          <p:cNvSpPr/>
          <p:nvPr/>
        </p:nvSpPr>
        <p:spPr bwMode="auto">
          <a:xfrm>
            <a:off x="3162763" y="88696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Port</a:t>
            </a:r>
            <a:endParaRPr lang="en-US" sz="1200"/>
          </a:p>
        </p:txBody>
      </p:sp>
      <p:sp>
        <p:nvSpPr>
          <p:cNvPr id="1756053446" name="Shape 8"/>
          <p:cNvSpPr/>
          <p:nvPr/>
        </p:nvSpPr>
        <p:spPr bwMode="auto">
          <a:xfrm>
            <a:off x="3830275" y="886968"/>
            <a:ext cx="5120640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4729410" name="Text 9"/>
          <p:cNvSpPr/>
          <p:nvPr/>
        </p:nvSpPr>
        <p:spPr bwMode="auto">
          <a:xfrm>
            <a:off x="3894283" y="8869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Responsibility</a:t>
            </a:r>
            <a:endParaRPr lang="en-US" sz="1200"/>
          </a:p>
        </p:txBody>
      </p:sp>
      <p:sp>
        <p:nvSpPr>
          <p:cNvPr id="933144564" name="Shape 10"/>
          <p:cNvSpPr/>
          <p:nvPr/>
        </p:nvSpPr>
        <p:spPr bwMode="auto">
          <a:xfrm>
            <a:off x="264115" y="1682496"/>
            <a:ext cx="1645920" cy="731520"/>
          </a:xfrm>
          <a:prstGeom prst="rect">
            <a:avLst/>
          </a:prstGeom>
          <a:solidFill>
            <a:srgbClr val="D4EDE6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18532023" name="Text 11"/>
          <p:cNvSpPr/>
          <p:nvPr/>
        </p:nvSpPr>
        <p:spPr bwMode="auto">
          <a:xfrm>
            <a:off x="328123" y="1682496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Anagrafe Pazienti</a:t>
            </a:r>
            <a:endParaRPr lang="en-US" sz="1100"/>
          </a:p>
        </p:txBody>
      </p:sp>
      <p:sp>
        <p:nvSpPr>
          <p:cNvPr id="1244950720" name="Shape 12"/>
          <p:cNvSpPr/>
          <p:nvPr/>
        </p:nvSpPr>
        <p:spPr bwMode="auto">
          <a:xfrm>
            <a:off x="1910035" y="1682496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5462691" name="Text 13"/>
          <p:cNvSpPr/>
          <p:nvPr/>
        </p:nvSpPr>
        <p:spPr bwMode="auto">
          <a:xfrm>
            <a:off x="1974043" y="16824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SOAP (CXF)</a:t>
            </a:r>
            <a:endParaRPr lang="en-US" sz="1100"/>
          </a:p>
        </p:txBody>
      </p:sp>
      <p:sp>
        <p:nvSpPr>
          <p:cNvPr id="1261873714" name="Shape 14"/>
          <p:cNvSpPr/>
          <p:nvPr/>
        </p:nvSpPr>
        <p:spPr bwMode="auto">
          <a:xfrm>
            <a:off x="3098755" y="1682496"/>
            <a:ext cx="731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54294679" name="Text 15"/>
          <p:cNvSpPr/>
          <p:nvPr/>
        </p:nvSpPr>
        <p:spPr bwMode="auto">
          <a:xfrm>
            <a:off x="3162763" y="168249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9101</a:t>
            </a:r>
            <a:endParaRPr lang="en-US" sz="1300"/>
          </a:p>
        </p:txBody>
      </p:sp>
      <p:sp>
        <p:nvSpPr>
          <p:cNvPr id="585226878" name="Shape 16"/>
          <p:cNvSpPr/>
          <p:nvPr/>
        </p:nvSpPr>
        <p:spPr bwMode="auto">
          <a:xfrm>
            <a:off x="3830275" y="1682496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50344594" name="Text 17"/>
          <p:cNvSpPr/>
          <p:nvPr/>
        </p:nvSpPr>
        <p:spPr bwMode="auto">
          <a:xfrm>
            <a:off x="3894283" y="16824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Patient demographics, medical history (conditions), known allergies — contract-first WSDL</a:t>
            </a:r>
            <a:endParaRPr lang="en-US" sz="1100"/>
          </a:p>
        </p:txBody>
      </p:sp>
      <p:sp>
        <p:nvSpPr>
          <p:cNvPr id="146225116" name="Shape 18"/>
          <p:cNvSpPr/>
          <p:nvPr/>
        </p:nvSpPr>
        <p:spPr bwMode="auto">
          <a:xfrm>
            <a:off x="264115" y="2478024"/>
            <a:ext cx="1645920" cy="731520"/>
          </a:xfrm>
          <a:prstGeom prst="rect">
            <a:avLst/>
          </a:prstGeom>
          <a:solidFill>
            <a:srgbClr val="D4EDE6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7559510" name="Text 19"/>
          <p:cNvSpPr/>
          <p:nvPr/>
        </p:nvSpPr>
        <p:spPr bwMode="auto">
          <a:xfrm>
            <a:off x="328123" y="2478024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Laboratorio Analisi</a:t>
            </a:r>
            <a:endParaRPr lang="en-US" sz="1100"/>
          </a:p>
        </p:txBody>
      </p:sp>
      <p:sp>
        <p:nvSpPr>
          <p:cNvPr id="438714028" name="Shape 20"/>
          <p:cNvSpPr/>
          <p:nvPr/>
        </p:nvSpPr>
        <p:spPr bwMode="auto">
          <a:xfrm>
            <a:off x="1910035" y="2478024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48492917" name="Text 21"/>
          <p:cNvSpPr/>
          <p:nvPr/>
        </p:nvSpPr>
        <p:spPr bwMode="auto">
          <a:xfrm>
            <a:off x="1974043" y="247802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REST async</a:t>
            </a:r>
            <a:endParaRPr lang="en-US" sz="1100"/>
          </a:p>
        </p:txBody>
      </p:sp>
      <p:sp>
        <p:nvSpPr>
          <p:cNvPr id="2075686141" name="Shape 22"/>
          <p:cNvSpPr/>
          <p:nvPr/>
        </p:nvSpPr>
        <p:spPr bwMode="auto">
          <a:xfrm>
            <a:off x="3098755" y="2478024"/>
            <a:ext cx="731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68768226" name="Text 23"/>
          <p:cNvSpPr/>
          <p:nvPr/>
        </p:nvSpPr>
        <p:spPr bwMode="auto">
          <a:xfrm>
            <a:off x="3162763" y="247802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9102</a:t>
            </a:r>
            <a:endParaRPr lang="en-US" sz="1300"/>
          </a:p>
        </p:txBody>
      </p:sp>
      <p:sp>
        <p:nvSpPr>
          <p:cNvPr id="746189521" name="Shape 24"/>
          <p:cNvSpPr/>
          <p:nvPr/>
        </p:nvSpPr>
        <p:spPr bwMode="auto">
          <a:xfrm>
            <a:off x="3830275" y="2478024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78798883" name="Text 25"/>
          <p:cNvSpPr/>
          <p:nvPr/>
        </p:nvSpPr>
        <p:spPr bwMode="auto">
          <a:xfrm>
            <a:off x="3894283" y="2478024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Lab test orders (202 Accepted), status polling, result retrieval, callback/webhook support</a:t>
            </a:r>
            <a:endParaRPr lang="en-US" sz="1100"/>
          </a:p>
        </p:txBody>
      </p:sp>
      <p:sp>
        <p:nvSpPr>
          <p:cNvPr id="1541002154" name="Shape 26"/>
          <p:cNvSpPr/>
          <p:nvPr/>
        </p:nvSpPr>
        <p:spPr bwMode="auto">
          <a:xfrm>
            <a:off x="264115" y="3273552"/>
            <a:ext cx="1645920" cy="731520"/>
          </a:xfrm>
          <a:prstGeom prst="rect">
            <a:avLst/>
          </a:prstGeom>
          <a:solidFill>
            <a:srgbClr val="D4EDE6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71463112" name="Text 27"/>
          <p:cNvSpPr/>
          <p:nvPr/>
        </p:nvSpPr>
        <p:spPr bwMode="auto">
          <a:xfrm>
            <a:off x="328123" y="327355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Farmacia / Prescrizioni</a:t>
            </a:r>
            <a:endParaRPr lang="en-US" sz="1100"/>
          </a:p>
        </p:txBody>
      </p:sp>
      <p:sp>
        <p:nvSpPr>
          <p:cNvPr id="4992209" name="Shape 28"/>
          <p:cNvSpPr/>
          <p:nvPr/>
        </p:nvSpPr>
        <p:spPr bwMode="auto">
          <a:xfrm>
            <a:off x="1910035" y="3273552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28892156" name="Text 29"/>
          <p:cNvSpPr/>
          <p:nvPr/>
        </p:nvSpPr>
        <p:spPr bwMode="auto">
          <a:xfrm>
            <a:off x="1974043" y="327355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REST</a:t>
            </a:r>
            <a:endParaRPr lang="en-US" sz="1100"/>
          </a:p>
        </p:txBody>
      </p:sp>
      <p:sp>
        <p:nvSpPr>
          <p:cNvPr id="1771243884" name="Shape 30"/>
          <p:cNvSpPr/>
          <p:nvPr/>
        </p:nvSpPr>
        <p:spPr bwMode="auto">
          <a:xfrm>
            <a:off x="3098755" y="3273552"/>
            <a:ext cx="731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0779208" name="Text 31"/>
          <p:cNvSpPr/>
          <p:nvPr/>
        </p:nvSpPr>
        <p:spPr bwMode="auto">
          <a:xfrm>
            <a:off x="3162763" y="32735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9103</a:t>
            </a:r>
            <a:endParaRPr lang="en-US" sz="1300"/>
          </a:p>
        </p:txBody>
      </p:sp>
      <p:sp>
        <p:nvSpPr>
          <p:cNvPr id="1750424981" name="Shape 32"/>
          <p:cNvSpPr/>
          <p:nvPr/>
        </p:nvSpPr>
        <p:spPr bwMode="auto">
          <a:xfrm>
            <a:off x="3830275" y="3273552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96916329" name="Text 33"/>
          <p:cNvSpPr/>
          <p:nvPr/>
        </p:nvSpPr>
        <p:spPr bwMode="auto">
          <a:xfrm>
            <a:off x="3894283" y="327355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Active prescriptions per patient, drug interaction check endpoint</a:t>
            </a:r>
            <a:endParaRPr lang="en-US" sz="1100"/>
          </a:p>
        </p:txBody>
      </p:sp>
      <p:sp>
        <p:nvSpPr>
          <p:cNvPr id="1414467398" name="Shape 34"/>
          <p:cNvSpPr/>
          <p:nvPr/>
        </p:nvSpPr>
        <p:spPr bwMode="auto">
          <a:xfrm>
            <a:off x="264115" y="4069080"/>
            <a:ext cx="1645920" cy="731520"/>
          </a:xfrm>
          <a:prstGeom prst="rect">
            <a:avLst/>
          </a:prstGeom>
          <a:solidFill>
            <a:srgbClr val="D4EDE6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08480364" name="Text 35"/>
          <p:cNvSpPr/>
          <p:nvPr/>
        </p:nvSpPr>
        <p:spPr bwMode="auto">
          <a:xfrm>
            <a:off x="328123" y="4069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Diagnostica per Immagini</a:t>
            </a:r>
            <a:endParaRPr lang="en-US" sz="1100"/>
          </a:p>
        </p:txBody>
      </p:sp>
      <p:sp>
        <p:nvSpPr>
          <p:cNvPr id="1151626672" name="Shape 36"/>
          <p:cNvSpPr/>
          <p:nvPr/>
        </p:nvSpPr>
        <p:spPr bwMode="auto">
          <a:xfrm>
            <a:off x="1910035" y="406908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3180186" name="Text 37"/>
          <p:cNvSpPr/>
          <p:nvPr/>
        </p:nvSpPr>
        <p:spPr bwMode="auto">
          <a:xfrm>
            <a:off x="1974043" y="4069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REST</a:t>
            </a:r>
            <a:endParaRPr lang="en-US" sz="1100"/>
          </a:p>
        </p:txBody>
      </p:sp>
      <p:sp>
        <p:nvSpPr>
          <p:cNvPr id="522767693" name="Shape 38"/>
          <p:cNvSpPr/>
          <p:nvPr/>
        </p:nvSpPr>
        <p:spPr bwMode="auto">
          <a:xfrm>
            <a:off x="3098755" y="4069080"/>
            <a:ext cx="731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85666741" name="Text 39"/>
          <p:cNvSpPr/>
          <p:nvPr/>
        </p:nvSpPr>
        <p:spPr bwMode="auto">
          <a:xfrm>
            <a:off x="3162763" y="4069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9104</a:t>
            </a:r>
            <a:endParaRPr lang="en-US" sz="1300"/>
          </a:p>
        </p:txBody>
      </p:sp>
      <p:sp>
        <p:nvSpPr>
          <p:cNvPr id="640576383" name="Shape 40"/>
          <p:cNvSpPr/>
          <p:nvPr/>
        </p:nvSpPr>
        <p:spPr bwMode="auto">
          <a:xfrm>
            <a:off x="3830275" y="406908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78670105" name="Text 41"/>
          <p:cNvSpPr/>
          <p:nvPr/>
        </p:nvSpPr>
        <p:spPr bwMode="auto">
          <a:xfrm>
            <a:off x="3894283" y="4069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Radiology and imaging reports — same async model as Laboratorio</a:t>
            </a:r>
            <a:endParaRPr lang="en-US" sz="1100"/>
          </a:p>
        </p:txBody>
      </p:sp>
      <p:sp>
        <p:nvSpPr>
          <p:cNvPr id="515128642" name="Text 42"/>
          <p:cNvSpPr/>
          <p:nvPr/>
        </p:nvSpPr>
        <p:spPr bwMode="auto"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53163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Service Prosumers</a:t>
            </a:r>
            <a:endParaRPr lang="en-US" sz="3400"/>
          </a:p>
        </p:txBody>
      </p:sp>
      <p:sp>
        <p:nvSpPr>
          <p:cNvPr id="362480919" name="Shape 1"/>
          <p:cNvSpPr/>
          <p:nvPr/>
        </p:nvSpPr>
        <p:spPr bwMode="auto">
          <a:xfrm>
            <a:off x="429768" y="772668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62556319" name="Shape 2"/>
          <p:cNvSpPr/>
          <p:nvPr/>
        </p:nvSpPr>
        <p:spPr bwMode="auto">
          <a:xfrm>
            <a:off x="274319" y="882396"/>
            <a:ext cx="128016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10925972" name="Text 3"/>
          <p:cNvSpPr/>
          <p:nvPr/>
        </p:nvSpPr>
        <p:spPr bwMode="auto">
          <a:xfrm>
            <a:off x="338327" y="88239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</a:t>
            </a:r>
            <a:endParaRPr lang="en-US" sz="1200"/>
          </a:p>
        </p:txBody>
      </p:sp>
      <p:sp>
        <p:nvSpPr>
          <p:cNvPr id="1393028585" name="Shape 4"/>
          <p:cNvSpPr/>
          <p:nvPr/>
        </p:nvSpPr>
        <p:spPr bwMode="auto">
          <a:xfrm>
            <a:off x="1554479" y="882396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73535834" name="Text 5"/>
          <p:cNvSpPr/>
          <p:nvPr/>
        </p:nvSpPr>
        <p:spPr bwMode="auto">
          <a:xfrm>
            <a:off x="1618487" y="882396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Port</a:t>
            </a:r>
            <a:endParaRPr lang="en-US" sz="1200"/>
          </a:p>
        </p:txBody>
      </p:sp>
      <p:sp>
        <p:nvSpPr>
          <p:cNvPr id="322572463" name="Shape 6"/>
          <p:cNvSpPr/>
          <p:nvPr/>
        </p:nvSpPr>
        <p:spPr bwMode="auto">
          <a:xfrm>
            <a:off x="2194559" y="882396"/>
            <a:ext cx="228600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37117782" name="Text 7"/>
          <p:cNvSpPr/>
          <p:nvPr/>
        </p:nvSpPr>
        <p:spPr bwMode="auto">
          <a:xfrm>
            <a:off x="2258567" y="88239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Providers Consumed</a:t>
            </a:r>
            <a:endParaRPr lang="en-US" sz="1200"/>
          </a:p>
        </p:txBody>
      </p:sp>
      <p:sp>
        <p:nvSpPr>
          <p:cNvPr id="1113811398" name="Shape 8"/>
          <p:cNvSpPr/>
          <p:nvPr/>
        </p:nvSpPr>
        <p:spPr bwMode="auto">
          <a:xfrm>
            <a:off x="4480559" y="882396"/>
            <a:ext cx="448056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37023037" name="Text 9"/>
          <p:cNvSpPr/>
          <p:nvPr/>
        </p:nvSpPr>
        <p:spPr bwMode="auto">
          <a:xfrm>
            <a:off x="4544568" y="88239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lang="en-US" sz="1200"/>
          </a:p>
        </p:txBody>
      </p:sp>
      <p:sp>
        <p:nvSpPr>
          <p:cNvPr id="1678858313" name="Shape 10"/>
          <p:cNvSpPr/>
          <p:nvPr/>
        </p:nvSpPr>
        <p:spPr bwMode="auto">
          <a:xfrm>
            <a:off x="274319" y="1321308"/>
            <a:ext cx="1280160" cy="1115568"/>
          </a:xfrm>
          <a:prstGeom prst="rect">
            <a:avLst/>
          </a:prstGeom>
          <a:solidFill>
            <a:srgbClr val="EAE8F8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670064" name="Text 11"/>
          <p:cNvSpPr/>
          <p:nvPr/>
        </p:nvSpPr>
        <p:spPr bwMode="auto">
          <a:xfrm>
            <a:off x="338327" y="1321308"/>
            <a:ext cx="1188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Diagnostic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Aggregator</a:t>
            </a:r>
            <a:endParaRPr lang="en-US" sz="1050"/>
          </a:p>
        </p:txBody>
      </p:sp>
      <p:sp>
        <p:nvSpPr>
          <p:cNvPr id="1867887344" name="Shape 12"/>
          <p:cNvSpPr/>
          <p:nvPr/>
        </p:nvSpPr>
        <p:spPr bwMode="auto">
          <a:xfrm>
            <a:off x="1554479" y="1321308"/>
            <a:ext cx="640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03839355" name="Text 13"/>
          <p:cNvSpPr/>
          <p:nvPr/>
        </p:nvSpPr>
        <p:spPr bwMode="auto">
          <a:xfrm>
            <a:off x="1618487" y="1321308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9201</a:t>
            </a:r>
            <a:endParaRPr lang="en-US" sz="1200"/>
          </a:p>
        </p:txBody>
      </p:sp>
      <p:sp>
        <p:nvSpPr>
          <p:cNvPr id="1448781128" name="Shape 14"/>
          <p:cNvSpPr/>
          <p:nvPr/>
        </p:nvSpPr>
        <p:spPr bwMode="auto">
          <a:xfrm>
            <a:off x="2194559" y="1321308"/>
            <a:ext cx="22860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69673425" name="Text 15"/>
          <p:cNvSpPr/>
          <p:nvPr/>
        </p:nvSpPr>
        <p:spPr bwMode="auto">
          <a:xfrm>
            <a:off x="2258567" y="1321308"/>
            <a:ext cx="2194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Laboratorio (REST async) +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Imaging (REST async)</a:t>
            </a:r>
            <a:endParaRPr lang="en-US" sz="1050"/>
          </a:p>
        </p:txBody>
      </p:sp>
      <p:sp>
        <p:nvSpPr>
          <p:cNvPr id="1658628746" name="Shape 16"/>
          <p:cNvSpPr/>
          <p:nvPr/>
        </p:nvSpPr>
        <p:spPr bwMode="auto">
          <a:xfrm>
            <a:off x="4480559" y="1321308"/>
            <a:ext cx="44805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2726669" name="Text 17"/>
          <p:cNvSpPr/>
          <p:nvPr/>
        </p:nvSpPr>
        <p:spPr bwMode="auto">
          <a:xfrm>
            <a:off x="4544568" y="1321308"/>
            <a:ext cx="43891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UC-3: Order tests, manage async lifecycle, aggregate DiagnosticBundle — stateless via Base64URL trackingId</a:t>
            </a:r>
            <a:endParaRPr lang="en-US" sz="1050"/>
          </a:p>
        </p:txBody>
      </p:sp>
      <p:sp>
        <p:nvSpPr>
          <p:cNvPr id="631258054" name="Shape 18"/>
          <p:cNvSpPr/>
          <p:nvPr/>
        </p:nvSpPr>
        <p:spPr bwMode="auto">
          <a:xfrm>
            <a:off x="274319" y="2510028"/>
            <a:ext cx="1280160" cy="1115568"/>
          </a:xfrm>
          <a:prstGeom prst="rect">
            <a:avLst/>
          </a:prstGeom>
          <a:solidFill>
            <a:srgbClr val="EAE8F8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58694998" name="Text 19"/>
          <p:cNvSpPr/>
          <p:nvPr/>
        </p:nvSpPr>
        <p:spPr bwMode="auto">
          <a:xfrm>
            <a:off x="338327" y="2510028"/>
            <a:ext cx="1188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Clinical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Aggregator</a:t>
            </a:r>
            <a:endParaRPr lang="en-US" sz="1050"/>
          </a:p>
        </p:txBody>
      </p:sp>
      <p:sp>
        <p:nvSpPr>
          <p:cNvPr id="2014679733" name="Shape 20"/>
          <p:cNvSpPr/>
          <p:nvPr/>
        </p:nvSpPr>
        <p:spPr bwMode="auto">
          <a:xfrm>
            <a:off x="1554479" y="2510028"/>
            <a:ext cx="640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45884556" name="Text 21"/>
          <p:cNvSpPr/>
          <p:nvPr/>
        </p:nvSpPr>
        <p:spPr bwMode="auto">
          <a:xfrm>
            <a:off x="1618487" y="2510028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9202</a:t>
            </a:r>
            <a:endParaRPr lang="en-US" sz="1200"/>
          </a:p>
        </p:txBody>
      </p:sp>
      <p:sp>
        <p:nvSpPr>
          <p:cNvPr id="1760851664" name="Shape 22"/>
          <p:cNvSpPr/>
          <p:nvPr/>
        </p:nvSpPr>
        <p:spPr bwMode="auto">
          <a:xfrm>
            <a:off x="2194559" y="2510028"/>
            <a:ext cx="22860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3482947" name="Text 23"/>
          <p:cNvSpPr/>
          <p:nvPr/>
        </p:nvSpPr>
        <p:spPr bwMode="auto">
          <a:xfrm>
            <a:off x="2258567" y="2510028"/>
            <a:ext cx="2194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Anagrafe (SOAP/CXF) +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Farmacia (REST)</a:t>
            </a:r>
            <a:endParaRPr lang="en-US" sz="1050"/>
          </a:p>
        </p:txBody>
      </p:sp>
      <p:sp>
        <p:nvSpPr>
          <p:cNvPr id="1678947766" name="Shape 24"/>
          <p:cNvSpPr/>
          <p:nvPr/>
        </p:nvSpPr>
        <p:spPr bwMode="auto">
          <a:xfrm>
            <a:off x="4480559" y="2510028"/>
            <a:ext cx="44805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2923523" name="Text 25"/>
          <p:cNvSpPr/>
          <p:nvPr/>
        </p:nvSpPr>
        <p:spPr bwMode="auto">
          <a:xfrm>
            <a:off x="4544568" y="2510028"/>
            <a:ext cx="43891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UC-2: Bridge SOAP↔REST, compose demographics + history + prescriptions → ClinicalProfile</a:t>
            </a:r>
            <a:endParaRPr lang="en-US" sz="1050"/>
          </a:p>
        </p:txBody>
      </p:sp>
      <p:sp>
        <p:nvSpPr>
          <p:cNvPr id="1591578619" name="Shape 26"/>
          <p:cNvSpPr/>
          <p:nvPr/>
        </p:nvSpPr>
        <p:spPr bwMode="auto">
          <a:xfrm>
            <a:off x="274319" y="3698748"/>
            <a:ext cx="1280160" cy="1115568"/>
          </a:xfrm>
          <a:prstGeom prst="rect">
            <a:avLst/>
          </a:prstGeom>
          <a:solidFill>
            <a:srgbClr val="EAE8F8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44991873" name="Text 27"/>
          <p:cNvSpPr/>
          <p:nvPr/>
        </p:nvSpPr>
        <p:spPr bwMode="auto">
          <a:xfrm>
            <a:off x="338327" y="3698748"/>
            <a:ext cx="1188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Care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Coordinator</a:t>
            </a:r>
            <a:endParaRPr lang="en-US" sz="1050"/>
          </a:p>
        </p:txBody>
      </p:sp>
      <p:sp>
        <p:nvSpPr>
          <p:cNvPr id="2019053165" name="Shape 28"/>
          <p:cNvSpPr/>
          <p:nvPr/>
        </p:nvSpPr>
        <p:spPr bwMode="auto">
          <a:xfrm>
            <a:off x="1554479" y="3698748"/>
            <a:ext cx="640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93642556" name="Text 29"/>
          <p:cNvSpPr/>
          <p:nvPr/>
        </p:nvSpPr>
        <p:spPr bwMode="auto">
          <a:xfrm>
            <a:off x="1618487" y="3698748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onsolas"/>
                <a:ea typeface="Consolas"/>
                <a:cs typeface="Consolas"/>
              </a:rPr>
              <a:t>9203</a:t>
            </a:r>
            <a:endParaRPr lang="en-US" sz="1200"/>
          </a:p>
        </p:txBody>
      </p:sp>
      <p:sp>
        <p:nvSpPr>
          <p:cNvPr id="1548241092" name="Shape 30"/>
          <p:cNvSpPr/>
          <p:nvPr/>
        </p:nvSpPr>
        <p:spPr bwMode="auto">
          <a:xfrm>
            <a:off x="2194559" y="3698748"/>
            <a:ext cx="22860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75595110" name="Text 31"/>
          <p:cNvSpPr/>
          <p:nvPr/>
        </p:nvSpPr>
        <p:spPr bwMode="auto">
          <a:xfrm>
            <a:off x="2258567" y="3698748"/>
            <a:ext cx="2194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Clinical Aggregator (REST) +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Diagnostic Aggregator (REST)</a:t>
            </a:r>
            <a:endParaRPr lang="en-US" sz="1050"/>
          </a:p>
        </p:txBody>
      </p:sp>
      <p:sp>
        <p:nvSpPr>
          <p:cNvPr id="71333290" name="Shape 32"/>
          <p:cNvSpPr/>
          <p:nvPr/>
        </p:nvSpPr>
        <p:spPr bwMode="auto">
          <a:xfrm>
            <a:off x="4480559" y="3698748"/>
            <a:ext cx="44805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3579878" name="Text 33"/>
          <p:cNvSpPr/>
          <p:nvPr/>
        </p:nvSpPr>
        <p:spPr bwMode="auto">
          <a:xfrm>
            <a:off x="4544568" y="3698748"/>
            <a:ext cx="43891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UC-1: Parallel orchestration, sync barrier (allOf().join()), risk analysis → FitnessReport</a:t>
            </a:r>
            <a:endParaRPr lang="en-US" sz="1050"/>
          </a:p>
        </p:txBody>
      </p:sp>
      <p:sp>
        <p:nvSpPr>
          <p:cNvPr id="1705514120" name="Text 34"/>
          <p:cNvSpPr/>
          <p:nvPr/>
        </p:nvSpPr>
        <p:spPr bwMode="auto">
          <a:xfrm>
            <a:off x="274319" y="48143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469861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Key Data Structures</a:t>
            </a:r>
            <a:endParaRPr lang="en-US" sz="3400"/>
          </a:p>
        </p:txBody>
      </p:sp>
      <p:sp>
        <p:nvSpPr>
          <p:cNvPr id="1155469712" name="Shape 1"/>
          <p:cNvSpPr/>
          <p:nvPr/>
        </p:nvSpPr>
        <p:spPr bwMode="auto">
          <a:xfrm>
            <a:off x="457200" y="107899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96823011" name="Shape 2"/>
          <p:cNvSpPr/>
          <p:nvPr/>
        </p:nvSpPr>
        <p:spPr bwMode="auto">
          <a:xfrm>
            <a:off x="457200" y="11887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8615919" name="Text 3"/>
          <p:cNvSpPr/>
          <p:nvPr/>
        </p:nvSpPr>
        <p:spPr bwMode="auto">
          <a:xfrm>
            <a:off x="64008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Domain Objects (Providers)</a:t>
            </a:r>
            <a:endParaRPr lang="en-US" sz="1300"/>
          </a:p>
        </p:txBody>
      </p:sp>
      <p:sp>
        <p:nvSpPr>
          <p:cNvPr id="795802126" name="Text 4"/>
          <p:cNvSpPr/>
          <p:nvPr/>
        </p:nvSpPr>
        <p:spPr bwMode="auto">
          <a:xfrm>
            <a:off x="640080" y="1645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Patient</a:t>
            </a:r>
            <a:endParaRPr lang="en-US" sz="1100"/>
          </a:p>
        </p:txBody>
      </p:sp>
      <p:sp>
        <p:nvSpPr>
          <p:cNvPr id="1767840225" name="Text 5"/>
          <p:cNvSpPr/>
          <p:nvPr/>
        </p:nvSpPr>
        <p:spPr bwMode="auto">
          <a:xfrm>
            <a:off x="1874520" y="1645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id · fiscalCode · name · dob · gender</a:t>
            </a:r>
            <a:endParaRPr lang="en-US" sz="900"/>
          </a:p>
        </p:txBody>
      </p:sp>
      <p:sp>
        <p:nvSpPr>
          <p:cNvPr id="772275139" name="Text 6"/>
          <p:cNvSpPr/>
          <p:nvPr/>
        </p:nvSpPr>
        <p:spPr bwMode="auto">
          <a:xfrm>
            <a:off x="640080" y="2103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Condition</a:t>
            </a:r>
            <a:endParaRPr lang="en-US" sz="1100"/>
          </a:p>
        </p:txBody>
      </p:sp>
      <p:sp>
        <p:nvSpPr>
          <p:cNvPr id="1394659913" name="Text 7"/>
          <p:cNvSpPr/>
          <p:nvPr/>
        </p:nvSpPr>
        <p:spPr bwMode="auto">
          <a:xfrm>
            <a:off x="1874520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icdCode · description · diagnosisDate · status (ACTIVE/RESOLVED)</a:t>
            </a:r>
            <a:endParaRPr lang="en-US" sz="900"/>
          </a:p>
        </p:txBody>
      </p:sp>
      <p:sp>
        <p:nvSpPr>
          <p:cNvPr id="642396494" name="Text 8"/>
          <p:cNvSpPr/>
          <p:nvPr/>
        </p:nvSpPr>
        <p:spPr bwMode="auto">
          <a:xfrm>
            <a:off x="640080" y="2560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Allergy</a:t>
            </a:r>
            <a:endParaRPr lang="en-US" sz="1100"/>
          </a:p>
        </p:txBody>
      </p:sp>
      <p:sp>
        <p:nvSpPr>
          <p:cNvPr id="1761324336" name="Text 9"/>
          <p:cNvSpPr/>
          <p:nvPr/>
        </p:nvSpPr>
        <p:spPr bwMode="auto">
          <a:xfrm>
            <a:off x="187452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allergen · severity (MILD/SEVERE/ANAPHYLACTIC) · detectedDate</a:t>
            </a:r>
            <a:endParaRPr lang="en-US" sz="900"/>
          </a:p>
        </p:txBody>
      </p:sp>
      <p:sp>
        <p:nvSpPr>
          <p:cNvPr id="1033609345" name="Text 10"/>
          <p:cNvSpPr/>
          <p:nvPr/>
        </p:nvSpPr>
        <p:spPr bwMode="auto">
          <a:xfrm>
            <a:off x="640080" y="301751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Prescription</a:t>
            </a:r>
            <a:endParaRPr lang="en-US" sz="1100"/>
          </a:p>
        </p:txBody>
      </p:sp>
      <p:sp>
        <p:nvSpPr>
          <p:cNvPr id="359309987" name="Text 11"/>
          <p:cNvSpPr/>
          <p:nvPr/>
        </p:nvSpPr>
        <p:spPr bwMode="auto">
          <a:xfrm>
            <a:off x="1874520" y="3017519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drugName · atcCode · dosage · frequency · start/end dates</a:t>
            </a:r>
            <a:endParaRPr lang="en-US" sz="900"/>
          </a:p>
        </p:txBody>
      </p:sp>
      <p:sp>
        <p:nvSpPr>
          <p:cNvPr id="884452568" name="Text 12"/>
          <p:cNvSpPr/>
          <p:nvPr/>
        </p:nvSpPr>
        <p:spPr bwMode="auto">
          <a:xfrm>
            <a:off x="640080" y="3474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TestOrder</a:t>
            </a:r>
            <a:endParaRPr lang="en-US" sz="1100"/>
          </a:p>
        </p:txBody>
      </p:sp>
      <p:sp>
        <p:nvSpPr>
          <p:cNvPr id="1627362357" name="Text 13"/>
          <p:cNvSpPr/>
          <p:nvPr/>
        </p:nvSpPr>
        <p:spPr bwMode="auto">
          <a:xfrm>
            <a:off x="1874520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orderId · examCode · status (PENDING/PROCESSING/COMPLETED/ERROR)</a:t>
            </a:r>
            <a:endParaRPr lang="en-US" sz="900"/>
          </a:p>
        </p:txBody>
      </p:sp>
      <p:sp>
        <p:nvSpPr>
          <p:cNvPr id="92153171" name="Text 14"/>
          <p:cNvSpPr/>
          <p:nvPr/>
        </p:nvSpPr>
        <p:spPr bwMode="auto">
          <a:xfrm>
            <a:off x="640080" y="3931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Measurement</a:t>
            </a:r>
            <a:endParaRPr lang="en-US" sz="1100"/>
          </a:p>
        </p:txBody>
      </p:sp>
      <p:sp>
        <p:nvSpPr>
          <p:cNvPr id="1961818563" name="Text 15"/>
          <p:cNvSpPr/>
          <p:nvPr/>
        </p:nvSpPr>
        <p:spPr bwMode="auto">
          <a:xfrm>
            <a:off x="1874520" y="3931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parameter · value · unit · refRange · anomalyFlag</a:t>
            </a:r>
            <a:endParaRPr lang="en-US" sz="900"/>
          </a:p>
        </p:txBody>
      </p:sp>
      <p:sp>
        <p:nvSpPr>
          <p:cNvPr id="2062330457" name="Text 16"/>
          <p:cNvSpPr/>
          <p:nvPr/>
        </p:nvSpPr>
        <p:spPr bwMode="auto">
          <a:xfrm>
            <a:off x="640080" y="4389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ImagingReport</a:t>
            </a:r>
            <a:endParaRPr lang="en-US" sz="1100"/>
          </a:p>
        </p:txBody>
      </p:sp>
      <p:sp>
        <p:nvSpPr>
          <p:cNvPr id="624282933" name="Text 17"/>
          <p:cNvSpPr/>
          <p:nvPr/>
        </p:nvSpPr>
        <p:spPr bwMode="auto">
          <a:xfrm>
            <a:off x="1874520" y="4389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reportId · examType · date · findings · criticalFlag</a:t>
            </a:r>
            <a:endParaRPr lang="en-US" sz="900"/>
          </a:p>
        </p:txBody>
      </p:sp>
      <p:sp>
        <p:nvSpPr>
          <p:cNvPr id="882088093" name="Shape 18"/>
          <p:cNvSpPr/>
          <p:nvPr/>
        </p:nvSpPr>
        <p:spPr bwMode="auto">
          <a:xfrm>
            <a:off x="4754880" y="1179575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99519836" name="Text 19"/>
          <p:cNvSpPr/>
          <p:nvPr/>
        </p:nvSpPr>
        <p:spPr bwMode="auto">
          <a:xfrm>
            <a:off x="493776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Composed Objects (Prosumers)</a:t>
            </a:r>
            <a:endParaRPr lang="en-US" sz="1300"/>
          </a:p>
        </p:txBody>
      </p:sp>
      <p:sp>
        <p:nvSpPr>
          <p:cNvPr id="1150178934" name="Text 20"/>
          <p:cNvSpPr/>
          <p:nvPr/>
        </p:nvSpPr>
        <p:spPr bwMode="auto">
          <a:xfrm>
            <a:off x="4937760" y="16459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DiagnosticBundle</a:t>
            </a:r>
            <a:endParaRPr lang="en-US" sz="1100"/>
          </a:p>
        </p:txBody>
      </p:sp>
      <p:sp>
        <p:nvSpPr>
          <p:cNvPr id="2101221476" name="Text 21"/>
          <p:cNvSpPr/>
          <p:nvPr/>
        </p:nvSpPr>
        <p:spPr bwMode="auto">
          <a:xfrm>
            <a:off x="6400800" y="15727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List&lt;TestResult&gt;  +  List&lt;ImagingReport&gt;</a:t>
            </a:r>
            <a:endParaRPr lang="en-US" sz="850"/>
          </a:p>
        </p:txBody>
      </p:sp>
      <p:sp>
        <p:nvSpPr>
          <p:cNvPr id="71656541" name="Text 22"/>
          <p:cNvSpPr/>
          <p:nvPr/>
        </p:nvSpPr>
        <p:spPr bwMode="auto">
          <a:xfrm>
            <a:off x="4937760" y="23042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ClinicalProfile</a:t>
            </a:r>
            <a:endParaRPr lang="en-US" sz="1100"/>
          </a:p>
        </p:txBody>
      </p:sp>
      <p:sp>
        <p:nvSpPr>
          <p:cNvPr id="1978392917" name="Text 23"/>
          <p:cNvSpPr/>
          <p:nvPr/>
        </p:nvSpPr>
        <p:spPr bwMode="auto">
          <a:xfrm>
            <a:off x="6400800" y="21717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Patient  +  List&lt;Condition&gt;  +  List&lt;Allergy&gt;  +  List&lt;Prescription&gt;</a:t>
            </a:r>
            <a:endParaRPr lang="en-US" sz="850"/>
          </a:p>
        </p:txBody>
      </p:sp>
      <p:sp>
        <p:nvSpPr>
          <p:cNvPr id="1816062572" name="Text 24"/>
          <p:cNvSpPr/>
          <p:nvPr/>
        </p:nvSpPr>
        <p:spPr bwMode="auto">
          <a:xfrm>
            <a:off x="4937760" y="309981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RiskFlag</a:t>
            </a:r>
            <a:endParaRPr lang="en-US" sz="1100"/>
          </a:p>
        </p:txBody>
      </p:sp>
      <p:sp>
        <p:nvSpPr>
          <p:cNvPr id="935017624" name="Text 25"/>
          <p:cNvSpPr/>
          <p:nvPr/>
        </p:nvSpPr>
        <p:spPr bwMode="auto">
          <a:xfrm>
            <a:off x="6400800" y="298094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type (DRUG_CONTRAINDICATION / CRITICAL_VALUE / ALLERGY / OTHER)  ·  severity (INFO/WARNING/CRITICAL)  ·  description</a:t>
            </a:r>
            <a:endParaRPr lang="en-US" sz="850"/>
          </a:p>
        </p:txBody>
      </p:sp>
      <p:sp>
        <p:nvSpPr>
          <p:cNvPr id="1467160880" name="Text 26"/>
          <p:cNvSpPr/>
          <p:nvPr/>
        </p:nvSpPr>
        <p:spPr bwMode="auto">
          <a:xfrm>
            <a:off x="4937760" y="40507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FitnessReport</a:t>
            </a:r>
            <a:endParaRPr lang="en-US" sz="1100"/>
          </a:p>
        </p:txBody>
      </p:sp>
      <p:sp>
        <p:nvSpPr>
          <p:cNvPr id="1888170103" name="Text 27"/>
          <p:cNvSpPr/>
          <p:nvPr/>
        </p:nvSpPr>
        <p:spPr bwMode="auto">
          <a:xfrm>
            <a:off x="6400800" y="3881627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outcome:  FIT  |  FIT_WITH_RESERVATION  |  UNFIT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patientId  ·  generatedAt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ClinicalProfile  +  DiagnosticBundle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List&lt;RiskFlag&gt;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80502" name="Text 0"/>
          <p:cNvSpPr/>
          <p:nvPr/>
        </p:nvSpPr>
        <p:spPr bwMode="auto"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Block 3 — Use Cases, Sequence Diagrams, Technological Stack</a:t>
            </a:r>
            <a:endParaRPr lang="en-US" sz="4200"/>
          </a:p>
        </p:txBody>
      </p:sp>
      <p:sp>
        <p:nvSpPr>
          <p:cNvPr id="713143029" name="Text 1"/>
          <p:cNvSpPr/>
          <p:nvPr/>
        </p:nvSpPr>
        <p:spPr bwMode="auto"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2000"/>
          </a:p>
        </p:txBody>
      </p:sp>
      <p:sp>
        <p:nvSpPr>
          <p:cNvPr id="913264797" name="Text 2"/>
          <p:cNvSpPr/>
          <p:nvPr/>
        </p:nvSpPr>
        <p:spPr bwMode="auto">
          <a:xfrm>
            <a:off x="731520" y="301751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561558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Use Cases Summary</a:t>
            </a:r>
            <a:endParaRPr lang="en-US" sz="3400"/>
          </a:p>
        </p:txBody>
      </p:sp>
      <p:sp>
        <p:nvSpPr>
          <p:cNvPr id="756890967" name="Shape 1"/>
          <p:cNvSpPr/>
          <p:nvPr/>
        </p:nvSpPr>
        <p:spPr bwMode="auto">
          <a:xfrm>
            <a:off x="309489" y="694944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43711079" name="Shape 2"/>
          <p:cNvSpPr/>
          <p:nvPr/>
        </p:nvSpPr>
        <p:spPr bwMode="auto">
          <a:xfrm>
            <a:off x="309489" y="804672"/>
            <a:ext cx="6400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73308399" name="Text 3"/>
          <p:cNvSpPr/>
          <p:nvPr/>
        </p:nvSpPr>
        <p:spPr bwMode="auto">
          <a:xfrm>
            <a:off x="364353" y="80467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UC</a:t>
            </a:r>
            <a:endParaRPr lang="en-US" sz="1200"/>
          </a:p>
        </p:txBody>
      </p:sp>
      <p:sp>
        <p:nvSpPr>
          <p:cNvPr id="217080753" name="Shape 4"/>
          <p:cNvSpPr/>
          <p:nvPr/>
        </p:nvSpPr>
        <p:spPr bwMode="auto">
          <a:xfrm>
            <a:off x="949569" y="804672"/>
            <a:ext cx="13716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52481744" name="Text 5"/>
          <p:cNvSpPr/>
          <p:nvPr/>
        </p:nvSpPr>
        <p:spPr bwMode="auto">
          <a:xfrm>
            <a:off x="1004433" y="8046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</a:t>
            </a:r>
            <a:endParaRPr lang="en-US" sz="1200"/>
          </a:p>
        </p:txBody>
      </p:sp>
      <p:sp>
        <p:nvSpPr>
          <p:cNvPr id="1422135529" name="Shape 6"/>
          <p:cNvSpPr/>
          <p:nvPr/>
        </p:nvSpPr>
        <p:spPr bwMode="auto">
          <a:xfrm>
            <a:off x="2321169" y="804672"/>
            <a:ext cx="41148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46144404" name="Text 7"/>
          <p:cNvSpPr/>
          <p:nvPr/>
        </p:nvSpPr>
        <p:spPr bwMode="auto">
          <a:xfrm>
            <a:off x="2376033" y="80467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Components</a:t>
            </a:r>
            <a:endParaRPr lang="en-US" sz="1200"/>
          </a:p>
        </p:txBody>
      </p:sp>
      <p:sp>
        <p:nvSpPr>
          <p:cNvPr id="2033003652" name="Shape 8"/>
          <p:cNvSpPr/>
          <p:nvPr/>
        </p:nvSpPr>
        <p:spPr bwMode="auto">
          <a:xfrm>
            <a:off x="6481689" y="804672"/>
            <a:ext cx="25146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0797" name="Text 9"/>
          <p:cNvSpPr/>
          <p:nvPr/>
        </p:nvSpPr>
        <p:spPr bwMode="auto">
          <a:xfrm>
            <a:off x="6536553" y="804672"/>
            <a:ext cx="2441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Interaction</a:t>
            </a:r>
            <a:endParaRPr lang="en-US" sz="1200"/>
          </a:p>
        </p:txBody>
      </p:sp>
      <p:sp>
        <p:nvSpPr>
          <p:cNvPr id="741399059" name="Shape 10"/>
          <p:cNvSpPr/>
          <p:nvPr/>
        </p:nvSpPr>
        <p:spPr bwMode="auto">
          <a:xfrm>
            <a:off x="309489" y="1188720"/>
            <a:ext cx="64008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64042601" name="Text 11"/>
          <p:cNvSpPr/>
          <p:nvPr/>
        </p:nvSpPr>
        <p:spPr bwMode="auto">
          <a:xfrm>
            <a:off x="364353" y="1188720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UC-1</a:t>
            </a:r>
            <a:endParaRPr lang="en-US" sz="1300"/>
          </a:p>
        </p:txBody>
      </p:sp>
      <p:sp>
        <p:nvSpPr>
          <p:cNvPr id="1596230165" name="Shape 12"/>
          <p:cNvSpPr/>
          <p:nvPr/>
        </p:nvSpPr>
        <p:spPr bwMode="auto">
          <a:xfrm>
            <a:off x="949569" y="1188720"/>
            <a:ext cx="13716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3762724" name="Text 13"/>
          <p:cNvSpPr/>
          <p:nvPr/>
        </p:nvSpPr>
        <p:spPr bwMode="auto">
          <a:xfrm>
            <a:off x="1004433" y="1188720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Full Fitness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Assessment</a:t>
            </a:r>
            <a:endParaRPr lang="en-US" sz="1050"/>
          </a:p>
        </p:txBody>
      </p:sp>
      <p:sp>
        <p:nvSpPr>
          <p:cNvPr id="992520816" name="Shape 14"/>
          <p:cNvSpPr/>
          <p:nvPr/>
        </p:nvSpPr>
        <p:spPr bwMode="auto">
          <a:xfrm>
            <a:off x="2321169" y="1188720"/>
            <a:ext cx="41148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11995247" name="Text 15"/>
          <p:cNvSpPr/>
          <p:nvPr/>
        </p:nvSpPr>
        <p:spPr bwMode="auto">
          <a:xfrm>
            <a:off x="2376033" y="1188720"/>
            <a:ext cx="4041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→ Gateway → Care Coordinator →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Clinical Agg + Diagnostic Agg → providers</a:t>
            </a:r>
            <a:endParaRPr lang="en-US" sz="1050"/>
          </a:p>
        </p:txBody>
      </p:sp>
      <p:sp>
        <p:nvSpPr>
          <p:cNvPr id="1122094209" name="Shape 16"/>
          <p:cNvSpPr/>
          <p:nvPr/>
        </p:nvSpPr>
        <p:spPr bwMode="auto">
          <a:xfrm>
            <a:off x="6481689" y="1188720"/>
            <a:ext cx="25146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2541640" name="Text 17"/>
          <p:cNvSpPr/>
          <p:nvPr/>
        </p:nvSpPr>
        <p:spPr bwMode="auto">
          <a:xfrm>
            <a:off x="6536553" y="1188720"/>
            <a:ext cx="2441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Parallel branches +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sync barrier (allOf)</a:t>
            </a:r>
            <a:endParaRPr lang="en-US" sz="1100"/>
          </a:p>
        </p:txBody>
      </p:sp>
      <p:sp>
        <p:nvSpPr>
          <p:cNvPr id="464637742" name="Shape 18"/>
          <p:cNvSpPr/>
          <p:nvPr/>
        </p:nvSpPr>
        <p:spPr bwMode="auto">
          <a:xfrm>
            <a:off x="309489" y="2167128"/>
            <a:ext cx="640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41485295" name="Text 19"/>
          <p:cNvSpPr/>
          <p:nvPr/>
        </p:nvSpPr>
        <p:spPr bwMode="auto">
          <a:xfrm>
            <a:off x="364353" y="2167128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UC-2</a:t>
            </a:r>
            <a:endParaRPr lang="en-US" sz="1300"/>
          </a:p>
        </p:txBody>
      </p:sp>
      <p:sp>
        <p:nvSpPr>
          <p:cNvPr id="1851475701" name="Shape 20"/>
          <p:cNvSpPr/>
          <p:nvPr/>
        </p:nvSpPr>
        <p:spPr bwMode="auto">
          <a:xfrm>
            <a:off x="949569" y="2167128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40547932" name="Text 21"/>
          <p:cNvSpPr/>
          <p:nvPr/>
        </p:nvSpPr>
        <p:spPr bwMode="auto">
          <a:xfrm>
            <a:off x="1004433" y="21671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Clinical History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Consultation</a:t>
            </a:r>
            <a:endParaRPr lang="en-US" sz="1050"/>
          </a:p>
        </p:txBody>
      </p:sp>
      <p:sp>
        <p:nvSpPr>
          <p:cNvPr id="1672246356" name="Shape 22"/>
          <p:cNvSpPr/>
          <p:nvPr/>
        </p:nvSpPr>
        <p:spPr bwMode="auto">
          <a:xfrm>
            <a:off x="2321169" y="216712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1103279" name="Text 23"/>
          <p:cNvSpPr/>
          <p:nvPr/>
        </p:nvSpPr>
        <p:spPr bwMode="auto">
          <a:xfrm>
            <a:off x="2376033" y="2167128"/>
            <a:ext cx="4041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→ Gateway → Clinical Aggregator →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Anagrafe (SOAP) + Farmacia (REST)</a:t>
            </a:r>
            <a:endParaRPr lang="en-US" sz="1050"/>
          </a:p>
        </p:txBody>
      </p:sp>
      <p:sp>
        <p:nvSpPr>
          <p:cNvPr id="614112485" name="Shape 24"/>
          <p:cNvSpPr/>
          <p:nvPr/>
        </p:nvSpPr>
        <p:spPr bwMode="auto">
          <a:xfrm>
            <a:off x="6481689" y="2167128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71343698" name="Text 25"/>
          <p:cNvSpPr/>
          <p:nvPr/>
        </p:nvSpPr>
        <p:spPr bwMode="auto">
          <a:xfrm>
            <a:off x="6536553" y="2167128"/>
            <a:ext cx="2441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Synchronous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composition</a:t>
            </a:r>
            <a:endParaRPr lang="en-US" sz="1100"/>
          </a:p>
        </p:txBody>
      </p:sp>
      <p:sp>
        <p:nvSpPr>
          <p:cNvPr id="628656661" name="Shape 26"/>
          <p:cNvSpPr/>
          <p:nvPr/>
        </p:nvSpPr>
        <p:spPr bwMode="auto">
          <a:xfrm>
            <a:off x="309489" y="3145536"/>
            <a:ext cx="64008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58351202" name="Text 27"/>
          <p:cNvSpPr/>
          <p:nvPr/>
        </p:nvSpPr>
        <p:spPr bwMode="auto">
          <a:xfrm>
            <a:off x="364353" y="3145536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UC-3</a:t>
            </a:r>
            <a:endParaRPr lang="en-US" sz="1300"/>
          </a:p>
        </p:txBody>
      </p:sp>
      <p:sp>
        <p:nvSpPr>
          <p:cNvPr id="1316681624" name="Shape 28"/>
          <p:cNvSpPr/>
          <p:nvPr/>
        </p:nvSpPr>
        <p:spPr bwMode="auto">
          <a:xfrm>
            <a:off x="949569" y="3145536"/>
            <a:ext cx="13716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70235670" name="Text 29"/>
          <p:cNvSpPr/>
          <p:nvPr/>
        </p:nvSpPr>
        <p:spPr bwMode="auto">
          <a:xfrm>
            <a:off x="1004433" y="3145536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Diagnostic Test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Order &amp; Poll</a:t>
            </a:r>
            <a:endParaRPr lang="en-US" sz="1050"/>
          </a:p>
        </p:txBody>
      </p:sp>
      <p:sp>
        <p:nvSpPr>
          <p:cNvPr id="1697539978" name="Shape 30"/>
          <p:cNvSpPr/>
          <p:nvPr/>
        </p:nvSpPr>
        <p:spPr bwMode="auto">
          <a:xfrm>
            <a:off x="2321169" y="3145536"/>
            <a:ext cx="41148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78947133" name="Text 31"/>
          <p:cNvSpPr/>
          <p:nvPr/>
        </p:nvSpPr>
        <p:spPr bwMode="auto">
          <a:xfrm>
            <a:off x="2376033" y="3145536"/>
            <a:ext cx="4041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→ Gateway → Diagnostic Aggregator →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Laboratorio (async) + Imaging (async)</a:t>
            </a:r>
            <a:endParaRPr lang="en-US" sz="1050"/>
          </a:p>
        </p:txBody>
      </p:sp>
      <p:sp>
        <p:nvSpPr>
          <p:cNvPr id="292720619" name="Shape 32"/>
          <p:cNvSpPr/>
          <p:nvPr/>
        </p:nvSpPr>
        <p:spPr bwMode="auto">
          <a:xfrm>
            <a:off x="6481689" y="3145536"/>
            <a:ext cx="2514600" cy="914400"/>
          </a:xfrm>
          <a:prstGeom prst="rect">
            <a:avLst/>
          </a:prstGeom>
          <a:solidFill>
            <a:srgbClr val="EFF3F7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71340822" name="Text 33"/>
          <p:cNvSpPr/>
          <p:nvPr/>
        </p:nvSpPr>
        <p:spPr bwMode="auto">
          <a:xfrm>
            <a:off x="6536553" y="3145536"/>
            <a:ext cx="2441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Async request-reply</a:t>
            </a:r>
            <a:endParaRPr lang="en-US" sz="1100" dirty="0"/>
          </a:p>
          <a:p>
            <a:pPr marL="0" indent="0">
              <a:buNone/>
              <a:defRPr/>
            </a:pPr>
            <a:r>
              <a:rPr lang="en-US" sz="110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with polling/callback</a:t>
            </a:r>
            <a:endParaRPr lang="en-US" sz="1100" dirty="0"/>
          </a:p>
        </p:txBody>
      </p:sp>
      <p:sp>
        <p:nvSpPr>
          <p:cNvPr id="1231594307" name="Shape 34"/>
          <p:cNvSpPr/>
          <p:nvPr/>
        </p:nvSpPr>
        <p:spPr bwMode="auto">
          <a:xfrm>
            <a:off x="309489" y="4123944"/>
            <a:ext cx="640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09932440" name="Text 35"/>
          <p:cNvSpPr/>
          <p:nvPr/>
        </p:nvSpPr>
        <p:spPr bwMode="auto">
          <a:xfrm>
            <a:off x="364353" y="4123944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UC-4</a:t>
            </a:r>
            <a:endParaRPr lang="en-US" sz="1300"/>
          </a:p>
        </p:txBody>
      </p:sp>
      <p:sp>
        <p:nvSpPr>
          <p:cNvPr id="2097008402" name="Shape 36"/>
          <p:cNvSpPr/>
          <p:nvPr/>
        </p:nvSpPr>
        <p:spPr bwMode="auto">
          <a:xfrm>
            <a:off x="949569" y="4123944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61747034" name="Text 37"/>
          <p:cNvSpPr/>
          <p:nvPr/>
        </p:nvSpPr>
        <p:spPr bwMode="auto">
          <a:xfrm>
            <a:off x="1004433" y="4123944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New Prescription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(direct)</a:t>
            </a:r>
            <a:endParaRPr lang="en-US" sz="1050"/>
          </a:p>
        </p:txBody>
      </p:sp>
      <p:sp>
        <p:nvSpPr>
          <p:cNvPr id="643133793" name="Shape 38"/>
          <p:cNvSpPr/>
          <p:nvPr/>
        </p:nvSpPr>
        <p:spPr bwMode="auto">
          <a:xfrm>
            <a:off x="2321169" y="4123944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5871747" name="Text 39"/>
          <p:cNvSpPr/>
          <p:nvPr/>
        </p:nvSpPr>
        <p:spPr bwMode="auto">
          <a:xfrm>
            <a:off x="2376033" y="4123944"/>
            <a:ext cx="4041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→ Gateway → Farmacia</a:t>
            </a:r>
            <a:endParaRPr lang="en-US" sz="1050" dirty="0"/>
          </a:p>
          <a:p>
            <a:pPr marL="0" indent="0">
              <a:buNone/>
              <a:defRPr/>
            </a:pPr>
            <a:r>
              <a:rPr lang="en-US" sz="105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(no prosumer involved)</a:t>
            </a:r>
            <a:endParaRPr lang="en-US" sz="1050" dirty="0"/>
          </a:p>
        </p:txBody>
      </p:sp>
      <p:sp>
        <p:nvSpPr>
          <p:cNvPr id="1684157678" name="Shape 40"/>
          <p:cNvSpPr/>
          <p:nvPr/>
        </p:nvSpPr>
        <p:spPr bwMode="auto">
          <a:xfrm>
            <a:off x="6481689" y="4123944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9410255" name="Text 41"/>
          <p:cNvSpPr/>
          <p:nvPr/>
        </p:nvSpPr>
        <p:spPr bwMode="auto">
          <a:xfrm>
            <a:off x="6536553" y="4123944"/>
            <a:ext cx="2441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Direct client→provider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REST CRUD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3400" b="1" dirty="0">
                <a:solidFill>
                  <a:srgbClr val="1F4E79"/>
                </a:solidFill>
                <a:latin typeface="Calibri"/>
              </a:rPr>
              <a:t>UC-1  Full Fitness Assessment</a:t>
            </a:r>
          </a:p>
        </p:txBody>
      </p:sp>
      <p:sp>
        <p:nvSpPr>
          <p:cNvPr id="200" name="ScenCard"/>
          <p:cNvSpPr/>
          <p:nvPr/>
        </p:nvSpPr>
        <p:spPr bwMode="auto">
          <a:xfrm>
            <a:off x="457200" y="150876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500" b="1" dirty="0">
                <a:solidFill>
                  <a:srgbClr val="1F4E79"/>
                </a:solidFill>
                <a:latin typeface="Calibri"/>
              </a:rPr>
              <a:t>The Physician Requests</a:t>
            </a:r>
          </a:p>
          <a:p>
            <a:pPr marL="0" indent="0" algn="l">
              <a:buNone/>
              <a:defRPr/>
            </a:pPr>
            <a:r>
              <a:rPr lang="en-US" sz="1250" dirty="0">
                <a:solidFill>
                  <a:srgbClr val="595959"/>
                </a:solidFill>
                <a:latin typeface="Calibri"/>
              </a:rPr>
              <a:t>A complete fitness assessment for a surgical or medical procedure.</a:t>
            </a:r>
          </a:p>
          <a:p>
            <a:pPr marL="0" indent="0" algn="l">
              <a:buNone/>
              <a:defRPr/>
            </a:pPr>
            <a:r>
              <a:rPr lang="en-US" sz="1250" dirty="0">
                <a:solidFill>
                  <a:srgbClr val="595959"/>
                </a:solidFill>
                <a:latin typeface="Calibri"/>
              </a:rPr>
              <a:t>The system collects data from multiple services in parallel and aggregates them into a single clinical response.</a:t>
            </a:r>
          </a:p>
          <a:p>
            <a:pPr marL="0" indent="0" algn="l">
              <a:buNone/>
              <a:defRPr/>
            </a:pPr>
            <a:r>
              <a:rPr lang="en-US" sz="1300" b="1" dirty="0">
                <a:solidFill>
                  <a:srgbClr val="0F6E56"/>
                </a:solidFill>
                <a:latin typeface="Calibri"/>
              </a:rPr>
              <a:t>Assessment outcome:</a:t>
            </a:r>
          </a:p>
        </p:txBody>
      </p:sp>
      <p:sp>
        <p:nvSpPr>
          <p:cNvPr id="201" name="Bar201"/>
          <p:cNvSpPr/>
          <p:nvPr/>
        </p:nvSpPr>
        <p:spPr bwMode="auto">
          <a:xfrm>
            <a:off x="457200" y="1508760"/>
            <a:ext cx="64008" cy="31089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Badge210"/>
          <p:cNvSpPr/>
          <p:nvPr/>
        </p:nvSpPr>
        <p:spPr bwMode="auto">
          <a:xfrm>
            <a:off x="640080" y="3383279"/>
            <a:ext cx="583387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211" name="Badge211"/>
          <p:cNvSpPr/>
          <p:nvPr/>
        </p:nvSpPr>
        <p:spPr bwMode="auto">
          <a:xfrm>
            <a:off x="1600200" y="3394525"/>
            <a:ext cx="1133856" cy="38404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FIT WITH RESERVATION</a:t>
            </a:r>
          </a:p>
        </p:txBody>
      </p:sp>
      <p:sp>
        <p:nvSpPr>
          <p:cNvPr id="212" name="Badge212"/>
          <p:cNvSpPr/>
          <p:nvPr/>
        </p:nvSpPr>
        <p:spPr bwMode="auto">
          <a:xfrm>
            <a:off x="3148279" y="3383279"/>
            <a:ext cx="652882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UNFIT</a:t>
            </a:r>
          </a:p>
        </p:txBody>
      </p:sp>
      <p:sp>
        <p:nvSpPr>
          <p:cNvPr id="220" name="RepLbl"/>
          <p:cNvSpPr/>
          <p:nvPr/>
        </p:nvSpPr>
        <p:spPr bwMode="auto">
          <a:xfrm>
            <a:off x="4572000" y="834205"/>
            <a:ext cx="434340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</a:ln>
        </p:spPr>
        <p:txBody>
          <a:bodyPr wrap="square" lIns="13000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1F4E79"/>
                </a:solidFill>
                <a:latin typeface="Calibri"/>
              </a:rPr>
              <a:t>FitnessReport · Response Contents</a:t>
            </a:r>
          </a:p>
        </p:txBody>
      </p:sp>
      <p:sp>
        <p:nvSpPr>
          <p:cNvPr id="300" name="Bar300"/>
          <p:cNvSpPr/>
          <p:nvPr/>
        </p:nvSpPr>
        <p:spPr bwMode="auto">
          <a:xfrm>
            <a:off x="4572000" y="1291405"/>
            <a:ext cx="64008" cy="402336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Item0"/>
          <p:cNvSpPr/>
          <p:nvPr/>
        </p:nvSpPr>
        <p:spPr bwMode="auto">
          <a:xfrm>
            <a:off x="4572000" y="12914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Overall outcome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FIT / FIT WITH RESERVATION / UNFIT</a:t>
            </a:r>
          </a:p>
        </p:txBody>
      </p:sp>
      <p:sp>
        <p:nvSpPr>
          <p:cNvPr id="310" name="Bar310"/>
          <p:cNvSpPr/>
          <p:nvPr/>
        </p:nvSpPr>
        <p:spPr bwMode="auto">
          <a:xfrm>
            <a:off x="4572000" y="1748605"/>
            <a:ext cx="64008" cy="402336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Item1"/>
          <p:cNvSpPr/>
          <p:nvPr/>
        </p:nvSpPr>
        <p:spPr bwMode="auto">
          <a:xfrm>
            <a:off x="4572000" y="17486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Patient summary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Identifying data of the patient</a:t>
            </a:r>
          </a:p>
        </p:txBody>
      </p:sp>
      <p:sp>
        <p:nvSpPr>
          <p:cNvPr id="320" name="Bar320"/>
          <p:cNvSpPr/>
          <p:nvPr/>
        </p:nvSpPr>
        <p:spPr bwMode="auto">
          <a:xfrm>
            <a:off x="4572000" y="2205805"/>
            <a:ext cx="64008" cy="40233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Item2"/>
          <p:cNvSpPr/>
          <p:nvPr/>
        </p:nvSpPr>
        <p:spPr bwMode="auto">
          <a:xfrm>
            <a:off x="4572000" y="22058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Known conditions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Active and past diagnoses (ICD codes)</a:t>
            </a:r>
          </a:p>
        </p:txBody>
      </p:sp>
      <p:sp>
        <p:nvSpPr>
          <p:cNvPr id="330" name="Bar330"/>
          <p:cNvSpPr/>
          <p:nvPr/>
        </p:nvSpPr>
        <p:spPr bwMode="auto">
          <a:xfrm>
            <a:off x="4572000" y="2663005"/>
            <a:ext cx="64008" cy="40233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Item3"/>
          <p:cNvSpPr/>
          <p:nvPr/>
        </p:nvSpPr>
        <p:spPr bwMode="auto">
          <a:xfrm>
            <a:off x="4572000" y="26630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Registered allergies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Allergen, severity, date detected</a:t>
            </a:r>
          </a:p>
        </p:txBody>
      </p:sp>
      <p:sp>
        <p:nvSpPr>
          <p:cNvPr id="340" name="Bar340"/>
          <p:cNvSpPr/>
          <p:nvPr/>
        </p:nvSpPr>
        <p:spPr bwMode="auto">
          <a:xfrm>
            <a:off x="4572000" y="3120205"/>
            <a:ext cx="64008" cy="40233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Item4"/>
          <p:cNvSpPr/>
          <p:nvPr/>
        </p:nvSpPr>
        <p:spPr bwMode="auto">
          <a:xfrm>
            <a:off x="4572000" y="31202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Active prescriptions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Drug, dosage, frequency</a:t>
            </a:r>
          </a:p>
        </p:txBody>
      </p:sp>
      <p:sp>
        <p:nvSpPr>
          <p:cNvPr id="350" name="Bar350"/>
          <p:cNvSpPr/>
          <p:nvPr/>
        </p:nvSpPr>
        <p:spPr bwMode="auto">
          <a:xfrm>
            <a:off x="4572000" y="3577405"/>
            <a:ext cx="64008" cy="402336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Item5"/>
          <p:cNvSpPr/>
          <p:nvPr/>
        </p:nvSpPr>
        <p:spPr bwMode="auto">
          <a:xfrm>
            <a:off x="4572000" y="35774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Laboratory results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Measurements with anomalyFlag</a:t>
            </a:r>
          </a:p>
        </p:txBody>
      </p:sp>
      <p:sp>
        <p:nvSpPr>
          <p:cNvPr id="360" name="Bar360"/>
          <p:cNvSpPr/>
          <p:nvPr/>
        </p:nvSpPr>
        <p:spPr bwMode="auto">
          <a:xfrm>
            <a:off x="4572000" y="4034605"/>
            <a:ext cx="64008" cy="402336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Item6"/>
          <p:cNvSpPr/>
          <p:nvPr/>
        </p:nvSpPr>
        <p:spPr bwMode="auto">
          <a:xfrm>
            <a:off x="4572000" y="40346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Diagnostic reports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Imaging: findings, criticalFlag</a:t>
            </a:r>
          </a:p>
        </p:txBody>
      </p:sp>
      <p:sp>
        <p:nvSpPr>
          <p:cNvPr id="370" name="Bar370"/>
          <p:cNvSpPr/>
          <p:nvPr/>
        </p:nvSpPr>
        <p:spPr bwMode="auto">
          <a:xfrm>
            <a:off x="4572000" y="4491805"/>
            <a:ext cx="64008" cy="402336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Item7"/>
          <p:cNvSpPr/>
          <p:nvPr/>
        </p:nvSpPr>
        <p:spPr bwMode="auto">
          <a:xfrm>
            <a:off x="4572000" y="4491805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Risk factors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Drug contraindication · Critical value · Allergy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3400" b="1" dirty="0">
                <a:solidFill>
                  <a:srgbClr val="1F4E79"/>
                </a:solidFill>
                <a:latin typeface="Calibri"/>
              </a:rPr>
              <a:t>UC-2  Clinical History Consultation</a:t>
            </a:r>
          </a:p>
        </p:txBody>
      </p:sp>
      <p:sp>
        <p:nvSpPr>
          <p:cNvPr id="200" name="Intro"/>
          <p:cNvSpPr/>
          <p:nvPr/>
        </p:nvSpPr>
        <p:spPr bwMode="auto">
          <a:xfrm>
            <a:off x="457200" y="959996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400" b="1" dirty="0">
                <a:solidFill>
                  <a:srgbClr val="1F4E79"/>
                </a:solidFill>
                <a:latin typeface="Calibri"/>
              </a:rPr>
              <a:t>Scenario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The physician needs to review the patient's medical history without requesting a full fitness assessment.</a:t>
            </a:r>
          </a:p>
        </p:txBody>
      </p:sp>
      <p:sp>
        <p:nvSpPr>
          <p:cNvPr id="201" name="Bar201"/>
          <p:cNvSpPr/>
          <p:nvPr/>
        </p:nvSpPr>
        <p:spPr bwMode="auto">
          <a:xfrm>
            <a:off x="457200" y="959996"/>
            <a:ext cx="45719" cy="10515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CPLbl"/>
          <p:cNvSpPr/>
          <p:nvPr/>
        </p:nvSpPr>
        <p:spPr bwMode="auto">
          <a:xfrm>
            <a:off x="3680460" y="1497639"/>
            <a:ext cx="5166360" cy="384048"/>
          </a:xfrm>
          <a:prstGeom prst="rect">
            <a:avLst/>
          </a:prstGeom>
          <a:solidFill>
            <a:srgbClr val="D6EFE8"/>
          </a:solidFill>
          <a:ln w="12700">
            <a:solidFill>
              <a:srgbClr val="0F6E56"/>
            </a:solidFill>
          </a:ln>
        </p:spPr>
        <p:txBody>
          <a:bodyPr wrap="square" lIns="13000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1F4E79"/>
                </a:solidFill>
                <a:latin typeface="Calibri"/>
              </a:rPr>
              <a:t>ClinicalProfile · Object returned to the physician</a:t>
            </a:r>
          </a:p>
        </p:txBody>
      </p:sp>
      <p:sp>
        <p:nvSpPr>
          <p:cNvPr id="220" name="Bar220"/>
          <p:cNvSpPr/>
          <p:nvPr/>
        </p:nvSpPr>
        <p:spPr bwMode="auto">
          <a:xfrm>
            <a:off x="3680460" y="1954839"/>
            <a:ext cx="64008" cy="4572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CP0"/>
          <p:cNvSpPr/>
          <p:nvPr/>
        </p:nvSpPr>
        <p:spPr bwMode="auto">
          <a:xfrm>
            <a:off x="3680460" y="1954839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Patient data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—  id, name, fiscal code, date of birth, gender</a:t>
            </a:r>
          </a:p>
        </p:txBody>
      </p:sp>
      <p:sp>
        <p:nvSpPr>
          <p:cNvPr id="230" name="Bar230"/>
          <p:cNvSpPr/>
          <p:nvPr/>
        </p:nvSpPr>
        <p:spPr bwMode="auto">
          <a:xfrm>
            <a:off x="3680460" y="2476047"/>
            <a:ext cx="64008" cy="4572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CP1"/>
          <p:cNvSpPr/>
          <p:nvPr/>
        </p:nvSpPr>
        <p:spPr bwMode="auto">
          <a:xfrm>
            <a:off x="3680460" y="2476047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Past diagnoses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—  List of ICD conditions — status ACTIVE / RESOLVED</a:t>
            </a:r>
          </a:p>
        </p:txBody>
      </p:sp>
      <p:sp>
        <p:nvSpPr>
          <p:cNvPr id="240" name="Bar240"/>
          <p:cNvSpPr/>
          <p:nvPr/>
        </p:nvSpPr>
        <p:spPr bwMode="auto">
          <a:xfrm>
            <a:off x="3680460" y="2997255"/>
            <a:ext cx="64008" cy="457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CP2"/>
          <p:cNvSpPr/>
          <p:nvPr/>
        </p:nvSpPr>
        <p:spPr bwMode="auto">
          <a:xfrm>
            <a:off x="3680460" y="2997255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Known allergies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—  Allergen, severity (MILD / SEVERE / ANAPHYLACTIC)</a:t>
            </a:r>
          </a:p>
        </p:txBody>
      </p:sp>
      <p:sp>
        <p:nvSpPr>
          <p:cNvPr id="250" name="Bar250"/>
          <p:cNvSpPr/>
          <p:nvPr/>
        </p:nvSpPr>
        <p:spPr bwMode="auto">
          <a:xfrm>
            <a:off x="3680460" y="3518463"/>
            <a:ext cx="64008" cy="457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CP3"/>
          <p:cNvSpPr/>
          <p:nvPr/>
        </p:nvSpPr>
        <p:spPr bwMode="auto">
          <a:xfrm>
            <a:off x="3680460" y="3518463"/>
            <a:ext cx="5166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Active prescriptions</a:t>
            </a:r>
            <a:r>
              <a:rPr lang="en-US" sz="1150" dirty="0">
                <a:solidFill>
                  <a:srgbClr val="595959"/>
                </a:solidFill>
                <a:latin typeface="Calibri"/>
              </a:rPr>
              <a:t>  —  Drug, ATC code, dosage, frequency, dates</a:t>
            </a:r>
          </a:p>
        </p:txBody>
      </p:sp>
      <p:sp>
        <p:nvSpPr>
          <p:cNvPr id="290" name="HR290"/>
          <p:cNvSpPr/>
          <p:nvPr/>
        </p:nvSpPr>
        <p:spPr bwMode="auto">
          <a:xfrm>
            <a:off x="457200" y="3063240"/>
            <a:ext cx="8229600" cy="18288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AnaSource"/>
          <p:cNvSpPr/>
          <p:nvPr/>
        </p:nvSpPr>
        <p:spPr bwMode="auto">
          <a:xfrm>
            <a:off x="457200" y="2370520"/>
            <a:ext cx="2743200" cy="1051560"/>
          </a:xfrm>
          <a:prstGeom prst="rect">
            <a:avLst/>
          </a:prstGeom>
          <a:solidFill>
            <a:srgbClr val="D6EFE8"/>
          </a:solidFill>
          <a:ln w="12700">
            <a:solidFill>
              <a:srgbClr val="0F6E56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400" b="1" dirty="0" err="1">
                <a:solidFill>
                  <a:srgbClr val="0F6E56"/>
                </a:solidFill>
                <a:latin typeface="Calibri"/>
              </a:rPr>
              <a:t>Anagrafe</a:t>
            </a:r>
            <a:r>
              <a:rPr lang="en-US" sz="1400" b="1" dirty="0">
                <a:solidFill>
                  <a:srgbClr val="0F6E56"/>
                </a:solidFill>
                <a:latin typeface="Calibri"/>
              </a:rPr>
              <a:t> Service</a:t>
            </a:r>
          </a:p>
          <a:p>
            <a:pPr marL="0" indent="0" algn="l">
              <a:buNone/>
              <a:defRPr/>
            </a:pPr>
            <a:r>
              <a:rPr lang="en-US" sz="1200" b="1" dirty="0">
                <a:solidFill>
                  <a:srgbClr val="1F4E79"/>
                </a:solidFill>
                <a:latin typeface="Calibri"/>
              </a:rPr>
              <a:t>Protocol: SOAP / CXF  ·  :9101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Patient data · medical history · allergies</a:t>
            </a:r>
          </a:p>
        </p:txBody>
      </p:sp>
      <p:sp>
        <p:nvSpPr>
          <p:cNvPr id="301" name="Bar301"/>
          <p:cNvSpPr/>
          <p:nvPr/>
        </p:nvSpPr>
        <p:spPr bwMode="auto">
          <a:xfrm>
            <a:off x="457200" y="2370520"/>
            <a:ext cx="64008" cy="10515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FarmSource"/>
          <p:cNvSpPr/>
          <p:nvPr/>
        </p:nvSpPr>
        <p:spPr bwMode="auto">
          <a:xfrm>
            <a:off x="489204" y="3813172"/>
            <a:ext cx="2711196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400" b="1" dirty="0">
                <a:solidFill>
                  <a:srgbClr val="C55A11"/>
                </a:solidFill>
                <a:latin typeface="Calibri"/>
              </a:rPr>
              <a:t>Farmacia Service</a:t>
            </a:r>
          </a:p>
          <a:p>
            <a:pPr marL="0" indent="0" algn="l">
              <a:buNone/>
              <a:defRPr/>
            </a:pPr>
            <a:r>
              <a:rPr lang="en-US" sz="1200" b="1" dirty="0">
                <a:solidFill>
                  <a:srgbClr val="1F4E79"/>
                </a:solidFill>
                <a:latin typeface="Calibri"/>
              </a:rPr>
              <a:t>Protocol: REST  ·  :9103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Active prescriptions per patient</a:t>
            </a:r>
          </a:p>
        </p:txBody>
      </p:sp>
      <p:sp>
        <p:nvSpPr>
          <p:cNvPr id="311" name="Bar311"/>
          <p:cNvSpPr/>
          <p:nvPr/>
        </p:nvSpPr>
        <p:spPr bwMode="auto">
          <a:xfrm>
            <a:off x="457200" y="3813172"/>
            <a:ext cx="65556" cy="105156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3400" b="1" dirty="0">
                <a:solidFill>
                  <a:srgbClr val="1F4E79"/>
                </a:solidFill>
                <a:latin typeface="Calibri"/>
              </a:rPr>
              <a:t>UC-3  Diagnostic Test Order &amp; Monitoring</a:t>
            </a:r>
          </a:p>
        </p:txBody>
      </p:sp>
      <p:sp>
        <p:nvSpPr>
          <p:cNvPr id="200" name="Badge200"/>
          <p:cNvSpPr/>
          <p:nvPr/>
        </p:nvSpPr>
        <p:spPr bwMode="auto">
          <a:xfrm>
            <a:off x="685800" y="1508760"/>
            <a:ext cx="246888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① Order</a:t>
            </a:r>
          </a:p>
        </p:txBody>
      </p:sp>
      <p:sp>
        <p:nvSpPr>
          <p:cNvPr id="201" name="P1"/>
          <p:cNvSpPr/>
          <p:nvPr/>
        </p:nvSpPr>
        <p:spPr bwMode="auto">
          <a:xfrm>
            <a:off x="685800" y="19202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The physician requests a diagnostic panel (e.g. renal panel, metabolic panel).</a:t>
            </a:r>
          </a:p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The system responds immediately: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0F6E56"/>
                </a:solidFill>
                <a:latin typeface="Calibri"/>
              </a:rPr>
              <a:t>• trackingId  (tracking code)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0F6E56"/>
                </a:solidFill>
                <a:latin typeface="Calibri"/>
              </a:rPr>
              <a:t>• HTTP 202 Accepted</a:t>
            </a:r>
          </a:p>
          <a:p>
            <a:pPr marL="0" indent="0" algn="l">
              <a:buNone/>
              <a:defRPr/>
            </a:pPr>
            <a:r>
              <a:rPr lang="en-US" sz="1200" i="1" dirty="0">
                <a:solidFill>
                  <a:srgbClr val="595959"/>
                </a:solidFill>
                <a:latin typeface="Calibri"/>
              </a:rPr>
              <a:t>The physician can continue working without waiting.</a:t>
            </a:r>
          </a:p>
        </p:txBody>
      </p:sp>
      <p:sp>
        <p:nvSpPr>
          <p:cNvPr id="202" name="Bar202"/>
          <p:cNvSpPr/>
          <p:nvPr/>
        </p:nvSpPr>
        <p:spPr bwMode="auto">
          <a:xfrm>
            <a:off x="685800" y="1920240"/>
            <a:ext cx="64008" cy="23317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Badge210"/>
          <p:cNvSpPr/>
          <p:nvPr/>
        </p:nvSpPr>
        <p:spPr bwMode="auto">
          <a:xfrm>
            <a:off x="3337560" y="1508760"/>
            <a:ext cx="246888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② Processing</a:t>
            </a:r>
          </a:p>
        </p:txBody>
      </p:sp>
      <p:sp>
        <p:nvSpPr>
          <p:cNvPr id="211" name="P2"/>
          <p:cNvSpPr/>
          <p:nvPr/>
        </p:nvSpPr>
        <p:spPr bwMode="auto">
          <a:xfrm>
            <a:off x="3337560" y="19202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The client polls the system using the trackingId.</a:t>
            </a:r>
          </a:p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1F4E79"/>
                </a:solidFill>
                <a:latin typeface="Calibri"/>
              </a:rPr>
              <a:t>While processing, the response shows:</a:t>
            </a:r>
          </a:p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status: PROCESSING</a:t>
            </a:r>
          </a:p>
          <a:p>
            <a:pPr marL="0" indent="0" algn="l">
              <a:buNone/>
              <a:defRPr/>
            </a:pPr>
            <a:r>
              <a:rPr lang="en-US" sz="1200" b="1" dirty="0">
                <a:solidFill>
                  <a:srgbClr val="1F4E79"/>
                </a:solidFill>
                <a:latin typeface="Calibri"/>
              </a:rPr>
              <a:t>In the background: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• Laboratorio :9102  processes lab tests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• Imaging :9104  processes radiology reports</a:t>
            </a:r>
          </a:p>
        </p:txBody>
      </p:sp>
      <p:sp>
        <p:nvSpPr>
          <p:cNvPr id="212" name="Bar212"/>
          <p:cNvSpPr/>
          <p:nvPr/>
        </p:nvSpPr>
        <p:spPr bwMode="auto">
          <a:xfrm>
            <a:off x="3337560" y="1920240"/>
            <a:ext cx="64008" cy="23317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0" name="Badge220"/>
          <p:cNvSpPr/>
          <p:nvPr/>
        </p:nvSpPr>
        <p:spPr bwMode="auto">
          <a:xfrm>
            <a:off x="5989320" y="1508760"/>
            <a:ext cx="2468880" cy="4114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FFFFFF"/>
                </a:solidFill>
                <a:latin typeface="Calibri"/>
              </a:rPr>
              <a:t>③ Final Result</a:t>
            </a:r>
          </a:p>
        </p:txBody>
      </p:sp>
      <p:sp>
        <p:nvSpPr>
          <p:cNvPr id="221" name="P3"/>
          <p:cNvSpPr/>
          <p:nvPr/>
        </p:nvSpPr>
        <p:spPr bwMode="auto">
          <a:xfrm>
            <a:off x="5989320" y="19202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Once processing is complete, the system returns the DiagnosticBundle:</a:t>
            </a:r>
          </a:p>
          <a:p>
            <a:pPr marL="0" indent="0" algn="l">
              <a:buNone/>
              <a:defRPr/>
            </a:pPr>
            <a:r>
              <a:rPr lang="en-US" sz="1300" b="1" dirty="0">
                <a:solidFill>
                  <a:srgbClr val="0F6E56"/>
                </a:solidFill>
                <a:latin typeface="Calibri"/>
              </a:rPr>
              <a:t>DiagnosticBundle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• List&lt;TestResult&gt;  (lab results)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• List&lt;ImagingReport&gt;  (diagnostic reports)</a:t>
            </a:r>
          </a:p>
          <a:p>
            <a:pPr marL="0" indent="0" algn="l">
              <a:buNone/>
              <a:defRPr/>
            </a:pPr>
            <a:r>
              <a:rPr lang="en-US" sz="1200" i="1" dirty="0">
                <a:solidFill>
                  <a:srgbClr val="595959"/>
                </a:solidFill>
                <a:latin typeface="Calibri"/>
              </a:rPr>
              <a:t>The physician always interacts with a single entry point and receives an aggregated response.</a:t>
            </a:r>
          </a:p>
        </p:txBody>
      </p:sp>
      <p:sp>
        <p:nvSpPr>
          <p:cNvPr id="222" name="Bar222"/>
          <p:cNvSpPr/>
          <p:nvPr/>
        </p:nvSpPr>
        <p:spPr bwMode="auto">
          <a:xfrm>
            <a:off x="5989320" y="1920240"/>
            <a:ext cx="64008" cy="23317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3400" b="1" dirty="0">
                <a:solidFill>
                  <a:srgbClr val="1F4E79"/>
                </a:solidFill>
                <a:latin typeface="Calibri"/>
              </a:rPr>
              <a:t>UC-4  New Prescription</a:t>
            </a:r>
          </a:p>
        </p:txBody>
      </p:sp>
      <p:sp>
        <p:nvSpPr>
          <p:cNvPr id="102" name="Sub"/>
          <p:cNvSpPr/>
          <p:nvPr/>
        </p:nvSpPr>
        <p:spPr bwMode="auto">
          <a:xfrm>
            <a:off x="345989" y="470001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250" i="1" dirty="0">
                <a:solidFill>
                  <a:srgbClr val="595959"/>
                </a:solidFill>
                <a:latin typeface="Calibri"/>
              </a:rPr>
              <a:t>Direct client → provider interaction: not every operation requires an aggregator</a:t>
            </a:r>
          </a:p>
        </p:txBody>
      </p:sp>
      <p:sp>
        <p:nvSpPr>
          <p:cNvPr id="200" name="Scenario"/>
          <p:cNvSpPr/>
          <p:nvPr/>
        </p:nvSpPr>
        <p:spPr bwMode="auto">
          <a:xfrm>
            <a:off x="457200" y="1042416"/>
            <a:ext cx="3108960" cy="208384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91440" rIns="91440" bIns="45720" rtlCol="0" anchor="t"/>
          <a:lstStyle/>
          <a:p>
            <a:pPr marL="0" indent="0" algn="l">
              <a:buNone/>
              <a:defRPr/>
            </a:pPr>
            <a:r>
              <a:rPr lang="en-US" sz="1450" b="1" dirty="0">
                <a:solidFill>
                  <a:srgbClr val="1F4E79"/>
                </a:solidFill>
                <a:latin typeface="Calibri"/>
              </a:rPr>
              <a:t>Scenario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The physician enters a new pharmacological prescription for a patient.</a:t>
            </a:r>
          </a:p>
          <a:p>
            <a:pPr marL="0" indent="0" algn="l">
              <a:buNone/>
              <a:defRPr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No prosumer involved:</a:t>
            </a:r>
          </a:p>
          <a:p>
            <a:pPr marL="0" indent="0" algn="l">
              <a:buNone/>
              <a:defRPr/>
            </a:pPr>
            <a:r>
              <a:rPr lang="en-US" sz="1200" dirty="0">
                <a:solidFill>
                  <a:srgbClr val="595959"/>
                </a:solidFill>
                <a:latin typeface="Calibri"/>
              </a:rPr>
              <a:t>Farmacia is the direct provider, responsible for its own domain.</a:t>
            </a:r>
          </a:p>
          <a:p>
            <a:pPr marL="0" indent="0" algn="l">
              <a:buNone/>
              <a:defRPr/>
            </a:pPr>
            <a:r>
              <a:rPr lang="en-US" sz="1200" i="1" dirty="0">
                <a:solidFill>
                  <a:srgbClr val="595959"/>
                </a:solidFill>
                <a:latin typeface="Calibri"/>
              </a:rPr>
              <a:t>This use case shows that SOA does not always mandate aggregation: when an operation belongs to a single domain, the client reaches that provider directly.</a:t>
            </a:r>
          </a:p>
        </p:txBody>
      </p:sp>
      <p:sp>
        <p:nvSpPr>
          <p:cNvPr id="201" name="Bar201"/>
          <p:cNvSpPr/>
          <p:nvPr/>
        </p:nvSpPr>
        <p:spPr bwMode="auto">
          <a:xfrm>
            <a:off x="457200" y="1042416"/>
            <a:ext cx="64008" cy="2083843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ReqLbl"/>
          <p:cNvSpPr/>
          <p:nvPr/>
        </p:nvSpPr>
        <p:spPr bwMode="auto">
          <a:xfrm>
            <a:off x="3886200" y="1431036"/>
            <a:ext cx="4800600" cy="384048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lIns="13000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1F4E79"/>
                </a:solidFill>
                <a:latin typeface="Calibri"/>
              </a:rPr>
              <a:t>Request Payload</a:t>
            </a:r>
          </a:p>
        </p:txBody>
      </p:sp>
      <p:sp>
        <p:nvSpPr>
          <p:cNvPr id="220" name="Bar220"/>
          <p:cNvSpPr/>
          <p:nvPr/>
        </p:nvSpPr>
        <p:spPr bwMode="auto">
          <a:xfrm>
            <a:off x="3886200" y="1888236"/>
            <a:ext cx="64008" cy="3931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Req0"/>
          <p:cNvSpPr/>
          <p:nvPr/>
        </p:nvSpPr>
        <p:spPr bwMode="auto">
          <a:xfrm>
            <a:off x="3886200" y="1888236"/>
            <a:ext cx="4800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drug</a:t>
            </a:r>
            <a:r>
              <a:rPr lang="en-US" sz="1200" dirty="0">
                <a:solidFill>
                  <a:srgbClr val="595959"/>
                </a:solidFill>
                <a:latin typeface="Calibri"/>
              </a:rPr>
              <a:t>  —  Drug name + ATC code</a:t>
            </a:r>
          </a:p>
        </p:txBody>
      </p:sp>
      <p:sp>
        <p:nvSpPr>
          <p:cNvPr id="230" name="Bar230"/>
          <p:cNvSpPr/>
          <p:nvPr/>
        </p:nvSpPr>
        <p:spPr bwMode="auto">
          <a:xfrm>
            <a:off x="3886200" y="2327148"/>
            <a:ext cx="64008" cy="3931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Req1"/>
          <p:cNvSpPr/>
          <p:nvPr/>
        </p:nvSpPr>
        <p:spPr bwMode="auto">
          <a:xfrm>
            <a:off x="3886200" y="2327148"/>
            <a:ext cx="4800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dosage</a:t>
            </a:r>
            <a:r>
              <a:rPr lang="en-US" sz="1200" dirty="0">
                <a:solidFill>
                  <a:srgbClr val="595959"/>
                </a:solidFill>
                <a:latin typeface="Calibri"/>
              </a:rPr>
              <a:t>  —  Quantity per administration</a:t>
            </a:r>
          </a:p>
        </p:txBody>
      </p:sp>
      <p:sp>
        <p:nvSpPr>
          <p:cNvPr id="240" name="Bar240"/>
          <p:cNvSpPr/>
          <p:nvPr/>
        </p:nvSpPr>
        <p:spPr bwMode="auto">
          <a:xfrm>
            <a:off x="3886200" y="2766060"/>
            <a:ext cx="64008" cy="3931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Req2"/>
          <p:cNvSpPr/>
          <p:nvPr/>
        </p:nvSpPr>
        <p:spPr bwMode="auto">
          <a:xfrm>
            <a:off x="3886200" y="2766060"/>
            <a:ext cx="4800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frequency</a:t>
            </a:r>
            <a:r>
              <a:rPr lang="en-US" sz="1200" dirty="0">
                <a:solidFill>
                  <a:srgbClr val="595959"/>
                </a:solidFill>
                <a:latin typeface="Calibri"/>
              </a:rPr>
              <a:t>  —  Administration schedule</a:t>
            </a:r>
          </a:p>
        </p:txBody>
      </p:sp>
      <p:sp>
        <p:nvSpPr>
          <p:cNvPr id="250" name="Bar250"/>
          <p:cNvSpPr/>
          <p:nvPr/>
        </p:nvSpPr>
        <p:spPr bwMode="auto">
          <a:xfrm>
            <a:off x="3886200" y="3204972"/>
            <a:ext cx="64008" cy="3931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Req3"/>
          <p:cNvSpPr/>
          <p:nvPr/>
        </p:nvSpPr>
        <p:spPr bwMode="auto">
          <a:xfrm>
            <a:off x="3886200" y="3204972"/>
            <a:ext cx="4800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validity dates</a:t>
            </a:r>
            <a:r>
              <a:rPr lang="en-US" sz="1200" dirty="0">
                <a:solidFill>
                  <a:srgbClr val="595959"/>
                </a:solidFill>
                <a:latin typeface="Calibri"/>
              </a:rPr>
              <a:t>  —  startDate · endDate</a:t>
            </a:r>
          </a:p>
        </p:txBody>
      </p:sp>
      <p:sp>
        <p:nvSpPr>
          <p:cNvPr id="260" name="Bar260"/>
          <p:cNvSpPr/>
          <p:nvPr/>
        </p:nvSpPr>
        <p:spPr bwMode="auto">
          <a:xfrm>
            <a:off x="3886200" y="3643884"/>
            <a:ext cx="64008" cy="3931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Req4"/>
          <p:cNvSpPr/>
          <p:nvPr/>
        </p:nvSpPr>
        <p:spPr bwMode="auto">
          <a:xfrm>
            <a:off x="3886200" y="3643884"/>
            <a:ext cx="4800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</a:ln>
        </p:spPr>
        <p:txBody>
          <a:bodyPr wrap="square" lIns="130000" tIns="27432" rIns="91440" bIns="27432" rtlCol="0" anchor="ctr"/>
          <a:lstStyle/>
          <a:p>
            <a:pPr marL="0" indent="0" algn="l">
              <a:buNone/>
              <a:defRPr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prescribing physician</a:t>
            </a:r>
            <a:r>
              <a:rPr lang="en-US" sz="1200" dirty="0">
                <a:solidFill>
                  <a:srgbClr val="595959"/>
                </a:solidFill>
                <a:latin typeface="Calibri"/>
              </a:rPr>
              <a:t>  —  Physician identifier</a:t>
            </a:r>
          </a:p>
        </p:txBody>
      </p:sp>
      <p:sp>
        <p:nvSpPr>
          <p:cNvPr id="270" name="ResLbl"/>
          <p:cNvSpPr/>
          <p:nvPr/>
        </p:nvSpPr>
        <p:spPr bwMode="auto">
          <a:xfrm>
            <a:off x="457199" y="3451860"/>
            <a:ext cx="3108961" cy="918972"/>
          </a:xfrm>
          <a:prstGeom prst="rect">
            <a:avLst/>
          </a:prstGeom>
          <a:solidFill>
            <a:srgbClr val="D6EFE8"/>
          </a:solidFill>
          <a:ln w="12700">
            <a:solidFill>
              <a:srgbClr val="0F6E56"/>
            </a:solidFill>
          </a:ln>
        </p:spPr>
        <p:txBody>
          <a:bodyPr wrap="square" lIns="130000" tIns="64008" rIns="91440" bIns="64008" rtlCol="0" anchor="ctr"/>
          <a:lstStyle/>
          <a:p>
            <a:pPr marL="0" indent="0" algn="l">
              <a:buNone/>
              <a:defRPr/>
            </a:pPr>
            <a:r>
              <a:rPr lang="en-US" sz="1350" b="1" dirty="0">
                <a:solidFill>
                  <a:srgbClr val="0F6E56"/>
                </a:solidFill>
                <a:latin typeface="Calibri"/>
              </a:rPr>
              <a:t>HTTP 201 Created  →  Prescription saved</a:t>
            </a:r>
          </a:p>
          <a:p>
            <a:pPr marL="0" indent="0" algn="l">
              <a:buNone/>
              <a:defRPr/>
            </a:pPr>
            <a:r>
              <a:rPr lang="en-US" sz="1150" dirty="0">
                <a:solidFill>
                  <a:srgbClr val="595959"/>
                </a:solidFill>
                <a:latin typeface="Calibri"/>
              </a:rPr>
              <a:t>id · drugName · atcCode · dosage · frequency · startDate · endDate · prescribingPhysician</a:t>
            </a:r>
          </a:p>
        </p:txBody>
      </p:sp>
      <p:sp>
        <p:nvSpPr>
          <p:cNvPr id="271" name="Bar271"/>
          <p:cNvSpPr/>
          <p:nvPr/>
        </p:nvSpPr>
        <p:spPr bwMode="auto">
          <a:xfrm>
            <a:off x="457199" y="3451860"/>
            <a:ext cx="45719" cy="91897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256" name="Text 0"/>
          <p:cNvSpPr/>
          <p:nvPr/>
        </p:nvSpPr>
        <p:spPr bwMode="auto"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Technology Stack</a:t>
            </a:r>
            <a:endParaRPr lang="en-US" sz="3400"/>
          </a:p>
        </p:txBody>
      </p:sp>
      <p:sp>
        <p:nvSpPr>
          <p:cNvPr id="1052350503" name="Shape 1"/>
          <p:cNvSpPr/>
          <p:nvPr/>
        </p:nvSpPr>
        <p:spPr bwMode="auto">
          <a:xfrm>
            <a:off x="457200" y="1078992"/>
            <a:ext cx="8229600" cy="228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794125" name="Shape 2"/>
          <p:cNvSpPr/>
          <p:nvPr/>
        </p:nvSpPr>
        <p:spPr bwMode="auto">
          <a:xfrm>
            <a:off x="457200" y="11887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44040108" name="Text 3"/>
          <p:cNvSpPr/>
          <p:nvPr/>
        </p:nvSpPr>
        <p:spPr bwMode="auto">
          <a:xfrm>
            <a:off x="64008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Frameworks &amp; Libraries</a:t>
            </a:r>
            <a:endParaRPr lang="en-US" sz="1300"/>
          </a:p>
        </p:txBody>
      </p:sp>
      <p:sp>
        <p:nvSpPr>
          <p:cNvPr id="465725207" name="Text 4"/>
          <p:cNvSpPr/>
          <p:nvPr/>
        </p:nvSpPr>
        <p:spPr bwMode="auto">
          <a:xfrm>
            <a:off x="640080" y="16642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Java 17</a:t>
            </a:r>
            <a:endParaRPr lang="en-US" sz="1050"/>
          </a:p>
        </p:txBody>
      </p:sp>
      <p:sp>
        <p:nvSpPr>
          <p:cNvPr id="1590419522" name="Text 5"/>
          <p:cNvSpPr/>
          <p:nvPr/>
        </p:nvSpPr>
        <p:spPr bwMode="auto">
          <a:xfrm>
            <a:off x="2487168" y="16642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LTS runtime (pinned)</a:t>
            </a:r>
            <a:endParaRPr lang="en-US" sz="950"/>
          </a:p>
        </p:txBody>
      </p:sp>
      <p:sp>
        <p:nvSpPr>
          <p:cNvPr id="449485380" name="Text 6"/>
          <p:cNvSpPr/>
          <p:nvPr/>
        </p:nvSpPr>
        <p:spPr bwMode="auto">
          <a:xfrm>
            <a:off x="640080" y="20848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Spring Boot 3.2.x</a:t>
            </a:r>
            <a:endParaRPr lang="en-US" sz="1050"/>
          </a:p>
        </p:txBody>
      </p:sp>
      <p:sp>
        <p:nvSpPr>
          <p:cNvPr id="570938047" name="Text 7"/>
          <p:cNvSpPr/>
          <p:nvPr/>
        </p:nvSpPr>
        <p:spPr bwMode="auto">
          <a:xfrm>
            <a:off x="2487168" y="208483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Service base + embedded Tomcat</a:t>
            </a:r>
            <a:endParaRPr lang="en-US" sz="950"/>
          </a:p>
        </p:txBody>
      </p:sp>
      <p:sp>
        <p:nvSpPr>
          <p:cNvPr id="1191122312" name="Text 8"/>
          <p:cNvSpPr/>
          <p:nvPr/>
        </p:nvSpPr>
        <p:spPr bwMode="auto">
          <a:xfrm>
            <a:off x="640080" y="25054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Spring Cloud 2023.0.x</a:t>
            </a:r>
            <a:endParaRPr lang="en-US" sz="1050"/>
          </a:p>
        </p:txBody>
      </p:sp>
      <p:sp>
        <p:nvSpPr>
          <p:cNvPr id="237593006" name="Text 9"/>
          <p:cNvSpPr/>
          <p:nvPr/>
        </p:nvSpPr>
        <p:spPr bwMode="auto">
          <a:xfrm>
            <a:off x="2487168" y="25054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Eureka, Gateway, Config, OpenFeign, LoadBalancer</a:t>
            </a:r>
            <a:endParaRPr lang="en-US" sz="950"/>
          </a:p>
        </p:txBody>
      </p:sp>
      <p:sp>
        <p:nvSpPr>
          <p:cNvPr id="1553384562" name="Text 10"/>
          <p:cNvSpPr/>
          <p:nvPr/>
        </p:nvSpPr>
        <p:spPr bwMode="auto">
          <a:xfrm>
            <a:off x="64008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Apache CXF 4.0.x</a:t>
            </a:r>
            <a:endParaRPr lang="en-US" sz="1050"/>
          </a:p>
        </p:txBody>
      </p:sp>
      <p:sp>
        <p:nvSpPr>
          <p:cNvPr id="2030966837" name="Text 11"/>
          <p:cNvSpPr/>
          <p:nvPr/>
        </p:nvSpPr>
        <p:spPr bwMode="auto">
          <a:xfrm>
            <a:off x="2487168" y="29260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SOAP contract-first — Anagrafe service + JAX-WS client</a:t>
            </a:r>
            <a:endParaRPr lang="en-US" sz="950"/>
          </a:p>
        </p:txBody>
      </p:sp>
      <p:sp>
        <p:nvSpPr>
          <p:cNvPr id="197786075" name="Text 12"/>
          <p:cNvSpPr/>
          <p:nvPr/>
        </p:nvSpPr>
        <p:spPr bwMode="auto">
          <a:xfrm>
            <a:off x="640080" y="33467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Resilience4j 2.2.x</a:t>
            </a:r>
            <a:endParaRPr lang="en-US" sz="1050"/>
          </a:p>
        </p:txBody>
      </p:sp>
      <p:sp>
        <p:nvSpPr>
          <p:cNvPr id="263293740" name="Text 13"/>
          <p:cNvSpPr/>
          <p:nvPr/>
        </p:nvSpPr>
        <p:spPr bwMode="auto">
          <a:xfrm>
            <a:off x="2487168" y="33467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Circuit breaker on Care Coordinator Feign calls</a:t>
            </a:r>
            <a:endParaRPr lang="en-US" sz="950"/>
          </a:p>
        </p:txBody>
      </p:sp>
      <p:sp>
        <p:nvSpPr>
          <p:cNvPr id="345748328" name="Text 14"/>
          <p:cNvSpPr/>
          <p:nvPr/>
        </p:nvSpPr>
        <p:spPr bwMode="auto">
          <a:xfrm>
            <a:off x="640080" y="37673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springdoc-openapi 2.3.x</a:t>
            </a:r>
            <a:endParaRPr lang="en-US" sz="1050"/>
          </a:p>
        </p:txBody>
      </p:sp>
      <p:sp>
        <p:nvSpPr>
          <p:cNvPr id="146985095" name="Text 15"/>
          <p:cNvSpPr/>
          <p:nvPr/>
        </p:nvSpPr>
        <p:spPr bwMode="auto">
          <a:xfrm>
            <a:off x="2487168" y="37673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Swagger UI on all REST services</a:t>
            </a:r>
            <a:endParaRPr lang="en-US" sz="950"/>
          </a:p>
        </p:txBody>
      </p:sp>
      <p:sp>
        <p:nvSpPr>
          <p:cNvPr id="1081884573" name="Text 16"/>
          <p:cNvSpPr/>
          <p:nvPr/>
        </p:nvSpPr>
        <p:spPr bwMode="auto">
          <a:xfrm>
            <a:off x="640080" y="41879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Spring Data JPA</a:t>
            </a:r>
            <a:endParaRPr lang="en-US" sz="1050"/>
          </a:p>
        </p:txBody>
      </p:sp>
      <p:sp>
        <p:nvSpPr>
          <p:cNvPr id="958301623" name="Text 17"/>
          <p:cNvSpPr/>
          <p:nvPr/>
        </p:nvSpPr>
        <p:spPr bwMode="auto">
          <a:xfrm>
            <a:off x="2487168" y="41879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Repository layer over MySQL</a:t>
            </a:r>
            <a:endParaRPr lang="en-US" sz="950"/>
          </a:p>
        </p:txBody>
      </p:sp>
      <p:sp>
        <p:nvSpPr>
          <p:cNvPr id="1622776336" name="Text 18"/>
          <p:cNvSpPr/>
          <p:nvPr/>
        </p:nvSpPr>
        <p:spPr bwMode="auto">
          <a:xfrm>
            <a:off x="640080" y="4608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Apache Maven 3.9.x</a:t>
            </a:r>
            <a:endParaRPr lang="en-US" sz="1050"/>
          </a:p>
        </p:txBody>
      </p:sp>
      <p:sp>
        <p:nvSpPr>
          <p:cNvPr id="950157783" name="Text 19"/>
          <p:cNvSpPr/>
          <p:nvPr/>
        </p:nvSpPr>
        <p:spPr bwMode="auto">
          <a:xfrm>
            <a:off x="2487168" y="460857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Build — independent per-service POMs (no parent)</a:t>
            </a:r>
            <a:endParaRPr lang="en-US" sz="950"/>
          </a:p>
        </p:txBody>
      </p:sp>
      <p:sp>
        <p:nvSpPr>
          <p:cNvPr id="1573909301" name="Shape 20"/>
          <p:cNvSpPr/>
          <p:nvPr/>
        </p:nvSpPr>
        <p:spPr bwMode="auto">
          <a:xfrm>
            <a:off x="4754880" y="11887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8688274" name="Text 21"/>
          <p:cNvSpPr/>
          <p:nvPr/>
        </p:nvSpPr>
        <p:spPr bwMode="auto">
          <a:xfrm>
            <a:off x="493776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Infrastructure</a:t>
            </a:r>
            <a:endParaRPr lang="en-US" sz="1300"/>
          </a:p>
        </p:txBody>
      </p:sp>
      <p:sp>
        <p:nvSpPr>
          <p:cNvPr id="1164594534" name="Text 22"/>
          <p:cNvSpPr/>
          <p:nvPr/>
        </p:nvSpPr>
        <p:spPr bwMode="auto">
          <a:xfrm>
            <a:off x="4937760" y="166420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MySQL 8</a:t>
            </a:r>
            <a:endParaRPr lang="en-US" sz="1050"/>
          </a:p>
        </p:txBody>
      </p:sp>
      <p:sp>
        <p:nvSpPr>
          <p:cNvPr id="1137203709" name="Text 23"/>
          <p:cNvSpPr/>
          <p:nvPr/>
        </p:nvSpPr>
        <p:spPr bwMode="auto">
          <a:xfrm>
            <a:off x="6656832" y="166420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Relational persistence, one schema per provider</a:t>
            </a:r>
            <a:endParaRPr lang="en-US" sz="950"/>
          </a:p>
        </p:txBody>
      </p:sp>
      <p:sp>
        <p:nvSpPr>
          <p:cNvPr id="1037153511" name="Text 24"/>
          <p:cNvSpPr/>
          <p:nvPr/>
        </p:nvSpPr>
        <p:spPr bwMode="auto">
          <a:xfrm>
            <a:off x="4937760" y="208483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Docker + Compose</a:t>
            </a:r>
            <a:endParaRPr lang="en-US" sz="1050"/>
          </a:p>
        </p:txBody>
      </p:sp>
      <p:sp>
        <p:nvSpPr>
          <p:cNvPr id="549936014" name="Text 25"/>
          <p:cNvSpPr/>
          <p:nvPr/>
        </p:nvSpPr>
        <p:spPr bwMode="auto">
          <a:xfrm>
            <a:off x="6656832" y="208483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Single-command full-stack deployment</a:t>
            </a:r>
            <a:endParaRPr lang="en-US" sz="950"/>
          </a:p>
        </p:txBody>
      </p:sp>
      <p:sp>
        <p:nvSpPr>
          <p:cNvPr id="61861164" name="Text 26"/>
          <p:cNvSpPr/>
          <p:nvPr/>
        </p:nvSpPr>
        <p:spPr bwMode="auto">
          <a:xfrm>
            <a:off x="4937760" y="250545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Netflix Eureka</a:t>
            </a:r>
            <a:endParaRPr lang="en-US" sz="1050"/>
          </a:p>
        </p:txBody>
      </p:sp>
      <p:sp>
        <p:nvSpPr>
          <p:cNvPr id="862676857" name="Text 27"/>
          <p:cNvSpPr/>
          <p:nvPr/>
        </p:nvSpPr>
        <p:spPr bwMode="auto">
          <a:xfrm>
            <a:off x="6656832" y="250545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Service registry, self-registration, health checks</a:t>
            </a:r>
            <a:endParaRPr lang="en-US" sz="950"/>
          </a:p>
        </p:txBody>
      </p:sp>
      <p:sp>
        <p:nvSpPr>
          <p:cNvPr id="1575522928" name="Text 28"/>
          <p:cNvSpPr/>
          <p:nvPr/>
        </p:nvSpPr>
        <p:spPr bwMode="auto">
          <a:xfrm>
            <a:off x="4937760" y="2926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Spring Cloud Gateway</a:t>
            </a:r>
            <a:endParaRPr lang="en-US" sz="1050"/>
          </a:p>
        </p:txBody>
      </p:sp>
      <p:sp>
        <p:nvSpPr>
          <p:cNvPr id="767967230" name="Text 29"/>
          <p:cNvSpPr/>
          <p:nvPr/>
        </p:nvSpPr>
        <p:spPr bwMode="auto">
          <a:xfrm>
            <a:off x="6656832" y="292608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API Gateway, lb:// routing, path rewriting</a:t>
            </a:r>
            <a:endParaRPr lang="en-US" sz="950"/>
          </a:p>
        </p:txBody>
      </p:sp>
      <p:sp>
        <p:nvSpPr>
          <p:cNvPr id="1240445394" name="Text 30"/>
          <p:cNvSpPr/>
          <p:nvPr/>
        </p:nvSpPr>
        <p:spPr bwMode="auto">
          <a:xfrm>
            <a:off x="4937760" y="334670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Spring Cloud Config</a:t>
            </a:r>
            <a:endParaRPr lang="en-US" sz="1050"/>
          </a:p>
        </p:txBody>
      </p:sp>
      <p:sp>
        <p:nvSpPr>
          <p:cNvPr id="2116924440" name="Text 31"/>
          <p:cNvSpPr/>
          <p:nvPr/>
        </p:nvSpPr>
        <p:spPr bwMode="auto">
          <a:xfrm>
            <a:off x="6656832" y="334670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Centralised externalised config from git repo</a:t>
            </a:r>
            <a:endParaRPr lang="en-US" sz="950"/>
          </a:p>
        </p:txBody>
      </p:sp>
      <p:sp>
        <p:nvSpPr>
          <p:cNvPr id="677420843" name="Text 32"/>
          <p:cNvSpPr/>
          <p:nvPr/>
        </p:nvSpPr>
        <p:spPr bwMode="auto">
          <a:xfrm>
            <a:off x="4937760" y="37673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Spring Cloud OpenFeign</a:t>
            </a:r>
            <a:endParaRPr lang="en-US" sz="1050"/>
          </a:p>
        </p:txBody>
      </p:sp>
      <p:sp>
        <p:nvSpPr>
          <p:cNvPr id="738762519" name="Text 33"/>
          <p:cNvSpPr/>
          <p:nvPr/>
        </p:nvSpPr>
        <p:spPr bwMode="auto">
          <a:xfrm>
            <a:off x="6656832" y="376732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REST client with Eureka name resolution</a:t>
            </a:r>
            <a:endParaRPr lang="en-US" sz="950"/>
          </a:p>
        </p:txBody>
      </p:sp>
      <p:sp>
        <p:nvSpPr>
          <p:cNvPr id="65636812" name="Text 34"/>
          <p:cNvSpPr/>
          <p:nvPr/>
        </p:nvSpPr>
        <p:spPr bwMode="auto">
          <a:xfrm>
            <a:off x="4937760" y="418795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@Async / ThreadPool</a:t>
            </a:r>
            <a:endParaRPr lang="en-US" sz="1050"/>
          </a:p>
        </p:txBody>
      </p:sp>
      <p:sp>
        <p:nvSpPr>
          <p:cNvPr id="85583667" name="Text 35"/>
          <p:cNvSpPr/>
          <p:nvPr/>
        </p:nvSpPr>
        <p:spPr bwMode="auto">
          <a:xfrm>
            <a:off x="6656832" y="41879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Non-blocking processing in Laboratorio &amp; Imaging</a:t>
            </a:r>
            <a:endParaRPr lang="en-US" sz="950"/>
          </a:p>
        </p:txBody>
      </p:sp>
      <p:sp>
        <p:nvSpPr>
          <p:cNvPr id="399040104" name="Text 36"/>
          <p:cNvSpPr/>
          <p:nvPr/>
        </p:nvSpPr>
        <p:spPr bwMode="auto">
          <a:xfrm>
            <a:off x="4937760" y="460857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34AB7"/>
                </a:solidFill>
                <a:latin typeface="Calibri"/>
                <a:ea typeface="Calibri"/>
                <a:cs typeface="Calibri"/>
              </a:rPr>
              <a:t>CompletableFuture</a:t>
            </a:r>
            <a:endParaRPr lang="en-US" sz="1050"/>
          </a:p>
        </p:txBody>
      </p:sp>
      <p:sp>
        <p:nvSpPr>
          <p:cNvPr id="75339451" name="Text 37"/>
          <p:cNvSpPr/>
          <p:nvPr/>
        </p:nvSpPr>
        <p:spPr bwMode="auto">
          <a:xfrm>
            <a:off x="6656832" y="460857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Fork-join parallel orchestration in Care Coordinator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1632</Words>
  <Application>Microsoft Office PowerPoint</Application>
  <PresentationFormat>Presentazione su schermo (16:9)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Federico Capricci</cp:lastModifiedBy>
  <cp:revision>4</cp:revision>
  <dcterms:created xsi:type="dcterms:W3CDTF">2026-06-22T13:52:18Z</dcterms:created>
  <dcterms:modified xsi:type="dcterms:W3CDTF">2026-06-23T10:25:50Z</dcterms:modified>
</cp:coreProperties>
</file>