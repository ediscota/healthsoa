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14.xml" ContentType="application/vnd.openxmlformats-officedocument.presentationml.slide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6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7.xml" ContentType="application/vnd.openxmlformats-officedocument.presentationml.slide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s/slide4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5.xml" ContentType="application/vnd.openxmlformats-officedocument.presentationml.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21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9144000" cy="5143500" type="screen16x9"/>
  <p:notesSz cx="5143500" cy="9144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01" d="100"/>
          <a:sy n="101" d="100"/>
        </p:scale>
        <p:origin x="1092" y="80"/>
      </p:cViewPr>
      <p:guideLst>
        <p:guide pos="2880"/>
        <p:guide pos="162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 /><Relationship Id="rId23" Type="http://schemas.openxmlformats.org/officeDocument/2006/relationships/tableStyles" Target="tableStyles.xml" /><Relationship Id="rId24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4214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570274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845941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76579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03436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930364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6509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908685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291384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585868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176760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363617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1982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248974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956471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33783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554728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527991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45122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167434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sz="1400"/>
              <a:t>Thank you, Edoardo.</a:t>
            </a:r>
            <a:r>
              <a:rPr lang="it-IT" sz="1400"/>
              <a:t> </a:t>
            </a:r>
            <a:r>
              <a:rPr sz="1400"/>
              <a:t>Now, we will now look at</a:t>
            </a:r>
            <a:r>
              <a:rPr lang="it-IT" sz="1400"/>
              <a:t> the second block</a:t>
            </a:r>
            <a:r>
              <a:rPr sz="1400"/>
              <a:t> of our presentation. In this section, I will explain the business components of our system</a:t>
            </a:r>
            <a:r>
              <a:rPr lang="it-IT" sz="1400"/>
              <a:t>, we’</a:t>
            </a:r>
            <a:r>
              <a:rPr sz="1400"/>
              <a:t>ll see who are the main </a:t>
            </a:r>
            <a:r>
              <a:rPr lang="it-IT" sz="1400"/>
              <a:t>software a</a:t>
            </a:r>
            <a:r>
              <a:rPr sz="1400"/>
              <a:t>ctors, what responsibilities they have and how our data is structured.</a:t>
            </a:r>
            <a:endParaRPr lang="en-US"/>
          </a:p>
        </p:txBody>
      </p:sp>
      <p:sp>
        <p:nvSpPr>
          <p:cNvPr id="18769631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082604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167911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sz="1400"/>
              <a:t>On this slide, we have the Service Providers</a:t>
            </a:r>
            <a:r>
              <a:rPr lang="it-IT" sz="1400"/>
              <a:t> which </a:t>
            </a:r>
            <a:r>
              <a:rPr sz="1400"/>
              <a:t>are the foundational services of our platform. Each provider is independent</a:t>
            </a:r>
            <a:r>
              <a:rPr lang="it-IT" sz="1400"/>
              <a:t> from the others</a:t>
            </a:r>
            <a:r>
              <a:rPr sz="1400"/>
              <a:t>, manages its own specific da</a:t>
            </a:r>
            <a:r>
              <a:rPr lang="it-IT" sz="1400"/>
              <a:t>ta </a:t>
            </a:r>
            <a:r>
              <a:rPr sz="1400"/>
              <a:t>and has its own separate database to ensure decoupling.</a:t>
            </a:r>
            <a:endParaRPr/>
          </a:p>
          <a:p>
            <a:pPr>
              <a:defRPr/>
            </a:pPr>
            <a:r>
              <a:rPr sz="1400"/>
              <a:t>We have </a:t>
            </a:r>
            <a:r>
              <a:rPr lang="it-IT" sz="1400" b="1"/>
              <a:t>4</a:t>
            </a:r>
            <a:r>
              <a:rPr sz="1400" b="1"/>
              <a:t> providers</a:t>
            </a:r>
            <a:r>
              <a:rPr sz="1400"/>
              <a:t> in total:</a:t>
            </a:r>
            <a:endParaRPr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First</a:t>
            </a:r>
            <a:r>
              <a:rPr lang="it-IT" sz="1400"/>
              <a:t> we have</a:t>
            </a:r>
            <a:r>
              <a:rPr sz="1400"/>
              <a:t> the </a:t>
            </a:r>
            <a:r>
              <a:rPr sz="1400" b="1"/>
              <a:t>Anagrafe Service</a:t>
            </a:r>
            <a:r>
              <a:rPr lang="it-IT" sz="1400"/>
              <a:t>, which </a:t>
            </a:r>
            <a:r>
              <a:rPr sz="1400"/>
              <a:t>simulates an external registry</a:t>
            </a:r>
            <a:r>
              <a:rPr lang="it-IT" sz="1400"/>
              <a:t> </a:t>
            </a:r>
            <a:r>
              <a:rPr sz="1400"/>
              <a:t>manag</a:t>
            </a:r>
            <a:r>
              <a:rPr lang="it-IT" sz="1400"/>
              <a:t>ing</a:t>
            </a:r>
            <a:r>
              <a:rPr sz="1400"/>
              <a:t> patient details, medical history and allergies. Because it simulates a real-world legacy system, it uses the SOAP protocol instead of the more modern REST</a:t>
            </a:r>
            <a:r>
              <a:rPr lang="it-IT" sz="1400"/>
              <a:t> to send its data.</a:t>
            </a:r>
            <a:endParaRPr sz="1400"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Next, we have three modern REST services. </a:t>
            </a:r>
            <a:r>
              <a:rPr lang="it-IT" sz="1400"/>
              <a:t>Starting from the </a:t>
            </a:r>
            <a:r>
              <a:rPr sz="1400" b="1"/>
              <a:t>Laboratorio Service</a:t>
            </a:r>
            <a:r>
              <a:rPr sz="1400"/>
              <a:t> </a:t>
            </a:r>
            <a:r>
              <a:rPr lang="it-IT" sz="1400"/>
              <a:t>which </a:t>
            </a:r>
            <a:r>
              <a:rPr sz="1400"/>
              <a:t>handles medical test orders and results. In the real world, processing a biological sample takes time</a:t>
            </a:r>
            <a:r>
              <a:rPr lang="it-IT" sz="1400"/>
              <a:t>, t</a:t>
            </a:r>
            <a:r>
              <a:rPr sz="1400"/>
              <a:t>herefore this service works asynchronously</a:t>
            </a:r>
            <a:r>
              <a:rPr lang="it-IT" sz="1400"/>
              <a:t>, </a:t>
            </a:r>
            <a:r>
              <a:rPr sz="1400"/>
              <a:t>accept</a:t>
            </a:r>
            <a:r>
              <a:rPr lang="it-IT" sz="1400"/>
              <a:t>ing </a:t>
            </a:r>
            <a:r>
              <a:rPr sz="1400"/>
              <a:t>order</a:t>
            </a:r>
            <a:r>
              <a:rPr lang="it-IT" sz="1400"/>
              <a:t>s</a:t>
            </a:r>
            <a:r>
              <a:rPr sz="1400"/>
              <a:t> immediatel</a:t>
            </a:r>
            <a:r>
              <a:rPr lang="it-IT" sz="1400"/>
              <a:t>y</a:t>
            </a:r>
            <a:r>
              <a:rPr sz="1400"/>
              <a:t> and deliver</a:t>
            </a:r>
            <a:r>
              <a:rPr lang="it-IT" sz="1400"/>
              <a:t>ing</a:t>
            </a:r>
            <a:r>
              <a:rPr sz="1400"/>
              <a:t> the results</a:t>
            </a:r>
            <a:r>
              <a:rPr lang="it-IT" sz="1400"/>
              <a:t> at a</a:t>
            </a:r>
            <a:r>
              <a:rPr sz="1400"/>
              <a:t> later</a:t>
            </a:r>
            <a:r>
              <a:rPr lang="it-IT" sz="1400"/>
              <a:t> time</a:t>
            </a:r>
            <a:r>
              <a:rPr sz="1400"/>
              <a:t>.</a:t>
            </a:r>
            <a:endParaRPr sz="1400"/>
          </a:p>
          <a:p>
            <a:pPr marL="239820" indent="-239820">
              <a:buFont typeface="Arial"/>
              <a:buChar char="•"/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Aptos"/>
                <a:ea typeface="Arial"/>
                <a:cs typeface="Arial"/>
              </a:rPr>
              <a:t>T</a:t>
            </a:r>
            <a:r>
              <a:rPr lang="en-US" sz="14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he </a:t>
            </a:r>
            <a:r>
              <a:rPr lang="en-US" sz="1400" b="1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Farmacia Service</a:t>
            </a:r>
            <a:r>
              <a:rPr lang="en-US" sz="14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manages active drug prescriptions and includes a</a:t>
            </a:r>
            <a:r>
              <a:rPr lang="it-IT" sz="14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 endpoint </a:t>
            </a:r>
            <a:r>
              <a:rPr lang="en-US" sz="14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</a:t>
            </a:r>
            <a:r>
              <a:rPr lang="it-IT" sz="1400" b="0" i="0" u="none" strike="noStrike" cap="none" spc="0">
                <a:solidFill>
                  <a:schemeClr val="tx1"/>
                </a:solidFill>
                <a:latin typeface="Aptos"/>
                <a:ea typeface="Arial"/>
                <a:cs typeface="Arial"/>
              </a:rPr>
              <a:t>o add a new drug prescription for a patient in need</a:t>
            </a:r>
            <a:r>
              <a:rPr lang="en-US" sz="1400" b="0" i="0" u="none" strike="noStrike" cap="none" spc="0">
                <a:solidFill>
                  <a:schemeClr val="tx1"/>
                </a:solidFill>
                <a:latin typeface="Aptos"/>
                <a:ea typeface="Arial"/>
                <a:cs typeface="Arial"/>
              </a:rPr>
              <a:t>.</a:t>
            </a:r>
            <a:endParaRPr sz="1400"/>
          </a:p>
          <a:p>
            <a:pPr marL="239821" indent="-239821">
              <a:buFont typeface="Arial"/>
              <a:buChar char="•"/>
              <a:defRPr/>
            </a:pPr>
            <a:r>
              <a:rPr lang="it-IT" sz="1400"/>
              <a:t>Finally we have the </a:t>
            </a:r>
            <a:r>
              <a:rPr sz="1400" b="1"/>
              <a:t>Imaging Service</a:t>
            </a:r>
            <a:r>
              <a:rPr lang="it-IT" sz="1400"/>
              <a:t>, which </a:t>
            </a:r>
            <a:r>
              <a:rPr sz="1400"/>
              <a:t>works </a:t>
            </a:r>
            <a:r>
              <a:rPr lang="it-IT" sz="1400"/>
              <a:t>in a similar way to the Laboratorio Service</a:t>
            </a:r>
            <a:r>
              <a:rPr sz="1400"/>
              <a:t>, but </a:t>
            </a:r>
            <a:r>
              <a:rPr lang="it-IT" sz="1400"/>
              <a:t>instead it</a:t>
            </a:r>
            <a:r>
              <a:rPr sz="1400"/>
              <a:t> manages </a:t>
            </a:r>
            <a:r>
              <a:rPr lang="it-IT" sz="1400"/>
              <a:t>very different data such as </a:t>
            </a:r>
            <a:r>
              <a:rPr sz="1400"/>
              <a:t>radiology reports</a:t>
            </a:r>
            <a:r>
              <a:rPr lang="it-IT" sz="1400"/>
              <a:t>, X-Rays and MRI scans.</a:t>
            </a:r>
            <a:endParaRPr sz="1400"/>
          </a:p>
          <a:p>
            <a:pPr>
              <a:defRPr/>
            </a:pPr>
            <a:r>
              <a:rPr sz="1400"/>
              <a:t>Now, let’s see how we combine all this information</a:t>
            </a:r>
            <a:r>
              <a:rPr lang="it-IT" sz="1400"/>
              <a:t>s</a:t>
            </a:r>
            <a:endParaRPr lang="en-US"/>
          </a:p>
        </p:txBody>
      </p:sp>
      <p:sp>
        <p:nvSpPr>
          <p:cNvPr id="19820819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93205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358077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it-IT" sz="1400"/>
              <a:t>Here are the</a:t>
            </a:r>
            <a:r>
              <a:rPr sz="1400"/>
              <a:t> Service Prosumers</a:t>
            </a:r>
            <a:r>
              <a:rPr lang="it-IT" sz="1400"/>
              <a:t>, we use them t</a:t>
            </a:r>
            <a:r>
              <a:rPr sz="1400"/>
              <a:t>o create a complete view for the clinical staff, </a:t>
            </a:r>
            <a:r>
              <a:rPr lang="it-IT" sz="1400"/>
              <a:t>therefore these</a:t>
            </a:r>
            <a:r>
              <a:rPr sz="1400"/>
              <a:t> components do not just store data but they consume data from the providers and aggregate it.</a:t>
            </a:r>
            <a:endParaRPr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The first one is the </a:t>
            </a:r>
            <a:r>
              <a:rPr sz="1400" b="1"/>
              <a:t>Diagnostic Aggregator</a:t>
            </a:r>
            <a:r>
              <a:rPr lang="it-IT" sz="1400"/>
              <a:t>, which </a:t>
            </a:r>
            <a:r>
              <a:rPr sz="1400"/>
              <a:t>communicates with the Laboratorio </a:t>
            </a:r>
            <a:r>
              <a:rPr lang="it-IT" sz="1400"/>
              <a:t>service </a:t>
            </a:r>
            <a:r>
              <a:rPr sz="1400"/>
              <a:t>and </a:t>
            </a:r>
            <a:r>
              <a:rPr lang="it-IT" sz="1400"/>
              <a:t>the </a:t>
            </a:r>
            <a:r>
              <a:rPr sz="1400"/>
              <a:t>Imaging service. It collects the asynchronous test results and combines them into a single complete Diagnostic Bundle</a:t>
            </a:r>
            <a:r>
              <a:rPr lang="it-IT" sz="1400"/>
              <a:t>, it can be customized based on the panel value selectable from the index page.</a:t>
            </a:r>
            <a:endParaRPr sz="1400"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The second one is the </a:t>
            </a:r>
            <a:r>
              <a:rPr sz="1400" b="1"/>
              <a:t>Clinical Aggregator</a:t>
            </a:r>
            <a:r>
              <a:rPr lang="it-IT" sz="1400"/>
              <a:t>, which</a:t>
            </a:r>
            <a:r>
              <a:rPr sz="1400"/>
              <a:t> acts as a technological bridge</a:t>
            </a:r>
            <a:r>
              <a:rPr lang="it-IT" sz="1400"/>
              <a:t> because i</a:t>
            </a:r>
            <a:r>
              <a:rPr sz="1400"/>
              <a:t>t talks to </a:t>
            </a:r>
            <a:r>
              <a:rPr lang="it-IT" sz="1400"/>
              <a:t>both t</a:t>
            </a:r>
            <a:r>
              <a:rPr sz="1400"/>
              <a:t>he SOAP Anagrafe service and the REST Farmacia service, </a:t>
            </a:r>
            <a:r>
              <a:rPr lang="it-IT" sz="1400"/>
              <a:t>unifying </a:t>
            </a:r>
            <a:r>
              <a:rPr sz="1400"/>
              <a:t>the</a:t>
            </a:r>
            <a:r>
              <a:rPr lang="it-IT" sz="1400"/>
              <a:t>ir</a:t>
            </a:r>
            <a:r>
              <a:rPr sz="1400"/>
              <a:t> data and return</a:t>
            </a:r>
            <a:r>
              <a:rPr lang="it-IT" sz="1400"/>
              <a:t>ing</a:t>
            </a:r>
            <a:r>
              <a:rPr sz="1400"/>
              <a:t> a full Clinical Profile of the patient.</a:t>
            </a:r>
            <a:endParaRPr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At the very </a:t>
            </a:r>
            <a:r>
              <a:rPr lang="it-IT" sz="1400"/>
              <a:t>end</a:t>
            </a:r>
            <a:r>
              <a:rPr sz="1400"/>
              <a:t> we have the </a:t>
            </a:r>
            <a:r>
              <a:rPr sz="1400" b="1"/>
              <a:t>Care Coordinator</a:t>
            </a:r>
            <a:r>
              <a:rPr lang="it-IT" sz="1400"/>
              <a:t>, which</a:t>
            </a:r>
            <a:r>
              <a:rPr sz="1400"/>
              <a:t> is the main orchestrator of our platform. It calls both the Clinical and Diagnostic aggregators in parallel, it waits for both </a:t>
            </a:r>
            <a:r>
              <a:rPr lang="it-IT" sz="1400"/>
              <a:t>of them t</a:t>
            </a:r>
            <a:r>
              <a:rPr sz="1400"/>
              <a:t>o finish</a:t>
            </a:r>
            <a:r>
              <a:rPr lang="it-IT" sz="1400"/>
              <a:t> and then </a:t>
            </a:r>
            <a:r>
              <a:rPr sz="1400"/>
              <a:t>cross-references all the data</a:t>
            </a:r>
            <a:r>
              <a:rPr lang="it-IT" sz="1400"/>
              <a:t> </a:t>
            </a:r>
            <a:r>
              <a:rPr sz="1400"/>
              <a:t>appl</a:t>
            </a:r>
            <a:r>
              <a:rPr lang="it-IT" sz="1400"/>
              <a:t>ying</a:t>
            </a:r>
            <a:r>
              <a:rPr sz="1400"/>
              <a:t> </a:t>
            </a:r>
            <a:r>
              <a:rPr lang="it-IT" sz="1400"/>
              <a:t>its own </a:t>
            </a:r>
            <a:r>
              <a:rPr sz="1400"/>
              <a:t>business </a:t>
            </a:r>
            <a:r>
              <a:rPr lang="it-IT" sz="1400"/>
              <a:t>logic </a:t>
            </a:r>
            <a:r>
              <a:rPr sz="1400"/>
              <a:t>to generate</a:t>
            </a:r>
            <a:r>
              <a:rPr lang="it-IT" sz="1400"/>
              <a:t> </a:t>
            </a:r>
            <a:r>
              <a:rPr sz="1400"/>
              <a:t>the final report.</a:t>
            </a:r>
            <a:endParaRPr lang="en-US"/>
          </a:p>
        </p:txBody>
      </p:sp>
      <p:sp>
        <p:nvSpPr>
          <p:cNvPr id="12691824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868031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546005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it-IT" sz="1400"/>
              <a:t>Now l</a:t>
            </a:r>
            <a:r>
              <a:rPr sz="1400"/>
              <a:t>et’s look at our Key Data Structures to see how our data is managed </a:t>
            </a:r>
            <a:r>
              <a:rPr lang="it-IT" sz="1400"/>
              <a:t>throughout </a:t>
            </a:r>
            <a:r>
              <a:rPr lang="it-IT" sz="1400"/>
              <a:t>all </a:t>
            </a:r>
            <a:r>
              <a:rPr sz="1400"/>
              <a:t>the components I just described.</a:t>
            </a:r>
            <a:endParaRPr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On the left side we </a:t>
            </a:r>
            <a:r>
              <a:rPr lang="it-IT" sz="1400"/>
              <a:t>can see </a:t>
            </a:r>
            <a:r>
              <a:rPr sz="1400"/>
              <a:t>the </a:t>
            </a:r>
            <a:r>
              <a:rPr sz="1400" b="1"/>
              <a:t>Domain Objects</a:t>
            </a:r>
            <a:r>
              <a:rPr lang="it-IT" sz="1400"/>
              <a:t>, t</a:t>
            </a:r>
            <a:r>
              <a:rPr sz="1400"/>
              <a:t>hese are the simple data units managed by our </a:t>
            </a:r>
            <a:r>
              <a:rPr lang="it-IT" sz="1400"/>
              <a:t>individual p</a:t>
            </a:r>
            <a:r>
              <a:rPr sz="1400"/>
              <a:t>roviders, such as patient</a:t>
            </a:r>
            <a:r>
              <a:rPr lang="it-IT" sz="1400"/>
              <a:t>s</a:t>
            </a:r>
            <a:r>
              <a:rPr sz="1400"/>
              <a:t>, conditions, allergies a</a:t>
            </a:r>
            <a:r>
              <a:rPr lang="it-IT" sz="1400"/>
              <a:t>nd </a:t>
            </a:r>
            <a:r>
              <a:rPr sz="1400"/>
              <a:t>measurements</a:t>
            </a:r>
            <a:r>
              <a:rPr lang="it-IT" sz="1400"/>
              <a:t>;</a:t>
            </a:r>
            <a:r>
              <a:rPr sz="1400"/>
              <a:t> </a:t>
            </a:r>
            <a:r>
              <a:rPr lang="it-IT" sz="1400"/>
              <a:t>each one of them comes with their own set of </a:t>
            </a:r>
            <a:r>
              <a:rPr sz="1400"/>
              <a:t>attributes</a:t>
            </a:r>
            <a:r>
              <a:rPr lang="it-IT" sz="1400"/>
              <a:t>, which </a:t>
            </a:r>
            <a:r>
              <a:rPr lang="it-IT" sz="1400"/>
              <a:t>you can see o</a:t>
            </a:r>
            <a:r>
              <a:rPr sz="1400"/>
              <a:t>n screen.</a:t>
            </a:r>
            <a:endParaRPr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On the right side we have the </a:t>
            </a:r>
            <a:r>
              <a:rPr sz="1400" b="1"/>
              <a:t>Composed Objects</a:t>
            </a:r>
            <a:r>
              <a:rPr sz="1400"/>
              <a:t> created by our Prosumers.</a:t>
            </a:r>
            <a:r>
              <a:rPr lang="it-IT" sz="1400"/>
              <a:t> T</a:t>
            </a:r>
            <a:r>
              <a:rPr sz="1400"/>
              <a:t>he Diagnostic Bundle and the Clinical Profile represent the first level of </a:t>
            </a:r>
            <a:r>
              <a:rPr lang="it-IT" sz="1400"/>
              <a:t>composed data, respectively managed by the Diagnostic and Clinical aggregators.</a:t>
            </a:r>
            <a:endParaRPr sz="1400"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A</a:t>
            </a:r>
            <a:r>
              <a:rPr lang="it-IT" sz="1400"/>
              <a:t>nother</a:t>
            </a:r>
            <a:r>
              <a:rPr sz="1400"/>
              <a:t> important </a:t>
            </a:r>
            <a:r>
              <a:rPr lang="it-IT" sz="1400"/>
              <a:t>data </a:t>
            </a:r>
            <a:r>
              <a:rPr sz="1400"/>
              <a:t>structure</a:t>
            </a:r>
            <a:r>
              <a:rPr lang="it-IT" sz="1400"/>
              <a:t> </a:t>
            </a:r>
            <a:r>
              <a:rPr sz="1400"/>
              <a:t>is the Risk Flag</a:t>
            </a:r>
            <a:r>
              <a:rPr lang="it-IT" sz="1400"/>
              <a:t>, they ar</a:t>
            </a:r>
            <a:r>
              <a:rPr sz="1400"/>
              <a:t>e </a:t>
            </a:r>
            <a:r>
              <a:rPr lang="it-IT" sz="1400"/>
              <a:t> managed by the </a:t>
            </a:r>
            <a:r>
              <a:rPr sz="1400"/>
              <a:t>Care Coordinator</a:t>
            </a:r>
            <a:r>
              <a:rPr lang="it-IT" sz="1400"/>
              <a:t>, which </a:t>
            </a:r>
            <a:r>
              <a:rPr sz="1400"/>
              <a:t>creates these flags automatically if it detects a dangerous situation. For example, if a doctor prescribes a drug that conflicts with a patient's allergy, or if a lab</a:t>
            </a:r>
            <a:r>
              <a:rPr lang="it-IT" sz="1400"/>
              <a:t>oratory</a:t>
            </a:r>
            <a:r>
              <a:rPr sz="1400"/>
              <a:t> test value is critically bad, the system generates a warning flag.</a:t>
            </a:r>
            <a:endParaRPr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All of this information</a:t>
            </a:r>
            <a:r>
              <a:rPr lang="it-IT" sz="1400"/>
              <a:t>s</a:t>
            </a:r>
            <a:r>
              <a:rPr sz="1400"/>
              <a:t> </a:t>
            </a:r>
            <a:r>
              <a:rPr lang="it-IT" sz="1400"/>
              <a:t>are</a:t>
            </a:r>
            <a:r>
              <a:rPr sz="1400"/>
              <a:t> packed into the final Fitness Report</a:t>
            </a:r>
            <a:r>
              <a:rPr lang="it-IT" sz="1400"/>
              <a:t>, which gives </a:t>
            </a:r>
            <a:r>
              <a:rPr sz="1400"/>
              <a:t>the doctor a clear </a:t>
            </a:r>
            <a:r>
              <a:rPr lang="it-IT" sz="1400"/>
              <a:t>and complete e</a:t>
            </a:r>
            <a:r>
              <a:rPr sz="1400"/>
              <a:t>valuation summary</a:t>
            </a:r>
            <a:r>
              <a:rPr lang="it-IT" sz="1400"/>
              <a:t> of the patient</a:t>
            </a:r>
            <a:r>
              <a:rPr lang="it-IT" sz="1400"/>
              <a:t>, and it can assume 3 values: “</a:t>
            </a:r>
            <a:r>
              <a:rPr sz="1400"/>
              <a:t>Fit</a:t>
            </a:r>
            <a:r>
              <a:rPr lang="it-IT" sz="1400"/>
              <a:t>”</a:t>
            </a:r>
            <a:r>
              <a:rPr sz="1400"/>
              <a:t>, </a:t>
            </a:r>
            <a:r>
              <a:rPr lang="it-IT" sz="1400"/>
              <a:t>“</a:t>
            </a:r>
            <a:r>
              <a:rPr sz="1400"/>
              <a:t>Fit with Reservation</a:t>
            </a:r>
            <a:r>
              <a:rPr lang="it-IT" sz="1400"/>
              <a:t>”</a:t>
            </a:r>
            <a:r>
              <a:rPr sz="1400"/>
              <a:t> or </a:t>
            </a:r>
            <a:r>
              <a:rPr lang="it-IT" sz="1400"/>
              <a:t>“</a:t>
            </a:r>
            <a:r>
              <a:rPr sz="1400"/>
              <a:t>Unfit</a:t>
            </a:r>
            <a:r>
              <a:rPr lang="it-IT" sz="1400"/>
              <a:t>”,</a:t>
            </a:r>
            <a:r>
              <a:rPr sz="1400"/>
              <a:t> along with the patient summary and the list of risk factors.</a:t>
            </a:r>
            <a:endParaRPr lang="en-US"/>
          </a:p>
        </p:txBody>
      </p:sp>
      <p:sp>
        <p:nvSpPr>
          <p:cNvPr id="13449612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31785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435281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090270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96651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602154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The goal of </a:t>
            </a:r>
            <a:r>
              <a:rPr lang="it-IT"/>
              <a:t>HealthSOA</a:t>
            </a:r>
            <a:r>
              <a:rPr lang="it-IT"/>
              <a:t> </a:t>
            </a:r>
            <a:r>
              <a:rPr lang="it-IT"/>
              <a:t>is</a:t>
            </a:r>
            <a:r>
              <a:rPr lang="it-IT"/>
              <a:t> to assist </a:t>
            </a:r>
            <a:r>
              <a:rPr lang="it-IT"/>
              <a:t>healthcare</a:t>
            </a:r>
            <a:r>
              <a:rPr lang="it-IT"/>
              <a:t> </a:t>
            </a:r>
            <a:r>
              <a:rPr lang="it-IT"/>
              <a:t>professionals</a:t>
            </a:r>
            <a:r>
              <a:rPr lang="it-IT"/>
              <a:t> in </a:t>
            </a:r>
            <a:r>
              <a:rPr lang="it-IT"/>
              <a:t>collecting</a:t>
            </a:r>
            <a:r>
              <a:rPr lang="it-IT"/>
              <a:t> and </a:t>
            </a:r>
            <a:r>
              <a:rPr lang="it-IT"/>
              <a:t>analysing</a:t>
            </a:r>
            <a:r>
              <a:rPr lang="it-IT"/>
              <a:t> </a:t>
            </a:r>
            <a:r>
              <a:rPr lang="it-IT"/>
              <a:t>all</a:t>
            </a:r>
            <a:r>
              <a:rPr lang="it-IT"/>
              <a:t> the clinical information </a:t>
            </a:r>
            <a:r>
              <a:rPr lang="it-IT"/>
              <a:t>required</a:t>
            </a:r>
            <a:r>
              <a:rPr lang="it-IT"/>
              <a:t> </a:t>
            </a:r>
            <a:r>
              <a:rPr lang="it-IT"/>
              <a:t>before</a:t>
            </a:r>
            <a:r>
              <a:rPr lang="it-IT"/>
              <a:t> a </a:t>
            </a:r>
            <a:r>
              <a:rPr lang="it-IT"/>
              <a:t>medical</a:t>
            </a:r>
            <a:r>
              <a:rPr lang="it-IT"/>
              <a:t> procedure. To </a:t>
            </a:r>
            <a:r>
              <a:rPr lang="it-IT"/>
              <a:t>achieve</a:t>
            </a:r>
            <a:r>
              <a:rPr lang="it-IT"/>
              <a:t> </a:t>
            </a:r>
            <a:r>
              <a:rPr lang="it-IT"/>
              <a:t>this</a:t>
            </a:r>
            <a:r>
              <a:rPr lang="it-IT"/>
              <a:t>, </a:t>
            </a:r>
            <a:r>
              <a:rPr lang="it-IT"/>
              <a:t>we</a:t>
            </a:r>
            <a:r>
              <a:rPr lang="it-IT"/>
              <a:t> </a:t>
            </a:r>
            <a:r>
              <a:rPr lang="it-IT"/>
              <a:t>identified</a:t>
            </a:r>
            <a:r>
              <a:rPr lang="it-IT"/>
              <a:t> </a:t>
            </a:r>
            <a:r>
              <a:rPr lang="it-IT"/>
              <a:t>four</a:t>
            </a:r>
            <a:r>
              <a:rPr lang="it-IT"/>
              <a:t> </a:t>
            </a:r>
            <a:r>
              <a:rPr lang="it-IT"/>
              <a:t>main</a:t>
            </a:r>
            <a:r>
              <a:rPr lang="it-IT"/>
              <a:t> use </a:t>
            </a:r>
            <a:r>
              <a:rPr lang="it-IT"/>
              <a:t>cases</a:t>
            </a:r>
            <a:r>
              <a:rPr lang="it-IT"/>
              <a:t>. </a:t>
            </a:r>
            <a:endParaRPr lang="en-US"/>
          </a:p>
        </p:txBody>
      </p:sp>
      <p:sp>
        <p:nvSpPr>
          <p:cNvPr id="9661846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33747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929619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In </a:t>
            </a:r>
            <a:r>
              <a:rPr lang="it-IT"/>
              <a:t>this</a:t>
            </a:r>
            <a:r>
              <a:rPr lang="it-IT"/>
              <a:t> scenario, the </a:t>
            </a:r>
            <a:r>
              <a:rPr lang="it-IT"/>
              <a:t>physician</a:t>
            </a:r>
            <a:r>
              <a:rPr lang="it-IT"/>
              <a:t> </a:t>
            </a:r>
            <a:r>
              <a:rPr lang="it-IT"/>
              <a:t>requests</a:t>
            </a:r>
            <a:r>
              <a:rPr lang="it-IT"/>
              <a:t> a complete </a:t>
            </a:r>
            <a:r>
              <a:rPr lang="it-IT"/>
              <a:t>evaluation</a:t>
            </a:r>
            <a:r>
              <a:rPr lang="it-IT"/>
              <a:t> of a </a:t>
            </a:r>
            <a:r>
              <a:rPr lang="it-IT"/>
              <a:t>patient's</a:t>
            </a:r>
            <a:r>
              <a:rPr lang="it-IT"/>
              <a:t> </a:t>
            </a:r>
            <a:r>
              <a:rPr lang="it-IT"/>
              <a:t>suitability</a:t>
            </a:r>
            <a:r>
              <a:rPr lang="it-IT"/>
              <a:t> for a </a:t>
            </a:r>
            <a:r>
              <a:rPr lang="it-IT"/>
              <a:t>medical</a:t>
            </a:r>
            <a:r>
              <a:rPr lang="it-IT"/>
              <a:t> procedure or surgery. </a:t>
            </a:r>
            <a:endParaRPr/>
          </a:p>
          <a:p>
            <a:pPr>
              <a:defRPr/>
            </a:pPr>
            <a:endParaRPr lang="it-IT"/>
          </a:p>
          <a:p>
            <a:pPr>
              <a:defRPr/>
            </a:pPr>
            <a:r>
              <a:rPr lang="it-IT"/>
              <a:t>From a </a:t>
            </a:r>
            <a:r>
              <a:rPr lang="it-IT"/>
              <a:t>functional</a:t>
            </a:r>
            <a:r>
              <a:rPr lang="it-IT"/>
              <a:t> </a:t>
            </a:r>
            <a:r>
              <a:rPr lang="it-IT"/>
              <a:t>perspective</a:t>
            </a:r>
            <a:r>
              <a:rPr lang="it-IT"/>
              <a:t>, </a:t>
            </a:r>
            <a:r>
              <a:rPr lang="it-IT"/>
              <a:t>this</a:t>
            </a:r>
            <a:r>
              <a:rPr lang="it-IT"/>
              <a:t> use case </a:t>
            </a:r>
            <a:r>
              <a:rPr lang="it-IT"/>
              <a:t>transforms</a:t>
            </a:r>
            <a:r>
              <a:rPr lang="it-IT"/>
              <a:t> data coming from multiple sources </a:t>
            </a:r>
            <a:r>
              <a:rPr lang="it-IT"/>
              <a:t>into</a:t>
            </a:r>
            <a:r>
              <a:rPr lang="it-IT"/>
              <a:t> a single clinical </a:t>
            </a:r>
            <a:r>
              <a:rPr lang="it-IT"/>
              <a:t>assessment</a:t>
            </a:r>
            <a:r>
              <a:rPr lang="it-IT"/>
              <a:t> </a:t>
            </a:r>
            <a:r>
              <a:rPr lang="it-IT"/>
              <a:t>that</a:t>
            </a:r>
            <a:r>
              <a:rPr lang="it-IT"/>
              <a:t> </a:t>
            </a:r>
            <a:r>
              <a:rPr lang="it-IT"/>
              <a:t>is</a:t>
            </a:r>
            <a:r>
              <a:rPr lang="it-IT"/>
              <a:t> ready to support </a:t>
            </a:r>
            <a:r>
              <a:rPr lang="it-IT"/>
              <a:t>medical</a:t>
            </a:r>
            <a:r>
              <a:rPr lang="it-IT"/>
              <a:t> decision-making.</a:t>
            </a:r>
            <a:endParaRPr/>
          </a:p>
        </p:txBody>
      </p:sp>
      <p:sp>
        <p:nvSpPr>
          <p:cNvPr id="15020212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242196-202C-F19F-E59B-19A0C2A48E0E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27631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729818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In </a:t>
            </a:r>
            <a:r>
              <a:rPr lang="it-IT"/>
              <a:t>this</a:t>
            </a:r>
            <a:r>
              <a:rPr lang="it-IT"/>
              <a:t> scenario, the </a:t>
            </a:r>
            <a:r>
              <a:rPr lang="it-IT"/>
              <a:t>physician</a:t>
            </a:r>
            <a:r>
              <a:rPr lang="it-IT"/>
              <a:t> </a:t>
            </a:r>
            <a:r>
              <a:rPr lang="it-IT"/>
              <a:t>does</a:t>
            </a:r>
            <a:r>
              <a:rPr lang="it-IT"/>
              <a:t> </a:t>
            </a:r>
            <a:r>
              <a:rPr lang="it-IT"/>
              <a:t>not</a:t>
            </a:r>
            <a:r>
              <a:rPr lang="it-IT"/>
              <a:t> </a:t>
            </a:r>
            <a:r>
              <a:rPr lang="it-IT"/>
              <a:t>require</a:t>
            </a:r>
            <a:r>
              <a:rPr lang="it-IT"/>
              <a:t> a complete </a:t>
            </a:r>
            <a:r>
              <a:rPr lang="it-IT"/>
              <a:t>assessment</a:t>
            </a:r>
            <a:r>
              <a:rPr lang="it-IT"/>
              <a:t>, </a:t>
            </a:r>
            <a:r>
              <a:rPr lang="it-IT"/>
              <a:t>but</a:t>
            </a:r>
            <a:r>
              <a:rPr lang="it-IT"/>
              <a:t> </a:t>
            </a:r>
            <a:r>
              <a:rPr lang="it-IT"/>
              <a:t>simply</a:t>
            </a:r>
            <a:r>
              <a:rPr lang="it-IT"/>
              <a:t> </a:t>
            </a:r>
            <a:r>
              <a:rPr lang="it-IT"/>
              <a:t>wants</a:t>
            </a:r>
            <a:r>
              <a:rPr lang="it-IT"/>
              <a:t> to review the </a:t>
            </a:r>
            <a:r>
              <a:rPr lang="it-IT"/>
              <a:t>patient's</a:t>
            </a:r>
            <a:r>
              <a:rPr lang="it-IT"/>
              <a:t> </a:t>
            </a:r>
            <a:r>
              <a:rPr lang="it-IT"/>
              <a:t>medical</a:t>
            </a:r>
            <a:r>
              <a:rPr lang="it-IT"/>
              <a:t> background. </a:t>
            </a:r>
            <a:endParaRPr/>
          </a:p>
          <a:p>
            <a:pPr>
              <a:defRPr/>
            </a:pPr>
            <a:endParaRPr lang="it-IT"/>
          </a:p>
          <a:p>
            <a:pPr>
              <a:defRPr/>
            </a:pPr>
            <a:r>
              <a:rPr lang="it-IT"/>
              <a:t>From the end </a:t>
            </a:r>
            <a:r>
              <a:rPr lang="it-IT"/>
              <a:t>user's</a:t>
            </a:r>
            <a:r>
              <a:rPr lang="it-IT"/>
              <a:t> </a:t>
            </a:r>
            <a:r>
              <a:rPr lang="it-IT"/>
              <a:t>perspective</a:t>
            </a:r>
            <a:r>
              <a:rPr lang="it-IT"/>
              <a:t>, </a:t>
            </a:r>
            <a:r>
              <a:rPr lang="it-IT"/>
              <a:t>there</a:t>
            </a:r>
            <a:r>
              <a:rPr lang="it-IT"/>
              <a:t> </a:t>
            </a:r>
            <a:r>
              <a:rPr lang="it-IT"/>
              <a:t>is</a:t>
            </a:r>
            <a:r>
              <a:rPr lang="it-IT"/>
              <a:t> no </a:t>
            </a:r>
            <a:r>
              <a:rPr lang="it-IT"/>
              <a:t>need</a:t>
            </a:r>
            <a:r>
              <a:rPr lang="it-IT"/>
              <a:t> to query multiple systems </a:t>
            </a:r>
            <a:r>
              <a:rPr lang="it-IT"/>
              <a:t>separately</a:t>
            </a:r>
            <a:r>
              <a:rPr lang="it-IT"/>
              <a:t>: </a:t>
            </a:r>
            <a:r>
              <a:rPr lang="it-IT"/>
              <a:t>all</a:t>
            </a:r>
            <a:r>
              <a:rPr lang="it-IT"/>
              <a:t> </a:t>
            </a:r>
            <a:r>
              <a:rPr lang="it-IT"/>
              <a:t>relevant</a:t>
            </a:r>
            <a:r>
              <a:rPr lang="it-IT"/>
              <a:t> information </a:t>
            </a:r>
            <a:r>
              <a:rPr lang="it-IT"/>
              <a:t>is</a:t>
            </a:r>
            <a:r>
              <a:rPr lang="it-IT"/>
              <a:t> </a:t>
            </a:r>
            <a:r>
              <a:rPr lang="it-IT"/>
              <a:t>presented</a:t>
            </a:r>
            <a:r>
              <a:rPr lang="it-IT"/>
              <a:t> in a single, </a:t>
            </a:r>
            <a:r>
              <a:rPr lang="it-IT"/>
              <a:t>coherent</a:t>
            </a:r>
            <a:r>
              <a:rPr lang="it-IT"/>
              <a:t> </a:t>
            </a:r>
            <a:r>
              <a:rPr lang="it-IT"/>
              <a:t>view</a:t>
            </a:r>
            <a:r>
              <a:rPr lang="it-IT"/>
              <a:t>.</a:t>
            </a:r>
            <a:endParaRPr/>
          </a:p>
        </p:txBody>
      </p:sp>
      <p:sp>
        <p:nvSpPr>
          <p:cNvPr id="8541772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8B224E-5401-2944-BD9E-177ABE848A1D}" type="slidenum">
              <a:rPr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23494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765282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The </a:t>
            </a:r>
            <a:r>
              <a:rPr lang="it-IT"/>
              <a:t>physician</a:t>
            </a:r>
            <a:r>
              <a:rPr lang="it-IT"/>
              <a:t> can </a:t>
            </a:r>
            <a:r>
              <a:rPr lang="it-IT"/>
              <a:t>request</a:t>
            </a:r>
            <a:r>
              <a:rPr lang="it-IT"/>
              <a:t> a </a:t>
            </a:r>
            <a:r>
              <a:rPr lang="it-IT"/>
              <a:t>diagnostic</a:t>
            </a:r>
            <a:r>
              <a:rPr lang="it-IT"/>
              <a:t> panel, </a:t>
            </a:r>
            <a:r>
              <a:rPr lang="it-IT"/>
              <a:t>such</a:t>
            </a:r>
            <a:r>
              <a:rPr lang="it-IT"/>
              <a:t> </a:t>
            </a:r>
            <a:r>
              <a:rPr lang="it-IT"/>
              <a:t>as</a:t>
            </a:r>
            <a:r>
              <a:rPr lang="it-IT"/>
              <a:t> a </a:t>
            </a:r>
            <a:r>
              <a:rPr lang="it-IT"/>
              <a:t>renal</a:t>
            </a:r>
            <a:r>
              <a:rPr lang="it-IT"/>
              <a:t> or </a:t>
            </a:r>
            <a:r>
              <a:rPr lang="it-IT"/>
              <a:t>metabolic</a:t>
            </a:r>
            <a:r>
              <a:rPr lang="it-IT"/>
              <a:t> panel. </a:t>
            </a:r>
            <a:endParaRPr/>
          </a:p>
        </p:txBody>
      </p:sp>
      <p:sp>
        <p:nvSpPr>
          <p:cNvPr id="19158651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7D4132B-99D2-A016-0E8A-93AF35626232}" type="slidenum">
              <a:rPr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872745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114413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In </a:t>
            </a:r>
            <a:r>
              <a:rPr lang="it-IT"/>
              <a:t>this</a:t>
            </a:r>
            <a:r>
              <a:rPr lang="it-IT"/>
              <a:t> scenario, the </a:t>
            </a:r>
            <a:r>
              <a:rPr lang="it-IT"/>
              <a:t>physician</a:t>
            </a:r>
            <a:r>
              <a:rPr lang="it-IT"/>
              <a:t> </a:t>
            </a:r>
            <a:r>
              <a:rPr lang="it-IT"/>
              <a:t>creates</a:t>
            </a:r>
            <a:r>
              <a:rPr lang="it-IT"/>
              <a:t> a new </a:t>
            </a:r>
            <a:r>
              <a:rPr lang="it-IT"/>
              <a:t>prescription</a:t>
            </a:r>
            <a:r>
              <a:rPr lang="it-IT"/>
              <a:t> for a </a:t>
            </a:r>
            <a:r>
              <a:rPr lang="it-IT"/>
              <a:t>patient</a:t>
            </a:r>
            <a:r>
              <a:rPr lang="it-IT"/>
              <a:t>.</a:t>
            </a:r>
            <a:endParaRPr/>
          </a:p>
        </p:txBody>
      </p:sp>
      <p:sp>
        <p:nvSpPr>
          <p:cNvPr id="13673439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EBE06E-E069-3376-C5E3-792169FA5BE7}" type="slidenum">
              <a:rPr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6356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964573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To conclude, </a:t>
            </a:r>
            <a:r>
              <a:rPr lang="it-IT"/>
              <a:t>this</a:t>
            </a:r>
            <a:r>
              <a:rPr lang="it-IT"/>
              <a:t> </a:t>
            </a:r>
            <a:r>
              <a:rPr lang="it-IT"/>
              <a:t>architecture</a:t>
            </a:r>
            <a:r>
              <a:rPr lang="it-IT"/>
              <a:t> </a:t>
            </a:r>
            <a:r>
              <a:rPr lang="it-IT"/>
              <a:t>has</a:t>
            </a:r>
            <a:r>
              <a:rPr lang="it-IT"/>
              <a:t> </a:t>
            </a:r>
            <a:r>
              <a:rPr lang="it-IT"/>
              <a:t>been</a:t>
            </a:r>
            <a:r>
              <a:rPr lang="it-IT"/>
              <a:t> </a:t>
            </a:r>
            <a:r>
              <a:rPr lang="it-IT"/>
              <a:t>built</a:t>
            </a:r>
            <a:r>
              <a:rPr lang="it-IT"/>
              <a:t> </a:t>
            </a:r>
            <a:r>
              <a:rPr lang="it-IT"/>
              <a:t>using</a:t>
            </a:r>
            <a:r>
              <a:rPr lang="it-IT"/>
              <a:t> </a:t>
            </a:r>
            <a:r>
              <a:rPr lang="it-IT"/>
              <a:t>technologies</a:t>
            </a:r>
            <a:r>
              <a:rPr lang="it-IT"/>
              <a:t> </a:t>
            </a:r>
            <a:r>
              <a:rPr lang="it-IT"/>
              <a:t>commonly</a:t>
            </a:r>
            <a:r>
              <a:rPr lang="it-IT"/>
              <a:t> </a:t>
            </a:r>
            <a:r>
              <a:rPr lang="it-IT"/>
              <a:t>adopted</a:t>
            </a:r>
            <a:r>
              <a:rPr lang="it-IT"/>
              <a:t> in </a:t>
            </a:r>
            <a:r>
              <a:rPr lang="it-IT"/>
              <a:t>modern</a:t>
            </a:r>
            <a:r>
              <a:rPr lang="it-IT"/>
              <a:t> </a:t>
            </a:r>
            <a:r>
              <a:rPr lang="it-IT"/>
              <a:t>microservice</a:t>
            </a:r>
            <a:r>
              <a:rPr lang="it-IT"/>
              <a:t> </a:t>
            </a:r>
            <a:r>
              <a:rPr lang="it-IT"/>
              <a:t>ecosystems</a:t>
            </a:r>
            <a:r>
              <a:rPr lang="it-IT"/>
              <a:t>. </a:t>
            </a:r>
            <a:r>
              <a:rPr lang="it-IT"/>
              <a:t>We</a:t>
            </a:r>
            <a:r>
              <a:rPr lang="it-IT"/>
              <a:t> </a:t>
            </a:r>
            <a:r>
              <a:rPr lang="it-IT"/>
              <a:t>used</a:t>
            </a:r>
            <a:r>
              <a:rPr lang="it-IT"/>
              <a:t> Java 17 and Spring Boot </a:t>
            </a:r>
            <a:r>
              <a:rPr lang="it-IT"/>
              <a:t>as</a:t>
            </a:r>
            <a:r>
              <a:rPr lang="it-IT"/>
              <a:t> the </a:t>
            </a:r>
            <a:r>
              <a:rPr lang="it-IT"/>
              <a:t>application</a:t>
            </a:r>
            <a:r>
              <a:rPr lang="it-IT"/>
              <a:t> </a:t>
            </a:r>
            <a:r>
              <a:rPr lang="it-IT"/>
              <a:t>foundation</a:t>
            </a:r>
            <a:r>
              <a:rPr lang="it-IT"/>
              <a:t>, Spring Cloud for service </a:t>
            </a:r>
            <a:r>
              <a:rPr lang="it-IT"/>
              <a:t>discovery</a:t>
            </a:r>
            <a:r>
              <a:rPr lang="it-IT"/>
              <a:t>, gateway management and inter-service </a:t>
            </a:r>
            <a:r>
              <a:rPr lang="it-IT"/>
              <a:t>communication</a:t>
            </a:r>
            <a:r>
              <a:rPr lang="it-IT"/>
              <a:t>, Apache CXF for SOAP </a:t>
            </a:r>
            <a:r>
              <a:rPr lang="it-IT"/>
              <a:t>integration</a:t>
            </a:r>
            <a:r>
              <a:rPr lang="it-IT"/>
              <a:t> with the Patient </a:t>
            </a:r>
            <a:r>
              <a:rPr lang="it-IT"/>
              <a:t>Registry</a:t>
            </a:r>
            <a:r>
              <a:rPr lang="it-IT"/>
              <a:t>, MySQL for data </a:t>
            </a:r>
            <a:r>
              <a:rPr lang="it-IT"/>
              <a:t>persistence</a:t>
            </a:r>
            <a:r>
              <a:rPr lang="it-IT"/>
              <a:t>, and Docker for deployment of the </a:t>
            </a:r>
            <a:r>
              <a:rPr lang="it-IT"/>
              <a:t>entire</a:t>
            </a:r>
            <a:r>
              <a:rPr lang="it-IT"/>
              <a:t> </a:t>
            </a:r>
            <a:r>
              <a:rPr lang="it-IT"/>
              <a:t>platform</a:t>
            </a:r>
            <a:r>
              <a:rPr lang="it-IT"/>
              <a:t>. </a:t>
            </a:r>
            <a:r>
              <a:rPr lang="it-IT"/>
              <a:t>Together</a:t>
            </a:r>
            <a:r>
              <a:rPr lang="it-IT"/>
              <a:t>, </a:t>
            </a:r>
            <a:r>
              <a:rPr lang="it-IT"/>
              <a:t>these</a:t>
            </a:r>
            <a:r>
              <a:rPr lang="it-IT"/>
              <a:t> </a:t>
            </a:r>
            <a:r>
              <a:rPr lang="it-IT"/>
              <a:t>technologies</a:t>
            </a:r>
            <a:r>
              <a:rPr lang="it-IT"/>
              <a:t> </a:t>
            </a:r>
            <a:r>
              <a:rPr lang="it-IT"/>
              <a:t>allowed</a:t>
            </a:r>
            <a:r>
              <a:rPr lang="it-IT"/>
              <a:t> </a:t>
            </a:r>
            <a:r>
              <a:rPr lang="it-IT"/>
              <a:t>us</a:t>
            </a:r>
            <a:r>
              <a:rPr lang="it-IT"/>
              <a:t> to build a </a:t>
            </a:r>
            <a:r>
              <a:rPr lang="it-IT"/>
              <a:t>platform</a:t>
            </a:r>
            <a:r>
              <a:rPr lang="it-IT"/>
              <a:t> </a:t>
            </a:r>
            <a:r>
              <a:rPr lang="it-IT"/>
              <a:t>capable</a:t>
            </a:r>
            <a:r>
              <a:rPr lang="it-IT"/>
              <a:t> of </a:t>
            </a:r>
            <a:r>
              <a:rPr lang="it-IT"/>
              <a:t>integrating</a:t>
            </a:r>
            <a:r>
              <a:rPr lang="it-IT"/>
              <a:t> clinical information coming from </a:t>
            </a:r>
            <a:r>
              <a:rPr lang="it-IT"/>
              <a:t>heterogeneous</a:t>
            </a:r>
            <a:r>
              <a:rPr lang="it-IT"/>
              <a:t> systems and </a:t>
            </a:r>
            <a:r>
              <a:rPr lang="it-IT"/>
              <a:t>presenting</a:t>
            </a:r>
            <a:r>
              <a:rPr lang="it-IT"/>
              <a:t> </a:t>
            </a:r>
            <a:r>
              <a:rPr lang="it-IT"/>
              <a:t>it</a:t>
            </a:r>
            <a:r>
              <a:rPr lang="it-IT"/>
              <a:t> to </a:t>
            </a:r>
            <a:r>
              <a:rPr lang="it-IT"/>
              <a:t>healthcare</a:t>
            </a:r>
            <a:r>
              <a:rPr lang="it-IT"/>
              <a:t> </a:t>
            </a:r>
            <a:r>
              <a:rPr lang="it-IT"/>
              <a:t>professionals</a:t>
            </a:r>
            <a:r>
              <a:rPr lang="it-IT"/>
              <a:t> </a:t>
            </a:r>
            <a:r>
              <a:rPr lang="it-IT"/>
              <a:t>through</a:t>
            </a:r>
            <a:r>
              <a:rPr lang="it-IT"/>
              <a:t> a single, </a:t>
            </a:r>
            <a:r>
              <a:rPr lang="it-IT"/>
              <a:t>consistent</a:t>
            </a:r>
            <a:r>
              <a:rPr lang="it-IT"/>
              <a:t>, and easy-to-use </a:t>
            </a:r>
            <a:r>
              <a:rPr lang="it-IT"/>
              <a:t>interface</a:t>
            </a:r>
            <a:r>
              <a:rPr lang="it-IT"/>
              <a:t>.</a:t>
            </a:r>
            <a:endParaRPr lang="en-US"/>
          </a:p>
        </p:txBody>
      </p:sp>
      <p:sp>
        <p:nvSpPr>
          <p:cNvPr id="526612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solidFill>
          <a:srgbClr val="1F4E79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1680498" name="Shape 0"/>
          <p:cNvSpPr/>
          <p:nvPr/>
        </p:nvSpPr>
        <p:spPr bwMode="auto">
          <a:xfrm>
            <a:off x="0" y="0"/>
            <a:ext cx="164592" cy="5148072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63577699" name="Text 1"/>
          <p:cNvSpPr/>
          <p:nvPr/>
        </p:nvSpPr>
        <p:spPr bwMode="auto">
          <a:xfrm>
            <a:off x="502920" y="822960"/>
            <a:ext cx="8138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6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HealthSOA</a:t>
            </a:r>
            <a:endParaRPr lang="en-US" sz="6000"/>
          </a:p>
        </p:txBody>
      </p:sp>
      <p:sp>
        <p:nvSpPr>
          <p:cNvPr id="88647427" name="Text 2"/>
          <p:cNvSpPr/>
          <p:nvPr/>
        </p:nvSpPr>
        <p:spPr bwMode="auto">
          <a:xfrm>
            <a:off x="502920" y="2057400"/>
            <a:ext cx="8138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2400">
                <a:solidFill>
                  <a:srgbClr val="A8C4E0"/>
                </a:solidFill>
                <a:latin typeface="Calibri"/>
                <a:ea typeface="Calibri"/>
                <a:cs typeface="Calibri"/>
              </a:rPr>
              <a:t>Hospital Platform for Pre-Procedure</a:t>
            </a:r>
            <a:endParaRPr lang="en-US" sz="2400"/>
          </a:p>
          <a:p>
            <a:pPr marL="0" indent="0">
              <a:buNone/>
              <a:defRPr/>
            </a:pPr>
            <a:r>
              <a:rPr lang="en-US" sz="2400">
                <a:solidFill>
                  <a:srgbClr val="A8C4E0"/>
                </a:solidFill>
                <a:latin typeface="Calibri"/>
                <a:ea typeface="Calibri"/>
                <a:cs typeface="Calibri"/>
              </a:rPr>
              <a:t>Clinical Assessment</a:t>
            </a:r>
            <a:endParaRPr lang="en-US" sz="2400"/>
          </a:p>
        </p:txBody>
      </p:sp>
      <p:sp>
        <p:nvSpPr>
          <p:cNvPr id="196049230" name="Text 3"/>
          <p:cNvSpPr/>
          <p:nvPr/>
        </p:nvSpPr>
        <p:spPr bwMode="auto">
          <a:xfrm>
            <a:off x="502920" y="3246120"/>
            <a:ext cx="8138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rgbClr val="7BA8C8"/>
                </a:solidFill>
                <a:latin typeface="Calibri"/>
                <a:ea typeface="Calibri"/>
                <a:cs typeface="Calibri"/>
              </a:rPr>
              <a:t>Service-Oriented Software Engineering  ·  A.A. 2025/2026</a:t>
            </a:r>
            <a:endParaRPr lang="en-US" sz="1500"/>
          </a:p>
        </p:txBody>
      </p:sp>
      <p:sp>
        <p:nvSpPr>
          <p:cNvPr id="571035560" name="Text 4"/>
          <p:cNvSpPr/>
          <p:nvPr/>
        </p:nvSpPr>
        <p:spPr bwMode="auto">
          <a:xfrm>
            <a:off x="502920" y="3611880"/>
            <a:ext cx="8138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rgbClr val="7BA8C8"/>
                </a:solidFill>
                <a:latin typeface="Calibri"/>
                <a:ea typeface="Calibri"/>
                <a:cs typeface="Calibri"/>
              </a:rPr>
              <a:t>Università degli Studi dell'Aquila  ·  DISIM</a:t>
            </a:r>
            <a:endParaRPr lang="en-US" sz="15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1F4E79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2376672" name="Text 0"/>
          <p:cNvSpPr/>
          <p:nvPr/>
        </p:nvSpPr>
        <p:spPr bwMode="auto">
          <a:xfrm>
            <a:off x="731520" y="146304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Block 1 </a:t>
            </a:r>
            <a:r>
              <a:rPr lang="it-IT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Domain, Architecture &amp; Infrastructure</a:t>
            </a:r>
            <a:endParaRPr lang="en-US" sz="4200"/>
          </a:p>
        </p:txBody>
      </p:sp>
      <p:sp>
        <p:nvSpPr>
          <p:cNvPr id="1386307585" name="Text 1"/>
          <p:cNvSpPr/>
          <p:nvPr/>
        </p:nvSpPr>
        <p:spPr bwMode="auto">
          <a:xfrm>
            <a:off x="731520" y="25146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2000">
                <a:solidFill>
                  <a:srgbClr val="A8C4E0"/>
                </a:solidFill>
                <a:latin typeface="Calibri"/>
                <a:ea typeface="Calibri"/>
                <a:cs typeface="Calibri"/>
              </a:rPr>
              <a:t>Edoardo Di Giuseppe</a:t>
            </a:r>
            <a:endParaRPr lang="en-US" sz="2000"/>
          </a:p>
        </p:txBody>
      </p:sp>
      <p:sp>
        <p:nvSpPr>
          <p:cNvPr id="518260027" name="Text 2"/>
          <p:cNvSpPr/>
          <p:nvPr/>
        </p:nvSpPr>
        <p:spPr bwMode="auto">
          <a:xfrm>
            <a:off x="731520" y="3017519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i="1">
                <a:solidFill>
                  <a:srgbClr val="7BA8C8"/>
                </a:solidFill>
                <a:latin typeface="Calibri"/>
                <a:ea typeface="Calibri"/>
                <a:cs typeface="Calibri"/>
              </a:rPr>
              <a:t>Domain &amp; Motivation · System Overview · Infrastructure · Load Balancing</a:t>
            </a:r>
            <a:endParaRPr lang="en-US"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6707558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Domain &amp; Motivation</a:t>
            </a:r>
            <a:endParaRPr lang="en-US" sz="3400"/>
          </a:p>
        </p:txBody>
      </p:sp>
      <p:sp>
        <p:nvSpPr>
          <p:cNvPr id="1791842270" name="Shape 1"/>
          <p:cNvSpPr/>
          <p:nvPr/>
        </p:nvSpPr>
        <p:spPr bwMode="auto">
          <a:xfrm>
            <a:off x="457200" y="107899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29553369" name="Shape 2"/>
          <p:cNvSpPr/>
          <p:nvPr/>
        </p:nvSpPr>
        <p:spPr bwMode="auto">
          <a:xfrm>
            <a:off x="457200" y="1207008"/>
            <a:ext cx="8229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12394088" name="Shape 3"/>
          <p:cNvSpPr/>
          <p:nvPr/>
        </p:nvSpPr>
        <p:spPr bwMode="auto">
          <a:xfrm>
            <a:off x="457200" y="1207008"/>
            <a:ext cx="64008" cy="82296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88202701" name="Text 4"/>
          <p:cNvSpPr/>
          <p:nvPr/>
        </p:nvSpPr>
        <p:spPr bwMode="auto">
          <a:xfrm>
            <a:off x="685800" y="1271016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Legacy SOAP Integration</a:t>
            </a:r>
            <a:endParaRPr lang="en-US" sz="1300"/>
          </a:p>
        </p:txBody>
      </p:sp>
      <p:sp>
        <p:nvSpPr>
          <p:cNvPr id="1127033891" name="Text 5"/>
          <p:cNvSpPr/>
          <p:nvPr/>
        </p:nvSpPr>
        <p:spPr bwMode="auto">
          <a:xfrm>
            <a:off x="685800" y="1572768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The regional Anagrafe Sanitaria is a real-world institutional system that exposes typed contracts via WSDL (HL7-style). Contract-first SOAP is imposed by the interoperability requirement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not an aesthetic choice.</a:t>
            </a:r>
            <a:endParaRPr lang="en-US" sz="1050"/>
          </a:p>
        </p:txBody>
      </p:sp>
      <p:sp>
        <p:nvSpPr>
          <p:cNvPr id="617374911" name="Shape 6"/>
          <p:cNvSpPr/>
          <p:nvPr/>
        </p:nvSpPr>
        <p:spPr bwMode="auto">
          <a:xfrm>
            <a:off x="457200" y="2139696"/>
            <a:ext cx="8229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30465786" name="Shape 7"/>
          <p:cNvSpPr/>
          <p:nvPr/>
        </p:nvSpPr>
        <p:spPr bwMode="auto">
          <a:xfrm>
            <a:off x="457200" y="2139696"/>
            <a:ext cx="64008" cy="822960"/>
          </a:xfrm>
          <a:prstGeom prst="rect">
            <a:avLst/>
          </a:prstGeom>
          <a:solidFill>
            <a:srgbClr val="534AB7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4662169" name="Text 8"/>
          <p:cNvSpPr/>
          <p:nvPr/>
        </p:nvSpPr>
        <p:spPr bwMode="auto">
          <a:xfrm>
            <a:off x="685800" y="2203704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Asynchronous Lab Processing</a:t>
            </a:r>
            <a:endParaRPr lang="en-US" sz="1300"/>
          </a:p>
        </p:txBody>
      </p:sp>
      <p:sp>
        <p:nvSpPr>
          <p:cNvPr id="1566163890" name="Text 9"/>
          <p:cNvSpPr/>
          <p:nvPr/>
        </p:nvSpPr>
        <p:spPr bwMode="auto">
          <a:xfrm>
            <a:off x="685800" y="2505456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 lab panel ordered urgently has real latency while the biological sample is processed. A synchronous call would hold threads and connections; asynchrony is mandated by the physics of the problem.</a:t>
            </a:r>
            <a:endParaRPr lang="en-US" sz="1050"/>
          </a:p>
        </p:txBody>
      </p:sp>
      <p:sp>
        <p:nvSpPr>
          <p:cNvPr id="674642447" name="Shape 10"/>
          <p:cNvSpPr/>
          <p:nvPr/>
        </p:nvSpPr>
        <p:spPr bwMode="auto">
          <a:xfrm>
            <a:off x="457200" y="3072384"/>
            <a:ext cx="8229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55044786" name="Shape 11"/>
          <p:cNvSpPr/>
          <p:nvPr/>
        </p:nvSpPr>
        <p:spPr bwMode="auto">
          <a:xfrm>
            <a:off x="457200" y="3072384"/>
            <a:ext cx="64008" cy="82296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01607249" name="Text 12"/>
          <p:cNvSpPr/>
          <p:nvPr/>
        </p:nvSpPr>
        <p:spPr bwMode="auto">
          <a:xfrm>
            <a:off x="685800" y="313639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Independent Parallel Branches</a:t>
            </a:r>
            <a:endParaRPr lang="en-US" sz="1300"/>
          </a:p>
        </p:txBody>
      </p:sp>
      <p:sp>
        <p:nvSpPr>
          <p:cNvPr id="1896712232" name="Text 13"/>
          <p:cNvSpPr/>
          <p:nvPr/>
        </p:nvSpPr>
        <p:spPr bwMode="auto">
          <a:xfrm>
            <a:off x="685800" y="3438144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 fitness assessment needs the diagnostic bundle (lab + imaging) AND the clinical history (registry + prescriptions) at the same time. The two data-collection branches are logically independent; sequential execution would needlessly double latency.</a:t>
            </a:r>
            <a:endParaRPr lang="en-US" sz="1050"/>
          </a:p>
        </p:txBody>
      </p:sp>
      <p:sp>
        <p:nvSpPr>
          <p:cNvPr id="406701696" name="Shape 14"/>
          <p:cNvSpPr/>
          <p:nvPr/>
        </p:nvSpPr>
        <p:spPr bwMode="auto">
          <a:xfrm>
            <a:off x="457200" y="4005072"/>
            <a:ext cx="8229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05104624" name="Shape 15"/>
          <p:cNvSpPr/>
          <p:nvPr/>
        </p:nvSpPr>
        <p:spPr bwMode="auto">
          <a:xfrm>
            <a:off x="457200" y="4005072"/>
            <a:ext cx="64008" cy="822960"/>
          </a:xfrm>
          <a:prstGeom prst="rect">
            <a:avLst/>
          </a:prstGeom>
          <a:solidFill>
            <a:srgbClr val="534AB7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02150048" name="Text 16"/>
          <p:cNvSpPr/>
          <p:nvPr/>
        </p:nvSpPr>
        <p:spPr bwMode="auto">
          <a:xfrm>
            <a:off x="685800" y="40690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Bursty Peak Load</a:t>
            </a:r>
            <a:endParaRPr lang="en-US" sz="1300"/>
          </a:p>
        </p:txBody>
      </p:sp>
      <p:sp>
        <p:nvSpPr>
          <p:cNvPr id="1148008199" name="Text 17"/>
          <p:cNvSpPr/>
          <p:nvPr/>
        </p:nvSpPr>
        <p:spPr bwMode="auto">
          <a:xfrm>
            <a:off x="685800" y="437083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Anagrafe and Laboratorio sit on the critical path of every workflow and are hit by many clinicians simultaneously during morning rounds and ER rushes. Load is bursty and read-heavy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replication is motivated by specific system behaviour.</a:t>
            </a:r>
            <a:endParaRPr lang="en-US" sz="10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8260411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System Overview</a:t>
            </a:r>
            <a:endParaRPr lang="en-US" sz="3400"/>
          </a:p>
        </p:txBody>
      </p:sp>
      <p:sp>
        <p:nvSpPr>
          <p:cNvPr id="5969041" name="Text 24"/>
          <p:cNvSpPr/>
          <p:nvPr/>
        </p:nvSpPr>
        <p:spPr bwMode="auto">
          <a:xfrm>
            <a:off x="6903720" y="3547872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endParaRPr lang="en-US" sz="950"/>
          </a:p>
        </p:txBody>
      </p:sp>
      <p:sp>
        <p:nvSpPr>
          <p:cNvPr id="495729428" name="Text 30"/>
          <p:cNvSpPr/>
          <p:nvPr/>
        </p:nvSpPr>
        <p:spPr bwMode="auto">
          <a:xfrm>
            <a:off x="457200" y="449884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endParaRPr lang="en-US" sz="1000"/>
          </a:p>
        </p:txBody>
      </p:sp>
      <p:pic>
        <p:nvPicPr>
          <p:cNvPr id="1971805484" name="Immagine 41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117187" y="856670"/>
            <a:ext cx="4909625" cy="415180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17764329" name="Shape 1"/>
          <p:cNvSpPr/>
          <p:nvPr/>
        </p:nvSpPr>
        <p:spPr bwMode="auto">
          <a:xfrm>
            <a:off x="457200" y="745235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0540864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Infrastructure Services</a:t>
            </a:r>
            <a:endParaRPr lang="en-US" sz="3400"/>
          </a:p>
        </p:txBody>
      </p:sp>
      <p:sp>
        <p:nvSpPr>
          <p:cNvPr id="1163214619" name="Shape 1"/>
          <p:cNvSpPr/>
          <p:nvPr/>
        </p:nvSpPr>
        <p:spPr bwMode="auto">
          <a:xfrm>
            <a:off x="457200" y="107899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89007958" name="Shape 2"/>
          <p:cNvSpPr/>
          <p:nvPr/>
        </p:nvSpPr>
        <p:spPr bwMode="auto">
          <a:xfrm>
            <a:off x="457200" y="1207008"/>
            <a:ext cx="82296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11965862" name="Text 3"/>
          <p:cNvSpPr/>
          <p:nvPr/>
        </p:nvSpPr>
        <p:spPr bwMode="auto">
          <a:xfrm>
            <a:off x="640080" y="128016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Config Server</a:t>
            </a:r>
            <a:endParaRPr lang="en-US" sz="1400"/>
          </a:p>
        </p:txBody>
      </p:sp>
      <p:sp>
        <p:nvSpPr>
          <p:cNvPr id="721912147" name="Shape 4"/>
          <p:cNvSpPr/>
          <p:nvPr/>
        </p:nvSpPr>
        <p:spPr bwMode="auto">
          <a:xfrm>
            <a:off x="7132320" y="1280160"/>
            <a:ext cx="1371600" cy="27432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61485750" name="Text 5"/>
          <p:cNvSpPr/>
          <p:nvPr/>
        </p:nvSpPr>
        <p:spPr bwMode="auto">
          <a:xfrm>
            <a:off x="7132320" y="12801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:8888</a:t>
            </a:r>
            <a:endParaRPr lang="en-US" sz="1200"/>
          </a:p>
        </p:txBody>
      </p:sp>
      <p:sp>
        <p:nvSpPr>
          <p:cNvPr id="1538807204" name="Text 6"/>
          <p:cNvSpPr/>
          <p:nvPr/>
        </p:nvSpPr>
        <p:spPr bwMode="auto">
          <a:xfrm>
            <a:off x="658368" y="1609344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Centralises all service properties in a sibling git repository (healthsoa-properties-repository)</a:t>
            </a:r>
            <a:endParaRPr lang="en-US" sz="1050"/>
          </a:p>
        </p:txBody>
      </p:sp>
      <p:sp>
        <p:nvSpPr>
          <p:cNvPr id="215376443" name="Text 7"/>
          <p:cNvSpPr/>
          <p:nvPr/>
        </p:nvSpPr>
        <p:spPr bwMode="auto">
          <a:xfrm>
            <a:off x="658368" y="1847088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Each microservice reads its entire config on startup via spring.config.import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no hardcoded values</a:t>
            </a:r>
            <a:endParaRPr lang="en-US" sz="1050"/>
          </a:p>
        </p:txBody>
      </p:sp>
      <p:sp>
        <p:nvSpPr>
          <p:cNvPr id="356947453" name="Text 8"/>
          <p:cNvSpPr/>
          <p:nvPr/>
        </p:nvSpPr>
        <p:spPr bwMode="auto">
          <a:xfrm>
            <a:off x="658368" y="2084832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Runtime refresh: POST /actuator/refresh + @RefreshScope pushes config changes without restarting</a:t>
            </a:r>
            <a:endParaRPr lang="en-US" sz="1050"/>
          </a:p>
        </p:txBody>
      </p:sp>
      <p:sp>
        <p:nvSpPr>
          <p:cNvPr id="892018433" name="Shape 9"/>
          <p:cNvSpPr/>
          <p:nvPr/>
        </p:nvSpPr>
        <p:spPr bwMode="auto">
          <a:xfrm>
            <a:off x="457200" y="2468880"/>
            <a:ext cx="82296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15579429" name="Text 10"/>
          <p:cNvSpPr/>
          <p:nvPr/>
        </p:nvSpPr>
        <p:spPr bwMode="auto">
          <a:xfrm>
            <a:off x="640080" y="2542032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Discovery Server — Eureka</a:t>
            </a:r>
            <a:endParaRPr lang="en-US" sz="1400"/>
          </a:p>
        </p:txBody>
      </p:sp>
      <p:sp>
        <p:nvSpPr>
          <p:cNvPr id="1332309894" name="Shape 11"/>
          <p:cNvSpPr/>
          <p:nvPr/>
        </p:nvSpPr>
        <p:spPr bwMode="auto">
          <a:xfrm>
            <a:off x="7132320" y="2542032"/>
            <a:ext cx="1371600" cy="27432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49906188" name="Text 12"/>
          <p:cNvSpPr/>
          <p:nvPr/>
        </p:nvSpPr>
        <p:spPr bwMode="auto">
          <a:xfrm>
            <a:off x="7132320" y="254203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:8761</a:t>
            </a:r>
            <a:endParaRPr lang="en-US" sz="1200"/>
          </a:p>
        </p:txBody>
      </p:sp>
      <p:sp>
        <p:nvSpPr>
          <p:cNvPr id="692936434" name="Text 13"/>
          <p:cNvSpPr/>
          <p:nvPr/>
        </p:nvSpPr>
        <p:spPr bwMode="auto">
          <a:xfrm>
            <a:off x="658368" y="2871216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All services self-register at startup via @EnableDiscoveryClient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no static address book</a:t>
            </a:r>
            <a:endParaRPr lang="en-US" sz="1050"/>
          </a:p>
        </p:txBody>
      </p:sp>
      <p:sp>
        <p:nvSpPr>
          <p:cNvPr id="1610361815" name="Text 14"/>
          <p:cNvSpPr/>
          <p:nvPr/>
        </p:nvSpPr>
        <p:spPr bwMode="auto">
          <a:xfrm>
            <a:off x="658368" y="3108960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Gateway and Feign clients resolve service names dynamically; load balancing is transparent</a:t>
            </a:r>
            <a:endParaRPr lang="en-US" sz="1050"/>
          </a:p>
        </p:txBody>
      </p:sp>
      <p:sp>
        <p:nvSpPr>
          <p:cNvPr id="23692453" name="Text 15"/>
          <p:cNvSpPr/>
          <p:nvPr/>
        </p:nvSpPr>
        <p:spPr bwMode="auto">
          <a:xfrm>
            <a:off x="658368" y="3346704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Health dashboard at http://localhost:8761 shows registered instances and their status</a:t>
            </a:r>
            <a:endParaRPr lang="en-US" sz="1050"/>
          </a:p>
        </p:txBody>
      </p:sp>
      <p:sp>
        <p:nvSpPr>
          <p:cNvPr id="253437401" name="Shape 16"/>
          <p:cNvSpPr/>
          <p:nvPr/>
        </p:nvSpPr>
        <p:spPr bwMode="auto">
          <a:xfrm>
            <a:off x="457200" y="3730752"/>
            <a:ext cx="82296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42905222" name="Text 17"/>
          <p:cNvSpPr/>
          <p:nvPr/>
        </p:nvSpPr>
        <p:spPr bwMode="auto">
          <a:xfrm>
            <a:off x="640080" y="3803904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API Gateway</a:t>
            </a:r>
            <a:endParaRPr lang="en-US" sz="1400"/>
          </a:p>
        </p:txBody>
      </p:sp>
      <p:sp>
        <p:nvSpPr>
          <p:cNvPr id="169813531" name="Shape 18"/>
          <p:cNvSpPr/>
          <p:nvPr/>
        </p:nvSpPr>
        <p:spPr bwMode="auto">
          <a:xfrm>
            <a:off x="7132320" y="3803904"/>
            <a:ext cx="1371600" cy="27432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31093773" name="Text 19"/>
          <p:cNvSpPr/>
          <p:nvPr/>
        </p:nvSpPr>
        <p:spPr bwMode="auto">
          <a:xfrm>
            <a:off x="7132320" y="380390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:9000</a:t>
            </a:r>
            <a:endParaRPr lang="en-US" sz="1200"/>
          </a:p>
        </p:txBody>
      </p:sp>
      <p:sp>
        <p:nvSpPr>
          <p:cNvPr id="1119896451" name="Text 20"/>
          <p:cNvSpPr/>
          <p:nvPr/>
        </p:nvSpPr>
        <p:spPr bwMode="auto">
          <a:xfrm>
            <a:off x="658368" y="4133088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Single public entry point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clients never call services directly, only /api/&lt;prefix&gt;/**</a:t>
            </a:r>
            <a:endParaRPr lang="en-US" sz="1050"/>
          </a:p>
        </p:txBody>
      </p:sp>
      <p:sp>
        <p:nvSpPr>
          <p:cNvPr id="116394309" name="Text 21"/>
          <p:cNvSpPr/>
          <p:nvPr/>
        </p:nvSpPr>
        <p:spPr bwMode="auto">
          <a:xfrm>
            <a:off x="658368" y="4370832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Routes use lb://service-name URIs; Spring Cloud LoadBalancer picks a healthy replica</a:t>
            </a:r>
            <a:endParaRPr lang="en-US" sz="1050"/>
          </a:p>
        </p:txBody>
      </p:sp>
      <p:sp>
        <p:nvSpPr>
          <p:cNvPr id="1747336326" name="Text 22"/>
          <p:cNvSpPr/>
          <p:nvPr/>
        </p:nvSpPr>
        <p:spPr bwMode="auto">
          <a:xfrm>
            <a:off x="658368" y="4608576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0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5679287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Load Balancing &amp; Scalability</a:t>
            </a:r>
            <a:endParaRPr lang="en-US" sz="3400"/>
          </a:p>
        </p:txBody>
      </p:sp>
      <p:sp>
        <p:nvSpPr>
          <p:cNvPr id="100995167" name="Shape 1"/>
          <p:cNvSpPr/>
          <p:nvPr/>
        </p:nvSpPr>
        <p:spPr bwMode="auto">
          <a:xfrm>
            <a:off x="457200" y="107899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53429531" name="Shape 2"/>
          <p:cNvSpPr/>
          <p:nvPr/>
        </p:nvSpPr>
        <p:spPr bwMode="auto">
          <a:xfrm>
            <a:off x="457200" y="1188720"/>
            <a:ext cx="39319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1138837" name="Text 3"/>
          <p:cNvSpPr/>
          <p:nvPr/>
        </p:nvSpPr>
        <p:spPr bwMode="auto">
          <a:xfrm>
            <a:off x="640080" y="12801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Scalable Services</a:t>
            </a:r>
            <a:endParaRPr lang="en-US" sz="1400"/>
          </a:p>
        </p:txBody>
      </p:sp>
      <p:sp>
        <p:nvSpPr>
          <p:cNvPr id="472913564" name="Text 4"/>
          <p:cNvSpPr/>
          <p:nvPr/>
        </p:nvSpPr>
        <p:spPr bwMode="auto">
          <a:xfrm>
            <a:off x="658368" y="169164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Anagrafe  :9101</a:t>
            </a:r>
            <a:endParaRPr lang="en-US" sz="1150"/>
          </a:p>
        </p:txBody>
      </p:sp>
      <p:sp>
        <p:nvSpPr>
          <p:cNvPr id="1787537927" name="Text 5"/>
          <p:cNvSpPr/>
          <p:nvPr/>
        </p:nvSpPr>
        <p:spPr bwMode="auto">
          <a:xfrm>
            <a:off x="658368" y="1965960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Read-heavy on every workflow </a:t>
            </a:r>
            <a:r>
              <a:rPr lang="it-IT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demographics, history, allergies queried by every request</a:t>
            </a:r>
            <a:endParaRPr lang="en-US" sz="950"/>
          </a:p>
        </p:txBody>
      </p:sp>
      <p:sp>
        <p:nvSpPr>
          <p:cNvPr id="1611265031" name="Text 6"/>
          <p:cNvSpPr/>
          <p:nvPr/>
        </p:nvSpPr>
        <p:spPr bwMode="auto">
          <a:xfrm>
            <a:off x="658368" y="2441448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Laboratorio  :9102</a:t>
            </a:r>
            <a:endParaRPr lang="en-US" sz="1150"/>
          </a:p>
        </p:txBody>
      </p:sp>
      <p:sp>
        <p:nvSpPr>
          <p:cNvPr id="1504787105" name="Text 7"/>
          <p:cNvSpPr/>
          <p:nvPr/>
        </p:nvSpPr>
        <p:spPr bwMode="auto">
          <a:xfrm>
            <a:off x="658368" y="2715768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Peak order bursts during morning rounds and ER rushes; async processing with per-instance thread pools</a:t>
            </a:r>
            <a:endParaRPr lang="en-US" sz="950"/>
          </a:p>
        </p:txBody>
      </p:sp>
      <p:sp>
        <p:nvSpPr>
          <p:cNvPr id="1296932958" name="Text 8"/>
          <p:cNvSpPr/>
          <p:nvPr/>
        </p:nvSpPr>
        <p:spPr bwMode="auto">
          <a:xfrm>
            <a:off x="658368" y="3191256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Imaging  :9104</a:t>
            </a:r>
            <a:endParaRPr lang="en-US" sz="1150"/>
          </a:p>
        </p:txBody>
      </p:sp>
      <p:sp>
        <p:nvSpPr>
          <p:cNvPr id="1138750190" name="Text 9"/>
          <p:cNvSpPr/>
          <p:nvPr/>
        </p:nvSpPr>
        <p:spPr bwMode="auto">
          <a:xfrm>
            <a:off x="658368" y="3465576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Same bursty profile as Laboratorio; stateless </a:t>
            </a:r>
            <a:r>
              <a:rPr lang="it-IT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any replica handles any request</a:t>
            </a:r>
            <a:endParaRPr lang="en-US" sz="950"/>
          </a:p>
        </p:txBody>
      </p:sp>
      <p:sp>
        <p:nvSpPr>
          <p:cNvPr id="1674730539" name="Text 10"/>
          <p:cNvSpPr/>
          <p:nvPr/>
        </p:nvSpPr>
        <p:spPr bwMode="auto">
          <a:xfrm>
            <a:off x="658368" y="3941064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Diagnostic Aggregator  :9201</a:t>
            </a:r>
            <a:endParaRPr lang="en-US" sz="1150"/>
          </a:p>
        </p:txBody>
      </p:sp>
      <p:sp>
        <p:nvSpPr>
          <p:cNvPr id="143891122" name="Text 11"/>
          <p:cNvSpPr/>
          <p:nvPr/>
        </p:nvSpPr>
        <p:spPr bwMode="auto">
          <a:xfrm>
            <a:off x="658368" y="4215384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Critical path of UC-3; stateless trackingId design enables transparent horizontal scaling</a:t>
            </a:r>
            <a:endParaRPr lang="en-US" sz="950"/>
          </a:p>
        </p:txBody>
      </p:sp>
      <p:sp>
        <p:nvSpPr>
          <p:cNvPr id="1675431414" name="Text 12"/>
          <p:cNvSpPr/>
          <p:nvPr/>
        </p:nvSpPr>
        <p:spPr bwMode="auto">
          <a:xfrm>
            <a:off x="658368" y="457200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050"/>
          </a:p>
        </p:txBody>
      </p:sp>
      <p:sp>
        <p:nvSpPr>
          <p:cNvPr id="657933065" name="Shape 13"/>
          <p:cNvSpPr/>
          <p:nvPr/>
        </p:nvSpPr>
        <p:spPr bwMode="auto">
          <a:xfrm>
            <a:off x="4754880" y="1188720"/>
            <a:ext cx="39319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84076871" name="Text 14"/>
          <p:cNvSpPr/>
          <p:nvPr/>
        </p:nvSpPr>
        <p:spPr bwMode="auto">
          <a:xfrm>
            <a:off x="4937760" y="12801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How It Works</a:t>
            </a:r>
            <a:endParaRPr lang="en-US" sz="1400"/>
          </a:p>
        </p:txBody>
      </p:sp>
      <p:sp>
        <p:nvSpPr>
          <p:cNvPr id="1679578190" name="Text 15"/>
          <p:cNvSpPr/>
          <p:nvPr/>
        </p:nvSpPr>
        <p:spPr bwMode="auto">
          <a:xfrm>
            <a:off x="4937760" y="1691640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Eureka registration</a:t>
            </a:r>
            <a:endParaRPr lang="en-US" sz="1100"/>
          </a:p>
        </p:txBody>
      </p:sp>
      <p:sp>
        <p:nvSpPr>
          <p:cNvPr id="643095534" name="Text 16"/>
          <p:cNvSpPr/>
          <p:nvPr/>
        </p:nvSpPr>
        <p:spPr bwMode="auto">
          <a:xfrm>
            <a:off x="4937760" y="1947671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Every replica self-registers; gateway and Feign query the live registry at call time </a:t>
            </a:r>
            <a:r>
              <a:rPr lang="it-IT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no static routes.</a:t>
            </a:r>
            <a:endParaRPr lang="en-US" sz="950"/>
          </a:p>
        </p:txBody>
      </p:sp>
      <p:sp>
        <p:nvSpPr>
          <p:cNvPr id="2030186418" name="Text 17"/>
          <p:cNvSpPr/>
          <p:nvPr/>
        </p:nvSpPr>
        <p:spPr bwMode="auto">
          <a:xfrm>
            <a:off x="4937760" y="2359152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lb:// routing</a:t>
            </a:r>
            <a:endParaRPr lang="en-US" sz="1100"/>
          </a:p>
        </p:txBody>
      </p:sp>
      <p:sp>
        <p:nvSpPr>
          <p:cNvPr id="1908667858" name="Text 18"/>
          <p:cNvSpPr/>
          <p:nvPr/>
        </p:nvSpPr>
        <p:spPr bwMode="auto">
          <a:xfrm>
            <a:off x="4937760" y="2615184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Gateway routes contain lb://service-name; Spring Cloud LoadBalancer distributes across healthy instances.</a:t>
            </a:r>
            <a:endParaRPr lang="en-US" sz="950"/>
          </a:p>
        </p:txBody>
      </p:sp>
      <p:sp>
        <p:nvSpPr>
          <p:cNvPr id="322996487" name="Text 19"/>
          <p:cNvSpPr/>
          <p:nvPr/>
        </p:nvSpPr>
        <p:spPr bwMode="auto">
          <a:xfrm>
            <a:off x="4937760" y="3026664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@FeignClient(name=…)</a:t>
            </a:r>
            <a:endParaRPr lang="en-US" sz="1100"/>
          </a:p>
        </p:txBody>
      </p:sp>
      <p:sp>
        <p:nvSpPr>
          <p:cNvPr id="1827032674" name="Text 20"/>
          <p:cNvSpPr/>
          <p:nvPr/>
        </p:nvSpPr>
        <p:spPr bwMode="auto">
          <a:xfrm>
            <a:off x="4937760" y="3282696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Feign resolves the name via Eureka </a:t>
            </a:r>
            <a:r>
              <a:rPr lang="it-IT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no IP, no port. Round-robin load balancing is implicit.</a:t>
            </a:r>
            <a:endParaRPr lang="en-US" sz="950"/>
          </a:p>
        </p:txBody>
      </p:sp>
      <p:sp>
        <p:nvSpPr>
          <p:cNvPr id="1289690706" name="Text 21"/>
          <p:cNvSpPr/>
          <p:nvPr/>
        </p:nvSpPr>
        <p:spPr bwMode="auto">
          <a:xfrm>
            <a:off x="4937760" y="3694176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docker-compose --scale</a:t>
            </a:r>
            <a:endParaRPr lang="en-US" sz="1100"/>
          </a:p>
        </p:txBody>
      </p:sp>
      <p:sp>
        <p:nvSpPr>
          <p:cNvPr id="1504419904" name="Text 22"/>
          <p:cNvSpPr/>
          <p:nvPr/>
        </p:nvSpPr>
        <p:spPr bwMode="auto">
          <a:xfrm>
            <a:off x="4937760" y="3950208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docker-compose up --scale laboratorio-service=3 spins up replicas with zero code changes.</a:t>
            </a:r>
            <a:endParaRPr lang="en-US" sz="950"/>
          </a:p>
        </p:txBody>
      </p:sp>
      <p:sp>
        <p:nvSpPr>
          <p:cNvPr id="917318175" name="Text 23"/>
          <p:cNvSpPr/>
          <p:nvPr/>
        </p:nvSpPr>
        <p:spPr bwMode="auto">
          <a:xfrm>
            <a:off x="4937760" y="4361688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100"/>
          </a:p>
        </p:txBody>
      </p:sp>
      <p:sp>
        <p:nvSpPr>
          <p:cNvPr id="1907365039" name="Text 24"/>
          <p:cNvSpPr/>
          <p:nvPr/>
        </p:nvSpPr>
        <p:spPr bwMode="auto">
          <a:xfrm>
            <a:off x="4937760" y="461772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950"/>
          </a:p>
        </p:txBody>
      </p:sp>
      <p:sp>
        <p:nvSpPr>
          <p:cNvPr id="250952738" name="Text 25"/>
          <p:cNvSpPr/>
          <p:nvPr/>
        </p:nvSpPr>
        <p:spPr bwMode="auto">
          <a:xfrm>
            <a:off x="4937760" y="457200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9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bg>
      <p:bgPr shadeToTitle="0">
        <a:solidFill>
          <a:srgbClr val="1F4E79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5008924" name="Text 0"/>
          <p:cNvSpPr/>
          <p:nvPr/>
        </p:nvSpPr>
        <p:spPr bwMode="auto">
          <a:xfrm>
            <a:off x="731520" y="146304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Block 2 </a:t>
            </a:r>
            <a:r>
              <a:rPr lang="it-IT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Providers, Prosumers &amp; Data Model</a:t>
            </a:r>
            <a:endParaRPr lang="en-US" sz="4200"/>
          </a:p>
        </p:txBody>
      </p:sp>
      <p:sp>
        <p:nvSpPr>
          <p:cNvPr id="927964101" name="Text 1"/>
          <p:cNvSpPr/>
          <p:nvPr/>
        </p:nvSpPr>
        <p:spPr bwMode="auto">
          <a:xfrm>
            <a:off x="731520" y="25146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2000"/>
          </a:p>
        </p:txBody>
      </p:sp>
      <p:sp>
        <p:nvSpPr>
          <p:cNvPr id="1544278830" name="Text 2"/>
          <p:cNvSpPr/>
          <p:nvPr/>
        </p:nvSpPr>
        <p:spPr bwMode="auto">
          <a:xfrm>
            <a:off x="731520" y="3017519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400"/>
          </a:p>
        </p:txBody>
      </p:sp>
      <p:sp>
        <p:nvSpPr>
          <p:cNvPr id="1977713392" name="Text 1"/>
          <p:cNvSpPr/>
          <p:nvPr/>
        </p:nvSpPr>
        <p:spPr bwMode="auto">
          <a:xfrm>
            <a:off x="883919" y="2666999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2000">
                <a:solidFill>
                  <a:srgbClr val="A8C4E0"/>
                </a:solidFill>
                <a:latin typeface="Calibri"/>
                <a:ea typeface="Calibri"/>
                <a:cs typeface="Calibri"/>
              </a:rPr>
              <a:t>Lorenzo Di Giandomenico</a:t>
            </a:r>
            <a:endParaRPr lang="en-US"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8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5673907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Service Providers</a:t>
            </a:r>
            <a:endParaRPr lang="en-US" sz="3400"/>
          </a:p>
        </p:txBody>
      </p:sp>
      <p:sp>
        <p:nvSpPr>
          <p:cNvPr id="1937544678" name="Shape 1"/>
          <p:cNvSpPr/>
          <p:nvPr/>
        </p:nvSpPr>
        <p:spPr bwMode="auto">
          <a:xfrm>
            <a:off x="457200" y="71323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83262824" name="Shape 2"/>
          <p:cNvSpPr/>
          <p:nvPr/>
        </p:nvSpPr>
        <p:spPr bwMode="auto">
          <a:xfrm>
            <a:off x="264115" y="886968"/>
            <a:ext cx="1645920" cy="73152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02135753" name="Text 3"/>
          <p:cNvSpPr/>
          <p:nvPr/>
        </p:nvSpPr>
        <p:spPr bwMode="auto">
          <a:xfrm>
            <a:off x="328123" y="886968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Service</a:t>
            </a:r>
            <a:endParaRPr lang="en-US" sz="1200"/>
          </a:p>
        </p:txBody>
      </p:sp>
      <p:sp>
        <p:nvSpPr>
          <p:cNvPr id="851301026" name="Shape 4"/>
          <p:cNvSpPr/>
          <p:nvPr/>
        </p:nvSpPr>
        <p:spPr bwMode="auto">
          <a:xfrm>
            <a:off x="1910035" y="886968"/>
            <a:ext cx="1188720" cy="73152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57422877" name="Text 5"/>
          <p:cNvSpPr/>
          <p:nvPr/>
        </p:nvSpPr>
        <p:spPr bwMode="auto">
          <a:xfrm>
            <a:off x="1974043" y="886968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Protocol</a:t>
            </a:r>
            <a:endParaRPr lang="en-US" sz="1200"/>
          </a:p>
        </p:txBody>
      </p:sp>
      <p:sp>
        <p:nvSpPr>
          <p:cNvPr id="106880910" name="Shape 6"/>
          <p:cNvSpPr/>
          <p:nvPr/>
        </p:nvSpPr>
        <p:spPr bwMode="auto">
          <a:xfrm>
            <a:off x="3098755" y="886968"/>
            <a:ext cx="731520" cy="73152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56580403" name="Text 7"/>
          <p:cNvSpPr/>
          <p:nvPr/>
        </p:nvSpPr>
        <p:spPr bwMode="auto">
          <a:xfrm>
            <a:off x="3162763" y="886968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Port</a:t>
            </a:r>
            <a:endParaRPr lang="en-US" sz="1200"/>
          </a:p>
        </p:txBody>
      </p:sp>
      <p:sp>
        <p:nvSpPr>
          <p:cNvPr id="1476613979" name="Shape 8"/>
          <p:cNvSpPr/>
          <p:nvPr/>
        </p:nvSpPr>
        <p:spPr bwMode="auto">
          <a:xfrm>
            <a:off x="3830275" y="886968"/>
            <a:ext cx="5120640" cy="73152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6418052" name="Text 9"/>
          <p:cNvSpPr/>
          <p:nvPr/>
        </p:nvSpPr>
        <p:spPr bwMode="auto">
          <a:xfrm>
            <a:off x="3894283" y="886968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Responsibility</a:t>
            </a:r>
            <a:endParaRPr lang="en-US" sz="1200"/>
          </a:p>
        </p:txBody>
      </p:sp>
      <p:sp>
        <p:nvSpPr>
          <p:cNvPr id="811971050" name="Shape 10"/>
          <p:cNvSpPr/>
          <p:nvPr/>
        </p:nvSpPr>
        <p:spPr bwMode="auto">
          <a:xfrm>
            <a:off x="264115" y="1682496"/>
            <a:ext cx="1645920" cy="731520"/>
          </a:xfrm>
          <a:prstGeom prst="rect">
            <a:avLst/>
          </a:prstGeom>
          <a:solidFill>
            <a:srgbClr val="D4EDE6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36937954" name="Text 11"/>
          <p:cNvSpPr/>
          <p:nvPr/>
        </p:nvSpPr>
        <p:spPr bwMode="auto">
          <a:xfrm>
            <a:off x="328123" y="1682496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Anagrafe </a:t>
            </a:r>
            <a:r>
              <a:rPr lang="it-IT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Service</a:t>
            </a:r>
            <a:endParaRPr lang="en-US" sz="1100"/>
          </a:p>
        </p:txBody>
      </p:sp>
      <p:sp>
        <p:nvSpPr>
          <p:cNvPr id="534809011" name="Shape 12"/>
          <p:cNvSpPr/>
          <p:nvPr/>
        </p:nvSpPr>
        <p:spPr bwMode="auto">
          <a:xfrm>
            <a:off x="1910035" y="1682496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19580916" name="Text 13"/>
          <p:cNvSpPr/>
          <p:nvPr/>
        </p:nvSpPr>
        <p:spPr bwMode="auto">
          <a:xfrm>
            <a:off x="1974043" y="1682496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SOAP</a:t>
            </a:r>
            <a:endParaRPr lang="en-US" sz="1100"/>
          </a:p>
        </p:txBody>
      </p:sp>
      <p:sp>
        <p:nvSpPr>
          <p:cNvPr id="210367161" name="Shape 14"/>
          <p:cNvSpPr/>
          <p:nvPr/>
        </p:nvSpPr>
        <p:spPr bwMode="auto">
          <a:xfrm>
            <a:off x="3098755" y="1682496"/>
            <a:ext cx="731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21770848" name="Text 15"/>
          <p:cNvSpPr/>
          <p:nvPr/>
        </p:nvSpPr>
        <p:spPr bwMode="auto">
          <a:xfrm>
            <a:off x="3162763" y="1682496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9101</a:t>
            </a:r>
            <a:endParaRPr lang="en-US" sz="1300"/>
          </a:p>
        </p:txBody>
      </p:sp>
      <p:sp>
        <p:nvSpPr>
          <p:cNvPr id="674370369" name="Shape 16"/>
          <p:cNvSpPr/>
          <p:nvPr/>
        </p:nvSpPr>
        <p:spPr bwMode="auto">
          <a:xfrm>
            <a:off x="3830275" y="1682496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75800672" name="Text 17"/>
          <p:cNvSpPr/>
          <p:nvPr/>
        </p:nvSpPr>
        <p:spPr bwMode="auto">
          <a:xfrm>
            <a:off x="3894283" y="1682496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Patient demographics, medical history (conditions)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and</a:t>
            </a: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known allergies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.</a:t>
            </a:r>
            <a:b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</a:b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</a:t>
            </a: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ontract-first WSDL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.</a:t>
            </a:r>
            <a:endParaRPr lang="en-US" sz="1100"/>
          </a:p>
        </p:txBody>
      </p:sp>
      <p:sp>
        <p:nvSpPr>
          <p:cNvPr id="1146488293" name="Shape 18"/>
          <p:cNvSpPr/>
          <p:nvPr/>
        </p:nvSpPr>
        <p:spPr bwMode="auto">
          <a:xfrm>
            <a:off x="264115" y="2478024"/>
            <a:ext cx="1645920" cy="731520"/>
          </a:xfrm>
          <a:prstGeom prst="rect">
            <a:avLst/>
          </a:prstGeom>
          <a:solidFill>
            <a:srgbClr val="D4EDE6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19689391" name="Text 19"/>
          <p:cNvSpPr/>
          <p:nvPr/>
        </p:nvSpPr>
        <p:spPr bwMode="auto">
          <a:xfrm>
            <a:off x="328123" y="2478024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Laboratorio </a:t>
            </a:r>
            <a:r>
              <a:rPr lang="it-IT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Service</a:t>
            </a:r>
            <a:endParaRPr lang="en-US" sz="1100"/>
          </a:p>
        </p:txBody>
      </p:sp>
      <p:sp>
        <p:nvSpPr>
          <p:cNvPr id="459428788" name="Shape 20"/>
          <p:cNvSpPr/>
          <p:nvPr/>
        </p:nvSpPr>
        <p:spPr bwMode="auto">
          <a:xfrm>
            <a:off x="1910035" y="2478024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02097132" name="Text 21"/>
          <p:cNvSpPr/>
          <p:nvPr/>
        </p:nvSpPr>
        <p:spPr bwMode="auto">
          <a:xfrm>
            <a:off x="1974043" y="2478024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REST async</a:t>
            </a:r>
            <a:endParaRPr lang="en-US" sz="1100"/>
          </a:p>
        </p:txBody>
      </p:sp>
      <p:sp>
        <p:nvSpPr>
          <p:cNvPr id="660957213" name="Shape 22"/>
          <p:cNvSpPr/>
          <p:nvPr/>
        </p:nvSpPr>
        <p:spPr bwMode="auto">
          <a:xfrm>
            <a:off x="3098755" y="2478024"/>
            <a:ext cx="731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91144421" name="Text 23"/>
          <p:cNvSpPr/>
          <p:nvPr/>
        </p:nvSpPr>
        <p:spPr bwMode="auto">
          <a:xfrm>
            <a:off x="3162763" y="2478024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9102</a:t>
            </a:r>
            <a:endParaRPr lang="en-US" sz="1300"/>
          </a:p>
        </p:txBody>
      </p:sp>
      <p:sp>
        <p:nvSpPr>
          <p:cNvPr id="618511656" name="Shape 24"/>
          <p:cNvSpPr/>
          <p:nvPr/>
        </p:nvSpPr>
        <p:spPr bwMode="auto">
          <a:xfrm>
            <a:off x="3830275" y="2478024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43082279" name="Text 25"/>
          <p:cNvSpPr/>
          <p:nvPr/>
        </p:nvSpPr>
        <p:spPr bwMode="auto">
          <a:xfrm>
            <a:off x="3894283" y="2478024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Lab test orders 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and measurements</a:t>
            </a: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, status polling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for </a:t>
            </a: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result retrieval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.</a:t>
            </a:r>
            <a:endParaRPr lang="en-US" sz="1100"/>
          </a:p>
        </p:txBody>
      </p:sp>
      <p:sp>
        <p:nvSpPr>
          <p:cNvPr id="1264921289" name="Shape 26"/>
          <p:cNvSpPr/>
          <p:nvPr/>
        </p:nvSpPr>
        <p:spPr bwMode="auto">
          <a:xfrm>
            <a:off x="264115" y="3273552"/>
            <a:ext cx="1645920" cy="731520"/>
          </a:xfrm>
          <a:prstGeom prst="rect">
            <a:avLst/>
          </a:prstGeom>
          <a:solidFill>
            <a:srgbClr val="D4EDE6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72474686" name="Text 27"/>
          <p:cNvSpPr/>
          <p:nvPr/>
        </p:nvSpPr>
        <p:spPr bwMode="auto">
          <a:xfrm>
            <a:off x="328123" y="3273552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Farmacia </a:t>
            </a:r>
            <a:r>
              <a:rPr lang="it-IT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Service</a:t>
            </a:r>
            <a:endParaRPr lang="en-US" sz="1100"/>
          </a:p>
        </p:txBody>
      </p:sp>
      <p:sp>
        <p:nvSpPr>
          <p:cNvPr id="1584691338" name="Shape 28"/>
          <p:cNvSpPr/>
          <p:nvPr/>
        </p:nvSpPr>
        <p:spPr bwMode="auto">
          <a:xfrm>
            <a:off x="1910035" y="3273552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03996369" name="Text 29"/>
          <p:cNvSpPr/>
          <p:nvPr/>
        </p:nvSpPr>
        <p:spPr bwMode="auto">
          <a:xfrm>
            <a:off x="1974043" y="3273552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REST</a:t>
            </a:r>
            <a:endParaRPr lang="en-US" sz="1100"/>
          </a:p>
        </p:txBody>
      </p:sp>
      <p:sp>
        <p:nvSpPr>
          <p:cNvPr id="1831820317" name="Shape 30"/>
          <p:cNvSpPr/>
          <p:nvPr/>
        </p:nvSpPr>
        <p:spPr bwMode="auto">
          <a:xfrm>
            <a:off x="3098755" y="3273552"/>
            <a:ext cx="731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12462168" name="Text 31"/>
          <p:cNvSpPr/>
          <p:nvPr/>
        </p:nvSpPr>
        <p:spPr bwMode="auto">
          <a:xfrm>
            <a:off x="3162763" y="3273552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9103</a:t>
            </a:r>
            <a:endParaRPr lang="en-US" sz="1300"/>
          </a:p>
        </p:txBody>
      </p:sp>
      <p:sp>
        <p:nvSpPr>
          <p:cNvPr id="1577357621" name="Shape 32"/>
          <p:cNvSpPr/>
          <p:nvPr/>
        </p:nvSpPr>
        <p:spPr bwMode="auto">
          <a:xfrm>
            <a:off x="3830275" y="3273552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02716076" name="Text 33"/>
          <p:cNvSpPr/>
          <p:nvPr/>
        </p:nvSpPr>
        <p:spPr bwMode="auto">
          <a:xfrm>
            <a:off x="3894283" y="3273552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Active prescriptions per patient, drug prescription endpoint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.</a:t>
            </a:r>
            <a:endParaRPr lang="en-US" sz="1100"/>
          </a:p>
        </p:txBody>
      </p:sp>
      <p:sp>
        <p:nvSpPr>
          <p:cNvPr id="899423450" name="Shape 34"/>
          <p:cNvSpPr/>
          <p:nvPr/>
        </p:nvSpPr>
        <p:spPr bwMode="auto">
          <a:xfrm>
            <a:off x="264115" y="4069080"/>
            <a:ext cx="1645920" cy="731520"/>
          </a:xfrm>
          <a:prstGeom prst="rect">
            <a:avLst/>
          </a:prstGeom>
          <a:solidFill>
            <a:srgbClr val="D4EDE6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99253477" name="Text 35"/>
          <p:cNvSpPr/>
          <p:nvPr/>
        </p:nvSpPr>
        <p:spPr bwMode="auto">
          <a:xfrm>
            <a:off x="328123" y="406908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Imaging Service</a:t>
            </a:r>
            <a:endParaRPr lang="en-US" sz="1100"/>
          </a:p>
        </p:txBody>
      </p:sp>
      <p:sp>
        <p:nvSpPr>
          <p:cNvPr id="1073479881" name="Shape 36"/>
          <p:cNvSpPr/>
          <p:nvPr/>
        </p:nvSpPr>
        <p:spPr bwMode="auto">
          <a:xfrm>
            <a:off x="1910035" y="4069080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22609489" name="Text 37"/>
          <p:cNvSpPr/>
          <p:nvPr/>
        </p:nvSpPr>
        <p:spPr bwMode="auto">
          <a:xfrm>
            <a:off x="1974043" y="406908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REST</a:t>
            </a:r>
            <a:endParaRPr lang="en-US" sz="1100"/>
          </a:p>
        </p:txBody>
      </p:sp>
      <p:sp>
        <p:nvSpPr>
          <p:cNvPr id="399347273" name="Shape 38"/>
          <p:cNvSpPr/>
          <p:nvPr/>
        </p:nvSpPr>
        <p:spPr bwMode="auto">
          <a:xfrm>
            <a:off x="3098755" y="4069080"/>
            <a:ext cx="731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00436390" name="Text 39"/>
          <p:cNvSpPr/>
          <p:nvPr/>
        </p:nvSpPr>
        <p:spPr bwMode="auto">
          <a:xfrm>
            <a:off x="3162763" y="4069080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9104</a:t>
            </a:r>
            <a:endParaRPr lang="en-US" sz="1300"/>
          </a:p>
        </p:txBody>
      </p:sp>
      <p:sp>
        <p:nvSpPr>
          <p:cNvPr id="1703416593" name="Shape 40"/>
          <p:cNvSpPr/>
          <p:nvPr/>
        </p:nvSpPr>
        <p:spPr bwMode="auto">
          <a:xfrm>
            <a:off x="3830275" y="4069080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60268771" name="Text 41"/>
          <p:cNvSpPr/>
          <p:nvPr/>
        </p:nvSpPr>
        <p:spPr bwMode="auto">
          <a:xfrm>
            <a:off x="3894283" y="406908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Radiology and imaging reports 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– Exams are already done, only the resulting images are sent.</a:t>
            </a:r>
            <a:endParaRPr lang="en-US" sz="1100"/>
          </a:p>
        </p:txBody>
      </p:sp>
      <p:sp>
        <p:nvSpPr>
          <p:cNvPr id="1592109320" name="Text 42"/>
          <p:cNvSpPr/>
          <p:nvPr/>
        </p:nvSpPr>
        <p:spPr bwMode="auto">
          <a:xfrm>
            <a:off x="457200" y="4791456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9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9449644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Service Prosumers</a:t>
            </a:r>
            <a:endParaRPr lang="en-US" sz="3400"/>
          </a:p>
        </p:txBody>
      </p:sp>
      <p:sp>
        <p:nvSpPr>
          <p:cNvPr id="2108430366" name="Shape 1"/>
          <p:cNvSpPr/>
          <p:nvPr/>
        </p:nvSpPr>
        <p:spPr bwMode="auto">
          <a:xfrm>
            <a:off x="429768" y="772668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02504583" name="Shape 2"/>
          <p:cNvSpPr/>
          <p:nvPr/>
        </p:nvSpPr>
        <p:spPr bwMode="auto">
          <a:xfrm>
            <a:off x="274319" y="882396"/>
            <a:ext cx="1280160" cy="43891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58605944" name="Text 3"/>
          <p:cNvSpPr/>
          <p:nvPr/>
        </p:nvSpPr>
        <p:spPr bwMode="auto">
          <a:xfrm>
            <a:off x="338327" y="882396"/>
            <a:ext cx="1188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Service</a:t>
            </a:r>
            <a:endParaRPr lang="en-US" sz="1200"/>
          </a:p>
        </p:txBody>
      </p:sp>
      <p:sp>
        <p:nvSpPr>
          <p:cNvPr id="1697257677" name="Shape 4"/>
          <p:cNvSpPr/>
          <p:nvPr/>
        </p:nvSpPr>
        <p:spPr bwMode="auto">
          <a:xfrm>
            <a:off x="1554479" y="882396"/>
            <a:ext cx="640080" cy="43891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16261657" name="Text 5"/>
          <p:cNvSpPr/>
          <p:nvPr/>
        </p:nvSpPr>
        <p:spPr bwMode="auto">
          <a:xfrm>
            <a:off x="1618487" y="882396"/>
            <a:ext cx="548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Port</a:t>
            </a:r>
            <a:endParaRPr lang="en-US" sz="1200"/>
          </a:p>
        </p:txBody>
      </p:sp>
      <p:sp>
        <p:nvSpPr>
          <p:cNvPr id="1731998769" name="Shape 6"/>
          <p:cNvSpPr/>
          <p:nvPr/>
        </p:nvSpPr>
        <p:spPr bwMode="auto">
          <a:xfrm>
            <a:off x="2194559" y="882396"/>
            <a:ext cx="2286000" cy="43891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21099967" name="Text 7"/>
          <p:cNvSpPr/>
          <p:nvPr/>
        </p:nvSpPr>
        <p:spPr bwMode="auto">
          <a:xfrm>
            <a:off x="2258567" y="882396"/>
            <a:ext cx="2194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Providers Consumed</a:t>
            </a:r>
            <a:endParaRPr lang="en-US" sz="1200"/>
          </a:p>
        </p:txBody>
      </p:sp>
      <p:sp>
        <p:nvSpPr>
          <p:cNvPr id="468068113" name="Shape 8"/>
          <p:cNvSpPr/>
          <p:nvPr/>
        </p:nvSpPr>
        <p:spPr bwMode="auto">
          <a:xfrm>
            <a:off x="4480559" y="882396"/>
            <a:ext cx="4480560" cy="43891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85144396" name="Text 9"/>
          <p:cNvSpPr/>
          <p:nvPr/>
        </p:nvSpPr>
        <p:spPr bwMode="auto">
          <a:xfrm>
            <a:off x="4544568" y="882396"/>
            <a:ext cx="43891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 Case</a:t>
            </a:r>
            <a:endParaRPr lang="en-US" sz="1200"/>
          </a:p>
        </p:txBody>
      </p:sp>
      <p:sp>
        <p:nvSpPr>
          <p:cNvPr id="1100502685" name="Shape 10"/>
          <p:cNvSpPr/>
          <p:nvPr/>
        </p:nvSpPr>
        <p:spPr bwMode="auto">
          <a:xfrm>
            <a:off x="274319" y="1321308"/>
            <a:ext cx="1280160" cy="1115568"/>
          </a:xfrm>
          <a:prstGeom prst="rect">
            <a:avLst/>
          </a:prstGeom>
          <a:solidFill>
            <a:srgbClr val="EAE8F8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69827024" name="Text 11"/>
          <p:cNvSpPr/>
          <p:nvPr/>
        </p:nvSpPr>
        <p:spPr bwMode="auto">
          <a:xfrm>
            <a:off x="338327" y="1321308"/>
            <a:ext cx="11887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Diagnostic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Aggregator</a:t>
            </a:r>
            <a:endParaRPr lang="en-US" sz="1050"/>
          </a:p>
        </p:txBody>
      </p:sp>
      <p:sp>
        <p:nvSpPr>
          <p:cNvPr id="1342923224" name="Shape 12"/>
          <p:cNvSpPr/>
          <p:nvPr/>
        </p:nvSpPr>
        <p:spPr bwMode="auto">
          <a:xfrm>
            <a:off x="1554479" y="1321308"/>
            <a:ext cx="64008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3885557" name="Text 13"/>
          <p:cNvSpPr/>
          <p:nvPr/>
        </p:nvSpPr>
        <p:spPr bwMode="auto">
          <a:xfrm>
            <a:off x="1618487" y="1321308"/>
            <a:ext cx="54864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9201</a:t>
            </a:r>
            <a:endParaRPr lang="en-US" sz="1200"/>
          </a:p>
        </p:txBody>
      </p:sp>
      <p:sp>
        <p:nvSpPr>
          <p:cNvPr id="881201625" name="Shape 14"/>
          <p:cNvSpPr/>
          <p:nvPr/>
        </p:nvSpPr>
        <p:spPr bwMode="auto">
          <a:xfrm>
            <a:off x="2194559" y="1321308"/>
            <a:ext cx="228600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64919599" name="Text 15"/>
          <p:cNvSpPr/>
          <p:nvPr/>
        </p:nvSpPr>
        <p:spPr bwMode="auto">
          <a:xfrm>
            <a:off x="2258567" y="1321308"/>
            <a:ext cx="21945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Laboratorio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Serivce 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(REST async) +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Imaging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Service 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(REST)</a:t>
            </a:r>
            <a:endParaRPr lang="en-US" sz="1050"/>
          </a:p>
        </p:txBody>
      </p:sp>
      <p:sp>
        <p:nvSpPr>
          <p:cNvPr id="1148981620" name="Shape 16"/>
          <p:cNvSpPr/>
          <p:nvPr/>
        </p:nvSpPr>
        <p:spPr bwMode="auto">
          <a:xfrm>
            <a:off x="4480559" y="1321308"/>
            <a:ext cx="44805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06493675" name="Text 17"/>
          <p:cNvSpPr/>
          <p:nvPr/>
        </p:nvSpPr>
        <p:spPr bwMode="auto">
          <a:xfrm>
            <a:off x="4544568" y="1321308"/>
            <a:ext cx="43891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UC-3: Order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 diagnostic panel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process the request asynchronously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,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compose </a:t>
            </a:r>
            <a:r>
              <a:rPr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TestResults and ImagingReports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filtered by 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the </a:t>
            </a:r>
            <a:r>
              <a:rPr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panel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value, to build a DiagnosticBundle.</a:t>
            </a:r>
            <a:endParaRPr lang="en-US" sz="1050"/>
          </a:p>
        </p:txBody>
      </p:sp>
      <p:sp>
        <p:nvSpPr>
          <p:cNvPr id="1816735343" name="Shape 18"/>
          <p:cNvSpPr/>
          <p:nvPr/>
        </p:nvSpPr>
        <p:spPr bwMode="auto">
          <a:xfrm>
            <a:off x="274319" y="2510028"/>
            <a:ext cx="1280160" cy="1115568"/>
          </a:xfrm>
          <a:prstGeom prst="rect">
            <a:avLst/>
          </a:prstGeom>
          <a:solidFill>
            <a:srgbClr val="EAE8F8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85659609" name="Text 19"/>
          <p:cNvSpPr/>
          <p:nvPr/>
        </p:nvSpPr>
        <p:spPr bwMode="auto">
          <a:xfrm>
            <a:off x="338327" y="2510028"/>
            <a:ext cx="11887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Clinical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Aggregator</a:t>
            </a:r>
            <a:endParaRPr lang="en-US" sz="1050"/>
          </a:p>
        </p:txBody>
      </p:sp>
      <p:sp>
        <p:nvSpPr>
          <p:cNvPr id="1606072847" name="Shape 20"/>
          <p:cNvSpPr/>
          <p:nvPr/>
        </p:nvSpPr>
        <p:spPr bwMode="auto">
          <a:xfrm>
            <a:off x="1554479" y="2510028"/>
            <a:ext cx="64008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97083392" name="Text 21"/>
          <p:cNvSpPr/>
          <p:nvPr/>
        </p:nvSpPr>
        <p:spPr bwMode="auto">
          <a:xfrm>
            <a:off x="1618487" y="2510028"/>
            <a:ext cx="54864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9202</a:t>
            </a:r>
            <a:endParaRPr lang="en-US" sz="1200"/>
          </a:p>
        </p:txBody>
      </p:sp>
      <p:sp>
        <p:nvSpPr>
          <p:cNvPr id="411678913" name="Shape 22"/>
          <p:cNvSpPr/>
          <p:nvPr/>
        </p:nvSpPr>
        <p:spPr bwMode="auto">
          <a:xfrm>
            <a:off x="2194559" y="2510028"/>
            <a:ext cx="228600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44390720" name="Text 23"/>
          <p:cNvSpPr/>
          <p:nvPr/>
        </p:nvSpPr>
        <p:spPr bwMode="auto">
          <a:xfrm>
            <a:off x="2258567" y="2510028"/>
            <a:ext cx="21945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Anagrafe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Service 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(SOAP) +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Farmacia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Service 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(REST)</a:t>
            </a:r>
            <a:endParaRPr lang="en-US" sz="1050"/>
          </a:p>
        </p:txBody>
      </p:sp>
      <p:sp>
        <p:nvSpPr>
          <p:cNvPr id="1486380805" name="Shape 24"/>
          <p:cNvSpPr/>
          <p:nvPr/>
        </p:nvSpPr>
        <p:spPr bwMode="auto">
          <a:xfrm>
            <a:off x="4480559" y="2510028"/>
            <a:ext cx="44805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47652796" name="Text 25"/>
          <p:cNvSpPr/>
          <p:nvPr/>
        </p:nvSpPr>
        <p:spPr bwMode="auto">
          <a:xfrm>
            <a:off x="4544568" y="2510028"/>
            <a:ext cx="43891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UC-2: Bridge SOAP↔RES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, compose demographics + history + prescriptions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to build a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ClinicalProfile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.</a:t>
            </a:r>
            <a:endParaRPr lang="en-US" sz="1050"/>
          </a:p>
        </p:txBody>
      </p:sp>
      <p:sp>
        <p:nvSpPr>
          <p:cNvPr id="1032179660" name="Shape 26"/>
          <p:cNvSpPr/>
          <p:nvPr/>
        </p:nvSpPr>
        <p:spPr bwMode="auto">
          <a:xfrm>
            <a:off x="274319" y="3698748"/>
            <a:ext cx="1280160" cy="1115568"/>
          </a:xfrm>
          <a:prstGeom prst="rect">
            <a:avLst/>
          </a:prstGeom>
          <a:solidFill>
            <a:srgbClr val="EAE8F8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41488817" name="Text 27"/>
          <p:cNvSpPr/>
          <p:nvPr/>
        </p:nvSpPr>
        <p:spPr bwMode="auto">
          <a:xfrm>
            <a:off x="338327" y="3698748"/>
            <a:ext cx="11887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Care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Coordinator</a:t>
            </a:r>
            <a:endParaRPr lang="en-US" sz="1050"/>
          </a:p>
        </p:txBody>
      </p:sp>
      <p:sp>
        <p:nvSpPr>
          <p:cNvPr id="134671867" name="Shape 28"/>
          <p:cNvSpPr/>
          <p:nvPr/>
        </p:nvSpPr>
        <p:spPr bwMode="auto">
          <a:xfrm>
            <a:off x="1554479" y="3698748"/>
            <a:ext cx="64008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19815671" name="Text 29"/>
          <p:cNvSpPr/>
          <p:nvPr/>
        </p:nvSpPr>
        <p:spPr bwMode="auto">
          <a:xfrm>
            <a:off x="1618487" y="3698748"/>
            <a:ext cx="54864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9203</a:t>
            </a:r>
            <a:endParaRPr lang="en-US" sz="1200"/>
          </a:p>
        </p:txBody>
      </p:sp>
      <p:sp>
        <p:nvSpPr>
          <p:cNvPr id="1068209612" name="Shape 30"/>
          <p:cNvSpPr/>
          <p:nvPr/>
        </p:nvSpPr>
        <p:spPr bwMode="auto">
          <a:xfrm>
            <a:off x="2194559" y="3698748"/>
            <a:ext cx="228600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60580758" name="Text 31"/>
          <p:cNvSpPr/>
          <p:nvPr/>
        </p:nvSpPr>
        <p:spPr bwMode="auto">
          <a:xfrm>
            <a:off x="2258567" y="3698748"/>
            <a:ext cx="21945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Clinical Aggregator (REST) +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Diagnostic Aggregator (REST)</a:t>
            </a:r>
            <a:endParaRPr/>
          </a:p>
          <a:p>
            <a:pPr marL="0" indent="0">
              <a:buNone/>
              <a:defRPr/>
            </a:pPr>
            <a:r>
              <a:rPr lang="it-IT" sz="1050" i="1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Here we consume Prosumers!</a:t>
            </a:r>
            <a:endParaRPr sz="1050" i="1">
              <a:solidFill>
                <a:srgbClr val="595959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95094221" name="Shape 32"/>
          <p:cNvSpPr/>
          <p:nvPr/>
        </p:nvSpPr>
        <p:spPr bwMode="auto">
          <a:xfrm>
            <a:off x="4480559" y="3698748"/>
            <a:ext cx="44805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14199446" name="Text 33"/>
          <p:cNvSpPr/>
          <p:nvPr/>
        </p:nvSpPr>
        <p:spPr bwMode="auto">
          <a:xfrm>
            <a:off x="4544568" y="3698748"/>
            <a:ext cx="43891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UC-1: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omplete fitness assessment for a patient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, done with p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arallel orchestration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- </a:t>
            </a:r>
            <a:r>
              <a:rPr>
                <a:solidFill>
                  <a:srgbClr val="595959"/>
                </a:solidFill>
              </a:rPr>
              <a:t> 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results 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cross-reference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 into 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 FitnessReport</a:t>
            </a:r>
            <a:r>
              <a:rPr lang="it-IT" sz="1050"/>
              <a:t>.</a:t>
            </a:r>
            <a:endParaRPr lang="en-US" sz="1050"/>
          </a:p>
        </p:txBody>
      </p:sp>
      <p:sp>
        <p:nvSpPr>
          <p:cNvPr id="2048467288" name="Text 34"/>
          <p:cNvSpPr/>
          <p:nvPr/>
        </p:nvSpPr>
        <p:spPr bwMode="auto">
          <a:xfrm>
            <a:off x="274319" y="4814316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1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3991200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Key Data Structures</a:t>
            </a:r>
            <a:endParaRPr lang="en-US" sz="3400"/>
          </a:p>
        </p:txBody>
      </p:sp>
      <p:sp>
        <p:nvSpPr>
          <p:cNvPr id="1262840049" name="Shape 1"/>
          <p:cNvSpPr/>
          <p:nvPr/>
        </p:nvSpPr>
        <p:spPr bwMode="auto">
          <a:xfrm>
            <a:off x="457200" y="107899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60339612" name="Shape 2"/>
          <p:cNvSpPr/>
          <p:nvPr/>
        </p:nvSpPr>
        <p:spPr bwMode="auto">
          <a:xfrm>
            <a:off x="457200" y="1188720"/>
            <a:ext cx="39319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08930245" name="Text 3"/>
          <p:cNvSpPr/>
          <p:nvPr/>
        </p:nvSpPr>
        <p:spPr bwMode="auto">
          <a:xfrm>
            <a:off x="640080" y="126187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Domain Objects (Providers)</a:t>
            </a:r>
            <a:endParaRPr lang="en-US" sz="1300"/>
          </a:p>
        </p:txBody>
      </p:sp>
      <p:sp>
        <p:nvSpPr>
          <p:cNvPr id="1655852413" name="Text 4"/>
          <p:cNvSpPr/>
          <p:nvPr/>
        </p:nvSpPr>
        <p:spPr bwMode="auto">
          <a:xfrm>
            <a:off x="640079" y="1792223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Patient</a:t>
            </a:r>
            <a:endParaRPr lang="en-US" sz="1100"/>
          </a:p>
        </p:txBody>
      </p:sp>
      <p:sp>
        <p:nvSpPr>
          <p:cNvPr id="1434065232" name="Text 5"/>
          <p:cNvSpPr/>
          <p:nvPr/>
        </p:nvSpPr>
        <p:spPr bwMode="auto">
          <a:xfrm>
            <a:off x="1874519" y="1746503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id · fiscal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ode 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first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name 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last name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ate of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b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irth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· gender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phone number</a:t>
            </a:r>
            <a:endParaRPr lang="en-US" sz="900"/>
          </a:p>
        </p:txBody>
      </p:sp>
      <p:sp>
        <p:nvSpPr>
          <p:cNvPr id="1268672606" name="Text 6"/>
          <p:cNvSpPr/>
          <p:nvPr/>
        </p:nvSpPr>
        <p:spPr bwMode="auto">
          <a:xfrm>
            <a:off x="640079" y="2249423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Condition</a:t>
            </a:r>
            <a:endParaRPr lang="en-US" sz="1100"/>
          </a:p>
        </p:txBody>
      </p:sp>
      <p:sp>
        <p:nvSpPr>
          <p:cNvPr id="1733863690" name="Text 7"/>
          <p:cNvSpPr/>
          <p:nvPr/>
        </p:nvSpPr>
        <p:spPr bwMode="auto">
          <a:xfrm>
            <a:off x="1874519" y="2203703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icd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10 c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ode · description · diagnosis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d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ate · status (ACTIVE/RESOLVED)</a:t>
            </a:r>
            <a:endParaRPr lang="en-US" sz="900"/>
          </a:p>
        </p:txBody>
      </p:sp>
      <p:sp>
        <p:nvSpPr>
          <p:cNvPr id="701706919" name="Text 8"/>
          <p:cNvSpPr/>
          <p:nvPr/>
        </p:nvSpPr>
        <p:spPr bwMode="auto">
          <a:xfrm>
            <a:off x="640079" y="2706624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Allergy</a:t>
            </a:r>
            <a:endParaRPr lang="en-US" sz="1100"/>
          </a:p>
        </p:txBody>
      </p:sp>
      <p:sp>
        <p:nvSpPr>
          <p:cNvPr id="1171873151" name="Text 9"/>
          <p:cNvSpPr/>
          <p:nvPr/>
        </p:nvSpPr>
        <p:spPr bwMode="auto">
          <a:xfrm>
            <a:off x="1874519" y="2660904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substance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severity (MILD/SEVERE/ANAPHYLACTIC) · detected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d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ate</a:t>
            </a:r>
            <a:endParaRPr lang="en-US" sz="900"/>
          </a:p>
        </p:txBody>
      </p:sp>
      <p:sp>
        <p:nvSpPr>
          <p:cNvPr id="1737807860" name="Text 10"/>
          <p:cNvSpPr/>
          <p:nvPr/>
        </p:nvSpPr>
        <p:spPr bwMode="auto">
          <a:xfrm>
            <a:off x="640079" y="316382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Prescription</a:t>
            </a:r>
            <a:endParaRPr lang="en-US" sz="1100"/>
          </a:p>
        </p:txBody>
      </p:sp>
      <p:sp>
        <p:nvSpPr>
          <p:cNvPr id="1025717049" name="Text 11"/>
          <p:cNvSpPr/>
          <p:nvPr/>
        </p:nvSpPr>
        <p:spPr bwMode="auto">
          <a:xfrm>
            <a:off x="1874519" y="3127248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drug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n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ame · atc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ode · dosage · frequency · start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date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end date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prescribing doctor.</a:t>
            </a:r>
            <a:endParaRPr lang="en-US" sz="900"/>
          </a:p>
        </p:txBody>
      </p:sp>
      <p:sp>
        <p:nvSpPr>
          <p:cNvPr id="1015425191" name="Text 12"/>
          <p:cNvSpPr/>
          <p:nvPr/>
        </p:nvSpPr>
        <p:spPr bwMode="auto">
          <a:xfrm>
            <a:off x="640079" y="3621023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Test</a:t>
            </a:r>
            <a:r>
              <a:rPr lang="it-IT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Order</a:t>
            </a:r>
            <a:endParaRPr lang="en-US" sz="1100"/>
          </a:p>
        </p:txBody>
      </p:sp>
      <p:sp>
        <p:nvSpPr>
          <p:cNvPr id="2096287312" name="Text 13"/>
          <p:cNvSpPr/>
          <p:nvPr/>
        </p:nvSpPr>
        <p:spPr bwMode="auto">
          <a:xfrm>
            <a:off x="1874519" y="3575303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i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 ·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patient id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exam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ode · status (PENDING/PROCESSING/COMPLETED/ERROR)</a:t>
            </a:r>
            <a:r>
              <a:rPr lang="it-IT" sz="900"/>
              <a:t>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date of creation · date of update</a:t>
            </a:r>
            <a:endParaRPr lang="en-US" sz="900" b="0" i="0" u="none" strike="noStrike" cap="none" spc="0">
              <a:solidFill>
                <a:srgbClr val="595959"/>
              </a:solidFill>
              <a:latin typeface="Calibri"/>
              <a:cs typeface="Calibri"/>
            </a:endParaRPr>
          </a:p>
        </p:txBody>
      </p:sp>
      <p:sp>
        <p:nvSpPr>
          <p:cNvPr id="1607751013" name="Text 14"/>
          <p:cNvSpPr/>
          <p:nvPr/>
        </p:nvSpPr>
        <p:spPr bwMode="auto">
          <a:xfrm>
            <a:off x="640079" y="4078224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Measurement</a:t>
            </a:r>
            <a:endParaRPr lang="en-US" sz="1100"/>
          </a:p>
        </p:txBody>
      </p:sp>
      <p:sp>
        <p:nvSpPr>
          <p:cNvPr id="916114535" name="Text 15"/>
          <p:cNvSpPr/>
          <p:nvPr/>
        </p:nvSpPr>
        <p:spPr bwMode="auto">
          <a:xfrm>
            <a:off x="1874519" y="4032504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order id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parameter · value · unit · ref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erence r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ange · anomaly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f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lag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(TRUE/FALSE)</a:t>
            </a:r>
            <a:endParaRPr lang="en-US" sz="900"/>
          </a:p>
        </p:txBody>
      </p:sp>
      <p:sp>
        <p:nvSpPr>
          <p:cNvPr id="121289305" name="Text 16"/>
          <p:cNvSpPr/>
          <p:nvPr/>
        </p:nvSpPr>
        <p:spPr bwMode="auto">
          <a:xfrm>
            <a:off x="640079" y="4535424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Imaging</a:t>
            </a:r>
            <a:r>
              <a:rPr lang="it-IT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Report</a:t>
            </a:r>
            <a:endParaRPr lang="en-US" sz="1100"/>
          </a:p>
        </p:txBody>
      </p:sp>
      <p:sp>
        <p:nvSpPr>
          <p:cNvPr id="1610053179" name="Text 17"/>
          <p:cNvSpPr/>
          <p:nvPr/>
        </p:nvSpPr>
        <p:spPr bwMode="auto">
          <a:xfrm>
            <a:off x="1874519" y="4489704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patient id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exam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t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ype 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status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findings ·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conclusion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critical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f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lag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report date</a:t>
            </a:r>
            <a:endParaRPr lang="en-US" sz="900"/>
          </a:p>
        </p:txBody>
      </p:sp>
      <p:sp>
        <p:nvSpPr>
          <p:cNvPr id="1128353869" name="Shape 18"/>
          <p:cNvSpPr/>
          <p:nvPr/>
        </p:nvSpPr>
        <p:spPr bwMode="auto">
          <a:xfrm>
            <a:off x="4754880" y="1179575"/>
            <a:ext cx="39319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105649" name="Text 19"/>
          <p:cNvSpPr/>
          <p:nvPr/>
        </p:nvSpPr>
        <p:spPr bwMode="auto">
          <a:xfrm>
            <a:off x="4937760" y="126187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Composed Objects (Prosumers)</a:t>
            </a:r>
            <a:endParaRPr lang="en-US" sz="1300"/>
          </a:p>
        </p:txBody>
      </p:sp>
      <p:sp>
        <p:nvSpPr>
          <p:cNvPr id="1069730383" name="Text 20"/>
          <p:cNvSpPr/>
          <p:nvPr/>
        </p:nvSpPr>
        <p:spPr bwMode="auto">
          <a:xfrm>
            <a:off x="4937760" y="1892806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Diagnostic</a:t>
            </a:r>
            <a:r>
              <a:rPr lang="it-IT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Bundle</a:t>
            </a:r>
            <a:endParaRPr lang="en-US" sz="1100"/>
          </a:p>
        </p:txBody>
      </p:sp>
      <p:sp>
        <p:nvSpPr>
          <p:cNvPr id="640904433" name="Text 21"/>
          <p:cNvSpPr/>
          <p:nvPr/>
        </p:nvSpPr>
        <p:spPr bwMode="auto">
          <a:xfrm>
            <a:off x="6400800" y="1792222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TestResult (</a:t>
            </a:r>
            <a:r>
              <a:rPr lang="it-IT" sz="850" i="1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Test Order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)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List&lt;ImagingReport&gt;</a:t>
            </a:r>
            <a:endParaRPr lang="en-US" sz="850"/>
          </a:p>
        </p:txBody>
      </p:sp>
      <p:sp>
        <p:nvSpPr>
          <p:cNvPr id="1690215363" name="Text 22"/>
          <p:cNvSpPr/>
          <p:nvPr/>
        </p:nvSpPr>
        <p:spPr bwMode="auto">
          <a:xfrm>
            <a:off x="4937760" y="2551173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Clinical</a:t>
            </a:r>
            <a:r>
              <a:rPr lang="it-IT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Profile</a:t>
            </a:r>
            <a:endParaRPr lang="en-US" sz="1100"/>
          </a:p>
        </p:txBody>
      </p:sp>
      <p:sp>
        <p:nvSpPr>
          <p:cNvPr id="2040475850" name="Text 23"/>
          <p:cNvSpPr/>
          <p:nvPr/>
        </p:nvSpPr>
        <p:spPr bwMode="auto">
          <a:xfrm>
            <a:off x="6400800" y="2382010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Patient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List&lt;Condition&gt;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List&lt;Allergy&gt;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List&lt;Prescription&gt;</a:t>
            </a:r>
            <a:endParaRPr lang="en-US" sz="850"/>
          </a:p>
        </p:txBody>
      </p:sp>
      <p:sp>
        <p:nvSpPr>
          <p:cNvPr id="2063115433" name="Text 24"/>
          <p:cNvSpPr/>
          <p:nvPr/>
        </p:nvSpPr>
        <p:spPr bwMode="auto">
          <a:xfrm>
            <a:off x="4937760" y="3346704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Risk</a:t>
            </a:r>
            <a:r>
              <a:rPr lang="it-IT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Flag</a:t>
            </a:r>
            <a:endParaRPr lang="en-US" sz="1100"/>
          </a:p>
        </p:txBody>
      </p:sp>
      <p:sp>
        <p:nvSpPr>
          <p:cNvPr id="211508331" name="Text 25"/>
          <p:cNvSpPr/>
          <p:nvPr/>
        </p:nvSpPr>
        <p:spPr bwMode="auto">
          <a:xfrm>
            <a:off x="6400800" y="3145533"/>
            <a:ext cx="2148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type (DRUG_CONTRAINDICATION / CRITICAL_VALUE / ALLERGY / OTHER)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severity (INFO/WARNING/CRITICAL)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description</a:t>
            </a:r>
            <a:r>
              <a:rPr lang="it-IT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source</a:t>
            </a:r>
            <a:r>
              <a:rPr lang="it-IT"/>
              <a:t> </a:t>
            </a:r>
            <a:endParaRPr lang="en-US"/>
          </a:p>
        </p:txBody>
      </p:sp>
      <p:sp>
        <p:nvSpPr>
          <p:cNvPr id="281911381" name="Text 26"/>
          <p:cNvSpPr/>
          <p:nvPr/>
        </p:nvSpPr>
        <p:spPr bwMode="auto">
          <a:xfrm>
            <a:off x="4937760" y="4297680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Fitness</a:t>
            </a:r>
            <a:r>
              <a:rPr lang="it-IT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Report</a:t>
            </a:r>
            <a:endParaRPr lang="en-US" sz="1100"/>
          </a:p>
        </p:txBody>
      </p:sp>
      <p:sp>
        <p:nvSpPr>
          <p:cNvPr id="923128653" name="Text 27"/>
          <p:cNvSpPr/>
          <p:nvPr/>
        </p:nvSpPr>
        <p:spPr bwMode="auto">
          <a:xfrm>
            <a:off x="6400800" y="4078224"/>
            <a:ext cx="21488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outcome: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FIT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| WITH_RESERVATION |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UNFIT</a:t>
            </a:r>
            <a:endParaRPr lang="en-US" sz="850"/>
          </a:p>
          <a:p>
            <a:pPr marL="0" indent="0">
              <a:buNone/>
              <a:defRPr/>
            </a:pP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patientId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generatedAt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linicalProfile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d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iagnosticBundle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List&lt;RiskFlag&gt;</a:t>
            </a:r>
            <a:endParaRPr lang="en-US" sz="8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2">
    <p:bg>
      <p:bgPr shadeToTitle="0">
        <a:solidFill>
          <a:srgbClr val="1F4E79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1842956" name="Text 0"/>
          <p:cNvSpPr/>
          <p:nvPr/>
        </p:nvSpPr>
        <p:spPr bwMode="auto">
          <a:xfrm>
            <a:off x="731520" y="146304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Block 3 </a:t>
            </a:r>
            <a:r>
              <a:rPr lang="it-IT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Use Cases, Sequence Diagrams, Technological Stack</a:t>
            </a:r>
            <a:endParaRPr lang="en-US" sz="4200"/>
          </a:p>
        </p:txBody>
      </p:sp>
      <p:sp>
        <p:nvSpPr>
          <p:cNvPr id="1648448136" name="Text 1"/>
          <p:cNvSpPr/>
          <p:nvPr/>
        </p:nvSpPr>
        <p:spPr bwMode="auto">
          <a:xfrm>
            <a:off x="731520" y="25146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2000"/>
          </a:p>
        </p:txBody>
      </p:sp>
      <p:sp>
        <p:nvSpPr>
          <p:cNvPr id="1989449795" name="Text 2"/>
          <p:cNvSpPr/>
          <p:nvPr/>
        </p:nvSpPr>
        <p:spPr bwMode="auto">
          <a:xfrm>
            <a:off x="731520" y="3017519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400"/>
          </a:p>
        </p:txBody>
      </p:sp>
      <p:sp>
        <p:nvSpPr>
          <p:cNvPr id="1236482933" name="Text 1"/>
          <p:cNvSpPr/>
          <p:nvPr/>
        </p:nvSpPr>
        <p:spPr bwMode="auto">
          <a:xfrm>
            <a:off x="883919" y="2666999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2000">
                <a:solidFill>
                  <a:srgbClr val="A8C4E0"/>
                </a:solidFill>
                <a:latin typeface="Calibri"/>
                <a:ea typeface="Calibri"/>
                <a:cs typeface="Calibri"/>
              </a:rPr>
              <a:t>Federico Capricci</a:t>
            </a:r>
            <a:endParaRPr lang="en-US"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3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6412404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Use Cases Summary</a:t>
            </a:r>
            <a:endParaRPr lang="en-US" sz="3400"/>
          </a:p>
        </p:txBody>
      </p:sp>
      <p:sp>
        <p:nvSpPr>
          <p:cNvPr id="1791291841" name="Shape 1"/>
          <p:cNvSpPr/>
          <p:nvPr/>
        </p:nvSpPr>
        <p:spPr bwMode="auto">
          <a:xfrm>
            <a:off x="309489" y="694944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00323394" name="Shape 2"/>
          <p:cNvSpPr/>
          <p:nvPr/>
        </p:nvSpPr>
        <p:spPr bwMode="auto">
          <a:xfrm>
            <a:off x="309489" y="804672"/>
            <a:ext cx="640080" cy="384048"/>
          </a:xfrm>
          <a:prstGeom prst="rect">
            <a:avLst/>
          </a:prstGeom>
          <a:solidFill>
            <a:srgbClr val="1F4E79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70592422" name="Text 3"/>
          <p:cNvSpPr/>
          <p:nvPr/>
        </p:nvSpPr>
        <p:spPr bwMode="auto">
          <a:xfrm>
            <a:off x="364353" y="804672"/>
            <a:ext cx="5669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UC</a:t>
            </a:r>
            <a:endParaRPr lang="en-US" sz="1200"/>
          </a:p>
        </p:txBody>
      </p:sp>
      <p:sp>
        <p:nvSpPr>
          <p:cNvPr id="25675824" name="Shape 4"/>
          <p:cNvSpPr/>
          <p:nvPr/>
        </p:nvSpPr>
        <p:spPr bwMode="auto">
          <a:xfrm>
            <a:off x="949569" y="804672"/>
            <a:ext cx="1371600" cy="384048"/>
          </a:xfrm>
          <a:prstGeom prst="rect">
            <a:avLst/>
          </a:prstGeom>
          <a:solidFill>
            <a:srgbClr val="1F4E79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33713999" name="Text 5"/>
          <p:cNvSpPr/>
          <p:nvPr/>
        </p:nvSpPr>
        <p:spPr bwMode="auto">
          <a:xfrm>
            <a:off x="1004433" y="804672"/>
            <a:ext cx="12984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Name</a:t>
            </a:r>
            <a:endParaRPr lang="en-US" sz="1200"/>
          </a:p>
        </p:txBody>
      </p:sp>
      <p:sp>
        <p:nvSpPr>
          <p:cNvPr id="1549556474" name="Shape 6"/>
          <p:cNvSpPr/>
          <p:nvPr/>
        </p:nvSpPr>
        <p:spPr bwMode="auto">
          <a:xfrm>
            <a:off x="2321169" y="804672"/>
            <a:ext cx="4114800" cy="384048"/>
          </a:xfrm>
          <a:prstGeom prst="rect">
            <a:avLst/>
          </a:prstGeom>
          <a:solidFill>
            <a:srgbClr val="1F4E79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7408873" name="Text 7"/>
          <p:cNvSpPr/>
          <p:nvPr/>
        </p:nvSpPr>
        <p:spPr bwMode="auto">
          <a:xfrm>
            <a:off x="2376033" y="804672"/>
            <a:ext cx="40416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Components</a:t>
            </a:r>
            <a:endParaRPr lang="en-US" sz="1200"/>
          </a:p>
        </p:txBody>
      </p:sp>
      <p:sp>
        <p:nvSpPr>
          <p:cNvPr id="364282683" name="Shape 8"/>
          <p:cNvSpPr/>
          <p:nvPr/>
        </p:nvSpPr>
        <p:spPr bwMode="auto">
          <a:xfrm>
            <a:off x="6481689" y="804672"/>
            <a:ext cx="2514600" cy="384048"/>
          </a:xfrm>
          <a:prstGeom prst="rect">
            <a:avLst/>
          </a:prstGeom>
          <a:solidFill>
            <a:srgbClr val="1F4E79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88412708" name="Text 9"/>
          <p:cNvSpPr/>
          <p:nvPr/>
        </p:nvSpPr>
        <p:spPr bwMode="auto">
          <a:xfrm>
            <a:off x="6536553" y="804672"/>
            <a:ext cx="24414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Interaction</a:t>
            </a:r>
            <a:endParaRPr lang="en-US" sz="1200"/>
          </a:p>
        </p:txBody>
      </p:sp>
      <p:sp>
        <p:nvSpPr>
          <p:cNvPr id="1084308281" name="Shape 10"/>
          <p:cNvSpPr/>
          <p:nvPr/>
        </p:nvSpPr>
        <p:spPr bwMode="auto">
          <a:xfrm>
            <a:off x="309489" y="1188720"/>
            <a:ext cx="64008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36095295" name="Text 11"/>
          <p:cNvSpPr/>
          <p:nvPr/>
        </p:nvSpPr>
        <p:spPr bwMode="auto">
          <a:xfrm>
            <a:off x="364353" y="1188720"/>
            <a:ext cx="56692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UC-1</a:t>
            </a:r>
            <a:endParaRPr lang="en-US" sz="1300"/>
          </a:p>
        </p:txBody>
      </p:sp>
      <p:sp>
        <p:nvSpPr>
          <p:cNvPr id="13270722" name="Shape 12"/>
          <p:cNvSpPr/>
          <p:nvPr/>
        </p:nvSpPr>
        <p:spPr bwMode="auto">
          <a:xfrm>
            <a:off x="949569" y="1188720"/>
            <a:ext cx="13716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54217867" name="Text 13"/>
          <p:cNvSpPr/>
          <p:nvPr/>
        </p:nvSpPr>
        <p:spPr bwMode="auto">
          <a:xfrm>
            <a:off x="1004433" y="1188720"/>
            <a:ext cx="1298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Full Fitness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Assessment</a:t>
            </a:r>
            <a:endParaRPr lang="en-US" sz="1050"/>
          </a:p>
        </p:txBody>
      </p:sp>
      <p:sp>
        <p:nvSpPr>
          <p:cNvPr id="1429172386" name="Shape 14"/>
          <p:cNvSpPr/>
          <p:nvPr/>
        </p:nvSpPr>
        <p:spPr bwMode="auto">
          <a:xfrm>
            <a:off x="2321169" y="1188720"/>
            <a:ext cx="41148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5100566" name="Text 15"/>
          <p:cNvSpPr/>
          <p:nvPr/>
        </p:nvSpPr>
        <p:spPr bwMode="auto">
          <a:xfrm>
            <a:off x="2376033" y="1188720"/>
            <a:ext cx="4041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Client → Gateway → Care Coordinator →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Clinical Agg + Diagnostic Agg → providers</a:t>
            </a:r>
            <a:endParaRPr lang="en-US" sz="1050"/>
          </a:p>
        </p:txBody>
      </p:sp>
      <p:sp>
        <p:nvSpPr>
          <p:cNvPr id="414449621" name="Shape 16"/>
          <p:cNvSpPr/>
          <p:nvPr/>
        </p:nvSpPr>
        <p:spPr bwMode="auto">
          <a:xfrm>
            <a:off x="6481689" y="1188720"/>
            <a:ext cx="25146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21031970" name="Text 17"/>
          <p:cNvSpPr/>
          <p:nvPr/>
        </p:nvSpPr>
        <p:spPr bwMode="auto">
          <a:xfrm>
            <a:off x="6536553" y="1188720"/>
            <a:ext cx="2441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Parallel branches +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sync barrier (allOf)</a:t>
            </a:r>
            <a:endParaRPr lang="en-US" sz="1100"/>
          </a:p>
        </p:txBody>
      </p:sp>
      <p:sp>
        <p:nvSpPr>
          <p:cNvPr id="576072509" name="Shape 18"/>
          <p:cNvSpPr/>
          <p:nvPr/>
        </p:nvSpPr>
        <p:spPr bwMode="auto">
          <a:xfrm>
            <a:off x="309489" y="2167128"/>
            <a:ext cx="640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6976169" name="Text 19"/>
          <p:cNvSpPr/>
          <p:nvPr/>
        </p:nvSpPr>
        <p:spPr bwMode="auto">
          <a:xfrm>
            <a:off x="364353" y="2167128"/>
            <a:ext cx="56692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UC-2</a:t>
            </a:r>
            <a:endParaRPr lang="en-US" sz="1300"/>
          </a:p>
        </p:txBody>
      </p:sp>
      <p:sp>
        <p:nvSpPr>
          <p:cNvPr id="1863076824" name="Shape 20"/>
          <p:cNvSpPr/>
          <p:nvPr/>
        </p:nvSpPr>
        <p:spPr bwMode="auto">
          <a:xfrm>
            <a:off x="949569" y="2167128"/>
            <a:ext cx="1371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07424926" name="Text 21"/>
          <p:cNvSpPr/>
          <p:nvPr/>
        </p:nvSpPr>
        <p:spPr bwMode="auto">
          <a:xfrm>
            <a:off x="1004433" y="2167128"/>
            <a:ext cx="1298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Clinical History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Consultation</a:t>
            </a:r>
            <a:endParaRPr lang="en-US" sz="1050"/>
          </a:p>
        </p:txBody>
      </p:sp>
      <p:sp>
        <p:nvSpPr>
          <p:cNvPr id="1615850724" name="Shape 22"/>
          <p:cNvSpPr/>
          <p:nvPr/>
        </p:nvSpPr>
        <p:spPr bwMode="auto">
          <a:xfrm>
            <a:off x="2321169" y="2167128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20051762" name="Text 23"/>
          <p:cNvSpPr/>
          <p:nvPr/>
        </p:nvSpPr>
        <p:spPr bwMode="auto">
          <a:xfrm>
            <a:off x="2376033" y="2167128"/>
            <a:ext cx="4041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Client → Gateway → Clinical Aggregator →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Anagrafe (SOAP) + Farmacia (REST)</a:t>
            </a:r>
            <a:endParaRPr lang="en-US" sz="1050"/>
          </a:p>
        </p:txBody>
      </p:sp>
      <p:sp>
        <p:nvSpPr>
          <p:cNvPr id="1086147319" name="Shape 24"/>
          <p:cNvSpPr/>
          <p:nvPr/>
        </p:nvSpPr>
        <p:spPr bwMode="auto">
          <a:xfrm>
            <a:off x="6481689" y="2167128"/>
            <a:ext cx="2514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17635538" name="Text 25"/>
          <p:cNvSpPr/>
          <p:nvPr/>
        </p:nvSpPr>
        <p:spPr bwMode="auto">
          <a:xfrm>
            <a:off x="6536553" y="2167128"/>
            <a:ext cx="2441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Synchronous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composition</a:t>
            </a:r>
            <a:endParaRPr lang="en-US" sz="1100"/>
          </a:p>
        </p:txBody>
      </p:sp>
      <p:sp>
        <p:nvSpPr>
          <p:cNvPr id="2035834831" name="Shape 26"/>
          <p:cNvSpPr/>
          <p:nvPr/>
        </p:nvSpPr>
        <p:spPr bwMode="auto">
          <a:xfrm>
            <a:off x="309489" y="3145536"/>
            <a:ext cx="64008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0072020" name="Text 27"/>
          <p:cNvSpPr/>
          <p:nvPr/>
        </p:nvSpPr>
        <p:spPr bwMode="auto">
          <a:xfrm>
            <a:off x="364353" y="3145536"/>
            <a:ext cx="56692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UC-3</a:t>
            </a:r>
            <a:endParaRPr lang="en-US" sz="1300"/>
          </a:p>
        </p:txBody>
      </p:sp>
      <p:sp>
        <p:nvSpPr>
          <p:cNvPr id="1993924737" name="Shape 28"/>
          <p:cNvSpPr/>
          <p:nvPr/>
        </p:nvSpPr>
        <p:spPr bwMode="auto">
          <a:xfrm>
            <a:off x="949569" y="3145536"/>
            <a:ext cx="13716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0346798" name="Text 29"/>
          <p:cNvSpPr/>
          <p:nvPr/>
        </p:nvSpPr>
        <p:spPr bwMode="auto">
          <a:xfrm>
            <a:off x="1004433" y="3145536"/>
            <a:ext cx="1298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Diagnostic Test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Order &amp; Poll</a:t>
            </a:r>
            <a:endParaRPr lang="en-US" sz="1050"/>
          </a:p>
        </p:txBody>
      </p:sp>
      <p:sp>
        <p:nvSpPr>
          <p:cNvPr id="274416394" name="Shape 30"/>
          <p:cNvSpPr/>
          <p:nvPr/>
        </p:nvSpPr>
        <p:spPr bwMode="auto">
          <a:xfrm>
            <a:off x="2321169" y="3145536"/>
            <a:ext cx="41148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7462540" name="Text 31"/>
          <p:cNvSpPr/>
          <p:nvPr/>
        </p:nvSpPr>
        <p:spPr bwMode="auto">
          <a:xfrm>
            <a:off x="2376033" y="3145536"/>
            <a:ext cx="4041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Client → Gateway → Diagnostic Aggregator →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Laboratorio (async) + Imaging (async)</a:t>
            </a:r>
            <a:endParaRPr lang="en-US" sz="1050"/>
          </a:p>
        </p:txBody>
      </p:sp>
      <p:sp>
        <p:nvSpPr>
          <p:cNvPr id="715009581" name="Shape 32"/>
          <p:cNvSpPr/>
          <p:nvPr/>
        </p:nvSpPr>
        <p:spPr bwMode="auto">
          <a:xfrm>
            <a:off x="6481689" y="3145536"/>
            <a:ext cx="25146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79380411" name="Text 33"/>
          <p:cNvSpPr/>
          <p:nvPr/>
        </p:nvSpPr>
        <p:spPr bwMode="auto">
          <a:xfrm>
            <a:off x="6536553" y="3145536"/>
            <a:ext cx="2441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Async request-reply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with polling/callback</a:t>
            </a:r>
            <a:endParaRPr lang="en-US" sz="1100"/>
          </a:p>
        </p:txBody>
      </p:sp>
      <p:sp>
        <p:nvSpPr>
          <p:cNvPr id="1876261012" name="Shape 34"/>
          <p:cNvSpPr/>
          <p:nvPr/>
        </p:nvSpPr>
        <p:spPr bwMode="auto">
          <a:xfrm>
            <a:off x="309489" y="4123944"/>
            <a:ext cx="640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79742266" name="Text 35"/>
          <p:cNvSpPr/>
          <p:nvPr/>
        </p:nvSpPr>
        <p:spPr bwMode="auto">
          <a:xfrm>
            <a:off x="364353" y="4123944"/>
            <a:ext cx="56692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UC-4</a:t>
            </a:r>
            <a:endParaRPr lang="en-US" sz="1300"/>
          </a:p>
        </p:txBody>
      </p:sp>
      <p:sp>
        <p:nvSpPr>
          <p:cNvPr id="1902578005" name="Shape 36"/>
          <p:cNvSpPr/>
          <p:nvPr/>
        </p:nvSpPr>
        <p:spPr bwMode="auto">
          <a:xfrm>
            <a:off x="949569" y="4123944"/>
            <a:ext cx="1371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88932969" name="Text 37"/>
          <p:cNvSpPr/>
          <p:nvPr/>
        </p:nvSpPr>
        <p:spPr bwMode="auto">
          <a:xfrm>
            <a:off x="1004433" y="4123944"/>
            <a:ext cx="1298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New Prescription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(direct)</a:t>
            </a:r>
            <a:endParaRPr lang="en-US" sz="1050"/>
          </a:p>
        </p:txBody>
      </p:sp>
      <p:sp>
        <p:nvSpPr>
          <p:cNvPr id="2108881117" name="Shape 38"/>
          <p:cNvSpPr/>
          <p:nvPr/>
        </p:nvSpPr>
        <p:spPr bwMode="auto">
          <a:xfrm>
            <a:off x="2321169" y="4123944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92649360" name="Text 39"/>
          <p:cNvSpPr/>
          <p:nvPr/>
        </p:nvSpPr>
        <p:spPr bwMode="auto">
          <a:xfrm>
            <a:off x="2376033" y="4123944"/>
            <a:ext cx="4041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Client → Gateway → Farmacia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(no prosumer involved)</a:t>
            </a:r>
            <a:endParaRPr lang="en-US" sz="1050"/>
          </a:p>
        </p:txBody>
      </p:sp>
      <p:sp>
        <p:nvSpPr>
          <p:cNvPr id="2066642325" name="Shape 40"/>
          <p:cNvSpPr/>
          <p:nvPr/>
        </p:nvSpPr>
        <p:spPr bwMode="auto">
          <a:xfrm>
            <a:off x="6481689" y="4123944"/>
            <a:ext cx="2514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59777740" name="Text 41"/>
          <p:cNvSpPr/>
          <p:nvPr/>
        </p:nvSpPr>
        <p:spPr bwMode="auto">
          <a:xfrm>
            <a:off x="6536553" y="4123944"/>
            <a:ext cx="2441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Direct client→provider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REST CRUD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2424359" name="Title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</a:rPr>
              <a:t>UC-1  Full Fitness Assessment</a:t>
            </a:r>
            <a:endParaRPr/>
          </a:p>
        </p:txBody>
      </p:sp>
      <p:sp>
        <p:nvSpPr>
          <p:cNvPr id="472570585" name="ScenCard"/>
          <p:cNvSpPr/>
          <p:nvPr/>
        </p:nvSpPr>
        <p:spPr bwMode="auto">
          <a:xfrm>
            <a:off x="457200" y="1508759"/>
            <a:ext cx="356616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500" b="1">
                <a:solidFill>
                  <a:srgbClr val="1F4E79"/>
                </a:solidFill>
                <a:latin typeface="Calibri"/>
              </a:rPr>
              <a:t>The Physician Requests</a:t>
            </a:r>
            <a:endParaRPr/>
          </a:p>
          <a:p>
            <a:pPr marL="0" indent="0" algn="l">
              <a:buNone/>
              <a:defRPr/>
            </a:pPr>
            <a:r>
              <a:rPr lang="en-US" sz="1250">
                <a:solidFill>
                  <a:srgbClr val="595959"/>
                </a:solidFill>
                <a:latin typeface="Calibri"/>
              </a:rPr>
              <a:t>A complete fitness assessment for a surgical or medical procedure.</a:t>
            </a:r>
            <a:endParaRPr/>
          </a:p>
          <a:p>
            <a:pPr marL="0" indent="0" algn="l">
              <a:buNone/>
              <a:defRPr/>
            </a:pPr>
            <a:r>
              <a:rPr lang="en-US" sz="1250">
                <a:solidFill>
                  <a:srgbClr val="595959"/>
                </a:solidFill>
                <a:latin typeface="Calibri"/>
              </a:rPr>
              <a:t>The system collects data from multiple services in parallel and aggregates them into a single clinical response.</a:t>
            </a:r>
            <a:endParaRPr/>
          </a:p>
          <a:p>
            <a:pPr marL="0" indent="0" algn="l">
              <a:buNone/>
              <a:defRPr/>
            </a:pPr>
            <a:r>
              <a:rPr lang="en-US" sz="1300" b="1">
                <a:solidFill>
                  <a:srgbClr val="0F6E56"/>
                </a:solidFill>
                <a:latin typeface="Calibri"/>
              </a:rPr>
              <a:t>Assessment outcome:</a:t>
            </a:r>
            <a:endParaRPr/>
          </a:p>
        </p:txBody>
      </p:sp>
      <p:sp>
        <p:nvSpPr>
          <p:cNvPr id="63547453" name="Bar201"/>
          <p:cNvSpPr/>
          <p:nvPr/>
        </p:nvSpPr>
        <p:spPr bwMode="auto">
          <a:xfrm>
            <a:off x="457200" y="1508759"/>
            <a:ext cx="64008" cy="310896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47975130" name="Badge210"/>
          <p:cNvSpPr/>
          <p:nvPr/>
        </p:nvSpPr>
        <p:spPr bwMode="auto">
          <a:xfrm>
            <a:off x="640080" y="3383279"/>
            <a:ext cx="583387" cy="3840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</a:rPr>
              <a:t>FIT</a:t>
            </a:r>
            <a:endParaRPr/>
          </a:p>
        </p:txBody>
      </p:sp>
      <p:sp>
        <p:nvSpPr>
          <p:cNvPr id="515888417" name="Badge211"/>
          <p:cNvSpPr/>
          <p:nvPr/>
        </p:nvSpPr>
        <p:spPr bwMode="auto">
          <a:xfrm>
            <a:off x="1600200" y="3394525"/>
            <a:ext cx="1133856" cy="384048"/>
          </a:xfrm>
          <a:prstGeom prst="rect">
            <a:avLst/>
          </a:prstGeom>
          <a:solidFill>
            <a:srgbClr val="7B5EA7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Calibri"/>
              </a:rPr>
              <a:t>FIT WITH RESERVATION</a:t>
            </a:r>
            <a:endParaRPr/>
          </a:p>
        </p:txBody>
      </p:sp>
      <p:sp>
        <p:nvSpPr>
          <p:cNvPr id="1744733485" name="Badge212"/>
          <p:cNvSpPr/>
          <p:nvPr/>
        </p:nvSpPr>
        <p:spPr bwMode="auto">
          <a:xfrm>
            <a:off x="3148279" y="3383279"/>
            <a:ext cx="652882" cy="38404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</a:rPr>
              <a:t>UNFIT</a:t>
            </a:r>
            <a:endParaRPr/>
          </a:p>
        </p:txBody>
      </p:sp>
      <p:sp>
        <p:nvSpPr>
          <p:cNvPr id="584578004" name="RepLbl"/>
          <p:cNvSpPr/>
          <p:nvPr/>
        </p:nvSpPr>
        <p:spPr bwMode="auto">
          <a:xfrm>
            <a:off x="4572000" y="834205"/>
            <a:ext cx="4343400" cy="384048"/>
          </a:xfrm>
          <a:prstGeom prst="rect">
            <a:avLst/>
          </a:prstGeom>
          <a:solidFill>
            <a:srgbClr val="D6E4F0"/>
          </a:solidFill>
          <a:ln w="12700">
            <a:solidFill>
              <a:srgbClr val="1F4E79"/>
            </a:solidFill>
          </a:ln>
        </p:spPr>
        <p:txBody>
          <a:bodyPr wrap="square" lIns="13000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50" b="1">
                <a:solidFill>
                  <a:srgbClr val="1F4E79"/>
                </a:solidFill>
                <a:latin typeface="Calibri"/>
              </a:rPr>
              <a:t>FitnessReport · Response Contents</a:t>
            </a:r>
            <a:endParaRPr/>
          </a:p>
        </p:txBody>
      </p:sp>
      <p:sp>
        <p:nvSpPr>
          <p:cNvPr id="1440222285" name="Bar300"/>
          <p:cNvSpPr/>
          <p:nvPr/>
        </p:nvSpPr>
        <p:spPr bwMode="auto">
          <a:xfrm>
            <a:off x="4572000" y="1291405"/>
            <a:ext cx="64008" cy="402336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75473360" name="Item0"/>
          <p:cNvSpPr/>
          <p:nvPr/>
        </p:nvSpPr>
        <p:spPr bwMode="auto">
          <a:xfrm>
            <a:off x="4572000" y="1291405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Overall outcome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FIT / FIT WITH RESERVATION / UNFIT</a:t>
            </a:r>
            <a:endParaRPr/>
          </a:p>
        </p:txBody>
      </p:sp>
      <p:sp>
        <p:nvSpPr>
          <p:cNvPr id="370099329" name="Bar310"/>
          <p:cNvSpPr/>
          <p:nvPr/>
        </p:nvSpPr>
        <p:spPr bwMode="auto">
          <a:xfrm>
            <a:off x="4572000" y="1748605"/>
            <a:ext cx="64008" cy="402336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85603420" name="Item1"/>
          <p:cNvSpPr/>
          <p:nvPr/>
        </p:nvSpPr>
        <p:spPr bwMode="auto">
          <a:xfrm>
            <a:off x="4572000" y="1748605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Patient summary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Identifying data of the patient</a:t>
            </a:r>
            <a:endParaRPr/>
          </a:p>
        </p:txBody>
      </p:sp>
      <p:sp>
        <p:nvSpPr>
          <p:cNvPr id="1612274784" name="Bar320"/>
          <p:cNvSpPr/>
          <p:nvPr/>
        </p:nvSpPr>
        <p:spPr bwMode="auto">
          <a:xfrm>
            <a:off x="4572000" y="2205805"/>
            <a:ext cx="64008" cy="402336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21099455" name="Item2"/>
          <p:cNvSpPr/>
          <p:nvPr/>
        </p:nvSpPr>
        <p:spPr bwMode="auto">
          <a:xfrm>
            <a:off x="4572000" y="2205805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Known conditions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Active and past diagnoses (ICD codes)</a:t>
            </a:r>
            <a:endParaRPr/>
          </a:p>
        </p:txBody>
      </p:sp>
      <p:sp>
        <p:nvSpPr>
          <p:cNvPr id="1276482801" name="Bar330"/>
          <p:cNvSpPr/>
          <p:nvPr/>
        </p:nvSpPr>
        <p:spPr bwMode="auto">
          <a:xfrm>
            <a:off x="4572000" y="2663005"/>
            <a:ext cx="64008" cy="402336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91700422" name="Item3"/>
          <p:cNvSpPr/>
          <p:nvPr/>
        </p:nvSpPr>
        <p:spPr bwMode="auto">
          <a:xfrm>
            <a:off x="4572000" y="2663005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Registered allergies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Allergen, severity, date detected</a:t>
            </a:r>
            <a:endParaRPr/>
          </a:p>
        </p:txBody>
      </p:sp>
      <p:sp>
        <p:nvSpPr>
          <p:cNvPr id="1541146510" name="Bar340"/>
          <p:cNvSpPr/>
          <p:nvPr/>
        </p:nvSpPr>
        <p:spPr bwMode="auto">
          <a:xfrm>
            <a:off x="4572000" y="3120205"/>
            <a:ext cx="64008" cy="402336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44056769" name="Item4"/>
          <p:cNvSpPr/>
          <p:nvPr/>
        </p:nvSpPr>
        <p:spPr bwMode="auto">
          <a:xfrm>
            <a:off x="4572000" y="3120205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Active prescriptions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Drug, dosage, frequency</a:t>
            </a:r>
            <a:endParaRPr/>
          </a:p>
        </p:txBody>
      </p:sp>
      <p:sp>
        <p:nvSpPr>
          <p:cNvPr id="1127672868" name="Bar350"/>
          <p:cNvSpPr/>
          <p:nvPr/>
        </p:nvSpPr>
        <p:spPr bwMode="auto">
          <a:xfrm>
            <a:off x="4572000" y="3577404"/>
            <a:ext cx="64008" cy="402336"/>
          </a:xfrm>
          <a:prstGeom prst="rect">
            <a:avLst/>
          </a:prstGeom>
          <a:solidFill>
            <a:srgbClr val="534AB7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3455572" name="Item5"/>
          <p:cNvSpPr/>
          <p:nvPr/>
        </p:nvSpPr>
        <p:spPr bwMode="auto">
          <a:xfrm>
            <a:off x="4572000" y="3577404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Laboratory results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Measurements with anomalyFlag</a:t>
            </a:r>
            <a:endParaRPr/>
          </a:p>
        </p:txBody>
      </p:sp>
      <p:sp>
        <p:nvSpPr>
          <p:cNvPr id="7156613" name="Bar360"/>
          <p:cNvSpPr/>
          <p:nvPr/>
        </p:nvSpPr>
        <p:spPr bwMode="auto">
          <a:xfrm>
            <a:off x="4572000" y="4034605"/>
            <a:ext cx="64008" cy="402336"/>
          </a:xfrm>
          <a:prstGeom prst="rect">
            <a:avLst/>
          </a:prstGeom>
          <a:solidFill>
            <a:srgbClr val="534AB7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55083647" name="Item6"/>
          <p:cNvSpPr/>
          <p:nvPr/>
        </p:nvSpPr>
        <p:spPr bwMode="auto">
          <a:xfrm>
            <a:off x="4572000" y="4034605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Diagnostic reports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Imaging: findings, criticalFlag</a:t>
            </a:r>
            <a:endParaRPr/>
          </a:p>
        </p:txBody>
      </p:sp>
      <p:sp>
        <p:nvSpPr>
          <p:cNvPr id="1240883445" name="Bar370"/>
          <p:cNvSpPr/>
          <p:nvPr/>
        </p:nvSpPr>
        <p:spPr bwMode="auto">
          <a:xfrm>
            <a:off x="4572000" y="4491805"/>
            <a:ext cx="64008" cy="402336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16959706" name="Item7"/>
          <p:cNvSpPr/>
          <p:nvPr/>
        </p:nvSpPr>
        <p:spPr bwMode="auto">
          <a:xfrm>
            <a:off x="4572000" y="4491805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Risk factors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Drug contraindication · Critical value · Allergy</a:t>
            </a:r>
            <a:endParaRPr/>
          </a:p>
        </p:txBody>
      </p:sp>
      <p:sp>
        <p:nvSpPr>
          <p:cNvPr id="672705446" name="Shape 1"/>
          <p:cNvSpPr/>
          <p:nvPr/>
        </p:nvSpPr>
        <p:spPr bwMode="auto">
          <a:xfrm>
            <a:off x="489203" y="768096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1707531" name="Title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</a:rPr>
              <a:t>UC-2  Clinical History Consultation</a:t>
            </a:r>
            <a:endParaRPr/>
          </a:p>
        </p:txBody>
      </p:sp>
      <p:sp>
        <p:nvSpPr>
          <p:cNvPr id="335929380" name="Intro"/>
          <p:cNvSpPr/>
          <p:nvPr/>
        </p:nvSpPr>
        <p:spPr bwMode="auto">
          <a:xfrm>
            <a:off x="457200" y="959996"/>
            <a:ext cx="27432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F4E79"/>
                </a:solidFill>
                <a:latin typeface="Calibri"/>
              </a:rPr>
              <a:t>Scenario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The physician needs to review the patient's medical history without requesting a full fitness assessment.</a:t>
            </a:r>
            <a:endParaRPr/>
          </a:p>
        </p:txBody>
      </p:sp>
      <p:sp>
        <p:nvSpPr>
          <p:cNvPr id="1494795731" name="Bar201"/>
          <p:cNvSpPr/>
          <p:nvPr/>
        </p:nvSpPr>
        <p:spPr bwMode="auto">
          <a:xfrm>
            <a:off x="457200" y="959996"/>
            <a:ext cx="45719" cy="105156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85253786" name="CPLbl"/>
          <p:cNvSpPr/>
          <p:nvPr/>
        </p:nvSpPr>
        <p:spPr bwMode="auto">
          <a:xfrm>
            <a:off x="3680460" y="1497639"/>
            <a:ext cx="5166360" cy="384048"/>
          </a:xfrm>
          <a:prstGeom prst="rect">
            <a:avLst/>
          </a:prstGeom>
          <a:solidFill>
            <a:srgbClr val="D6EFE8"/>
          </a:solidFill>
          <a:ln w="12700">
            <a:solidFill>
              <a:srgbClr val="0F6E56"/>
            </a:solidFill>
          </a:ln>
        </p:spPr>
        <p:txBody>
          <a:bodyPr wrap="square" lIns="13000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50" b="1">
                <a:solidFill>
                  <a:srgbClr val="1F4E79"/>
                </a:solidFill>
                <a:latin typeface="Calibri"/>
              </a:rPr>
              <a:t>ClinicalProfile · Object returned to the physician</a:t>
            </a:r>
            <a:endParaRPr/>
          </a:p>
        </p:txBody>
      </p:sp>
      <p:sp>
        <p:nvSpPr>
          <p:cNvPr id="1818579605" name="Bar220"/>
          <p:cNvSpPr/>
          <p:nvPr/>
        </p:nvSpPr>
        <p:spPr bwMode="auto">
          <a:xfrm>
            <a:off x="3680460" y="1954839"/>
            <a:ext cx="64008" cy="45720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89061288" name="CP0"/>
          <p:cNvSpPr/>
          <p:nvPr/>
        </p:nvSpPr>
        <p:spPr bwMode="auto">
          <a:xfrm>
            <a:off x="3680460" y="1954839"/>
            <a:ext cx="5166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Patient data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15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id, name, fiscal code, date of birth, gender</a:t>
            </a:r>
            <a:endParaRPr/>
          </a:p>
        </p:txBody>
      </p:sp>
      <p:sp>
        <p:nvSpPr>
          <p:cNvPr id="748459000" name="Bar230"/>
          <p:cNvSpPr/>
          <p:nvPr/>
        </p:nvSpPr>
        <p:spPr bwMode="auto">
          <a:xfrm>
            <a:off x="3680460" y="2476047"/>
            <a:ext cx="64008" cy="45720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88136854" name="CP1"/>
          <p:cNvSpPr/>
          <p:nvPr/>
        </p:nvSpPr>
        <p:spPr bwMode="auto">
          <a:xfrm>
            <a:off x="3680460" y="2476047"/>
            <a:ext cx="5166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Past diagnoses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15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List of ICD conditions </a:t>
            </a:r>
            <a:r>
              <a:rPr lang="it-IT" sz="1150">
                <a:solidFill>
                  <a:srgbClr val="595959"/>
                </a:solidFill>
                <a:latin typeface="Calibri"/>
              </a:rPr>
              <a:t>- 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status ACTIVE / RESOLVED</a:t>
            </a:r>
            <a:endParaRPr/>
          </a:p>
        </p:txBody>
      </p:sp>
      <p:sp>
        <p:nvSpPr>
          <p:cNvPr id="1785465931" name="Bar240"/>
          <p:cNvSpPr/>
          <p:nvPr/>
        </p:nvSpPr>
        <p:spPr bwMode="auto">
          <a:xfrm>
            <a:off x="3680460" y="2997255"/>
            <a:ext cx="64008" cy="45720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51786623" name="CP2"/>
          <p:cNvSpPr/>
          <p:nvPr/>
        </p:nvSpPr>
        <p:spPr bwMode="auto">
          <a:xfrm>
            <a:off x="3680460" y="2997255"/>
            <a:ext cx="5166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Known allergies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15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Allergen, severity (MILD / SEVERE / ANAPHYLACTIC)</a:t>
            </a:r>
            <a:endParaRPr/>
          </a:p>
        </p:txBody>
      </p:sp>
      <p:sp>
        <p:nvSpPr>
          <p:cNvPr id="178767188" name="Bar250"/>
          <p:cNvSpPr/>
          <p:nvPr/>
        </p:nvSpPr>
        <p:spPr bwMode="auto">
          <a:xfrm>
            <a:off x="3680460" y="3518463"/>
            <a:ext cx="64008" cy="45720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00492837" name="CP3"/>
          <p:cNvSpPr/>
          <p:nvPr/>
        </p:nvSpPr>
        <p:spPr bwMode="auto">
          <a:xfrm>
            <a:off x="3680460" y="3518463"/>
            <a:ext cx="5166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Active prescriptions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15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Drug, ATC code, dosage, frequency, dates</a:t>
            </a:r>
            <a:endParaRPr/>
          </a:p>
        </p:txBody>
      </p:sp>
      <p:sp>
        <p:nvSpPr>
          <p:cNvPr id="1607269361" name="AnaSource"/>
          <p:cNvSpPr/>
          <p:nvPr/>
        </p:nvSpPr>
        <p:spPr bwMode="auto">
          <a:xfrm>
            <a:off x="457200" y="2370520"/>
            <a:ext cx="2743200" cy="1051560"/>
          </a:xfrm>
          <a:prstGeom prst="rect">
            <a:avLst/>
          </a:prstGeom>
          <a:solidFill>
            <a:srgbClr val="D6EFE8"/>
          </a:solidFill>
          <a:ln w="12700">
            <a:solidFill>
              <a:srgbClr val="0F6E56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0F6E56"/>
                </a:solidFill>
                <a:latin typeface="Calibri"/>
              </a:rPr>
              <a:t>Anagrafe Service</a:t>
            </a:r>
            <a:endParaRPr/>
          </a:p>
          <a:p>
            <a:pPr marL="0" indent="0" algn="l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alibri"/>
              </a:rPr>
              <a:t>Protocol: SOAP / CXF  ·  :9101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Patient data · medical history · allergies</a:t>
            </a:r>
            <a:endParaRPr/>
          </a:p>
        </p:txBody>
      </p:sp>
      <p:sp>
        <p:nvSpPr>
          <p:cNvPr id="596723804" name="Bar301"/>
          <p:cNvSpPr/>
          <p:nvPr/>
        </p:nvSpPr>
        <p:spPr bwMode="auto">
          <a:xfrm>
            <a:off x="457200" y="2370520"/>
            <a:ext cx="64008" cy="105156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75240587" name="FarmSource"/>
          <p:cNvSpPr/>
          <p:nvPr/>
        </p:nvSpPr>
        <p:spPr bwMode="auto">
          <a:xfrm>
            <a:off x="489204" y="3813172"/>
            <a:ext cx="2711196" cy="1051560"/>
          </a:xfrm>
          <a:prstGeom prst="rect">
            <a:avLst/>
          </a:prstGeom>
          <a:solidFill>
            <a:srgbClr val="FCE4D6"/>
          </a:solidFill>
          <a:ln w="12700">
            <a:solidFill>
              <a:srgbClr val="C55A11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C55A11"/>
                </a:solidFill>
                <a:latin typeface="Calibri"/>
              </a:rPr>
              <a:t>Farmacia Service</a:t>
            </a:r>
            <a:endParaRPr/>
          </a:p>
          <a:p>
            <a:pPr marL="0" indent="0" algn="l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alibri"/>
              </a:rPr>
              <a:t>Protocol: REST  ·  :9103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Active prescriptions per patient</a:t>
            </a:r>
            <a:endParaRPr/>
          </a:p>
        </p:txBody>
      </p:sp>
      <p:sp>
        <p:nvSpPr>
          <p:cNvPr id="1715236454" name="Bar311"/>
          <p:cNvSpPr/>
          <p:nvPr/>
        </p:nvSpPr>
        <p:spPr bwMode="auto">
          <a:xfrm>
            <a:off x="457200" y="3813172"/>
            <a:ext cx="65556" cy="1051560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8024447" name="Shape 1"/>
          <p:cNvSpPr/>
          <p:nvPr/>
        </p:nvSpPr>
        <p:spPr bwMode="auto">
          <a:xfrm>
            <a:off x="480059" y="768096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7713265" name="Title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</a:rPr>
              <a:t>UC-3  Diagnostic Test Order &amp; Monitoring</a:t>
            </a:r>
            <a:endParaRPr/>
          </a:p>
        </p:txBody>
      </p:sp>
      <p:sp>
        <p:nvSpPr>
          <p:cNvPr id="2006819558" name="Badge200"/>
          <p:cNvSpPr/>
          <p:nvPr/>
        </p:nvSpPr>
        <p:spPr bwMode="auto">
          <a:xfrm>
            <a:off x="685800" y="1508759"/>
            <a:ext cx="2468880" cy="4114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50" b="1">
                <a:solidFill>
                  <a:srgbClr val="FFFFFF"/>
                </a:solidFill>
                <a:latin typeface="Calibri"/>
              </a:rPr>
              <a:t>① Order</a:t>
            </a:r>
            <a:endParaRPr/>
          </a:p>
        </p:txBody>
      </p:sp>
      <p:sp>
        <p:nvSpPr>
          <p:cNvPr id="1084577481" name="P1"/>
          <p:cNvSpPr/>
          <p:nvPr/>
        </p:nvSpPr>
        <p:spPr bwMode="auto">
          <a:xfrm>
            <a:off x="685800" y="1920240"/>
            <a:ext cx="24688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The physician requests a diagnostic panel (e.g. renal panel, metabolic panel).</a:t>
            </a:r>
            <a:endParaRPr/>
          </a:p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The system responds immediately: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0F6E56"/>
                </a:solidFill>
                <a:latin typeface="Calibri"/>
              </a:rPr>
              <a:t>• trackingId  (tracking code)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0F6E56"/>
                </a:solidFill>
                <a:latin typeface="Calibri"/>
              </a:rPr>
              <a:t>• HTTP 202 Accepted</a:t>
            </a:r>
            <a:endParaRPr/>
          </a:p>
          <a:p>
            <a:pPr marL="0" indent="0" algn="l">
              <a:buNone/>
              <a:defRPr/>
            </a:pPr>
            <a:r>
              <a:rPr lang="en-US" sz="1200" i="1">
                <a:solidFill>
                  <a:srgbClr val="595959"/>
                </a:solidFill>
                <a:latin typeface="Calibri"/>
              </a:rPr>
              <a:t>The physician can continue working without waiting.</a:t>
            </a:r>
            <a:endParaRPr/>
          </a:p>
        </p:txBody>
      </p:sp>
      <p:sp>
        <p:nvSpPr>
          <p:cNvPr id="1945702100" name="Bar202"/>
          <p:cNvSpPr/>
          <p:nvPr/>
        </p:nvSpPr>
        <p:spPr bwMode="auto">
          <a:xfrm>
            <a:off x="685800" y="1920240"/>
            <a:ext cx="64008" cy="233172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89690136" name="Badge210"/>
          <p:cNvSpPr/>
          <p:nvPr/>
        </p:nvSpPr>
        <p:spPr bwMode="auto">
          <a:xfrm>
            <a:off x="3337560" y="1508759"/>
            <a:ext cx="2468880" cy="411480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50" b="1">
                <a:solidFill>
                  <a:srgbClr val="FFFFFF"/>
                </a:solidFill>
                <a:latin typeface="Calibri"/>
              </a:rPr>
              <a:t>② Processing</a:t>
            </a:r>
            <a:endParaRPr/>
          </a:p>
        </p:txBody>
      </p:sp>
      <p:sp>
        <p:nvSpPr>
          <p:cNvPr id="721247781" name="P2"/>
          <p:cNvSpPr/>
          <p:nvPr/>
        </p:nvSpPr>
        <p:spPr bwMode="auto">
          <a:xfrm>
            <a:off x="3337560" y="1920240"/>
            <a:ext cx="24688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The client polls the system using the trackingId.</a:t>
            </a:r>
            <a:endParaRPr/>
          </a:p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While processing, the response shows:</a:t>
            </a:r>
            <a:endParaRPr/>
          </a:p>
          <a:p>
            <a:pPr marL="0" indent="0" algn="l">
              <a:buNone/>
              <a:defRPr/>
            </a:pPr>
            <a:r>
              <a:rPr lang="en-US" sz="1250" b="1">
                <a:solidFill>
                  <a:srgbClr val="C55A11"/>
                </a:solidFill>
                <a:latin typeface="Calibri"/>
              </a:rPr>
              <a:t>status: PROCESSING</a:t>
            </a:r>
            <a:endParaRPr/>
          </a:p>
          <a:p>
            <a:pPr marL="0" indent="0" algn="l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alibri"/>
              </a:rPr>
              <a:t>In the background: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• Laboratorio :9102  processes lab tests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• Imaging :9104  processes radiology reports</a:t>
            </a:r>
            <a:endParaRPr/>
          </a:p>
        </p:txBody>
      </p:sp>
      <p:sp>
        <p:nvSpPr>
          <p:cNvPr id="702532238" name="Bar212"/>
          <p:cNvSpPr/>
          <p:nvPr/>
        </p:nvSpPr>
        <p:spPr bwMode="auto">
          <a:xfrm>
            <a:off x="3337560" y="1920240"/>
            <a:ext cx="64008" cy="2331720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44172030" name="Badge220"/>
          <p:cNvSpPr/>
          <p:nvPr/>
        </p:nvSpPr>
        <p:spPr bwMode="auto">
          <a:xfrm>
            <a:off x="5989320" y="1508759"/>
            <a:ext cx="2468880" cy="411480"/>
          </a:xfrm>
          <a:prstGeom prst="rect">
            <a:avLst/>
          </a:prstGeom>
          <a:solidFill>
            <a:srgbClr val="0F6E56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50" b="1">
                <a:solidFill>
                  <a:srgbClr val="FFFFFF"/>
                </a:solidFill>
                <a:latin typeface="Calibri"/>
              </a:rPr>
              <a:t>③ Final Result</a:t>
            </a:r>
            <a:endParaRPr/>
          </a:p>
        </p:txBody>
      </p:sp>
      <p:sp>
        <p:nvSpPr>
          <p:cNvPr id="1775974803" name="P3"/>
          <p:cNvSpPr/>
          <p:nvPr/>
        </p:nvSpPr>
        <p:spPr bwMode="auto">
          <a:xfrm>
            <a:off x="5989320" y="1920240"/>
            <a:ext cx="24688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Once processing is complete, the system returns the DiagnosticBundle:</a:t>
            </a:r>
            <a:endParaRPr/>
          </a:p>
          <a:p>
            <a:pPr marL="0" indent="0" algn="l">
              <a:buNone/>
              <a:defRPr/>
            </a:pPr>
            <a:r>
              <a:rPr lang="en-US" sz="1300" b="1">
                <a:solidFill>
                  <a:srgbClr val="0F6E56"/>
                </a:solidFill>
                <a:latin typeface="Calibri"/>
              </a:rPr>
              <a:t>DiagnosticBundle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• List&lt;TestResult&gt;  (lab results)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• List&lt;ImagingReport&gt;  (diagnostic reports)</a:t>
            </a:r>
            <a:endParaRPr/>
          </a:p>
          <a:p>
            <a:pPr marL="0" indent="0" algn="l">
              <a:buNone/>
              <a:defRPr/>
            </a:pPr>
            <a:r>
              <a:rPr lang="en-US" sz="1200" i="1">
                <a:solidFill>
                  <a:srgbClr val="595959"/>
                </a:solidFill>
                <a:latin typeface="Calibri"/>
              </a:rPr>
              <a:t>The physician always interacts with a single entry point and receives an aggregated response.</a:t>
            </a:r>
            <a:endParaRPr/>
          </a:p>
        </p:txBody>
      </p:sp>
      <p:sp>
        <p:nvSpPr>
          <p:cNvPr id="988981933" name="Bar222"/>
          <p:cNvSpPr/>
          <p:nvPr/>
        </p:nvSpPr>
        <p:spPr bwMode="auto">
          <a:xfrm>
            <a:off x="5989320" y="1920240"/>
            <a:ext cx="64008" cy="233172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55405392" name="Shape 1"/>
          <p:cNvSpPr/>
          <p:nvPr/>
        </p:nvSpPr>
        <p:spPr bwMode="auto">
          <a:xfrm>
            <a:off x="480058" y="768096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8119672" name="Title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</a:rPr>
              <a:t>UC-4  New Prescription</a:t>
            </a:r>
            <a:endParaRPr/>
          </a:p>
        </p:txBody>
      </p:sp>
      <p:sp>
        <p:nvSpPr>
          <p:cNvPr id="861743395" name="Sub"/>
          <p:cNvSpPr/>
          <p:nvPr/>
        </p:nvSpPr>
        <p:spPr bwMode="auto">
          <a:xfrm>
            <a:off x="345989" y="4700016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250" i="1">
                <a:solidFill>
                  <a:srgbClr val="595959"/>
                </a:solidFill>
                <a:latin typeface="Calibri"/>
              </a:rPr>
              <a:t>Direct client → provider interaction: not every operation requires an aggregator</a:t>
            </a:r>
            <a:endParaRPr/>
          </a:p>
        </p:txBody>
      </p:sp>
      <p:sp>
        <p:nvSpPr>
          <p:cNvPr id="17458263" name="Scenario"/>
          <p:cNvSpPr/>
          <p:nvPr/>
        </p:nvSpPr>
        <p:spPr bwMode="auto">
          <a:xfrm>
            <a:off x="457200" y="1042416"/>
            <a:ext cx="3108960" cy="2083843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450" b="1">
                <a:solidFill>
                  <a:srgbClr val="1F4E79"/>
                </a:solidFill>
                <a:latin typeface="Calibri"/>
              </a:rPr>
              <a:t>Scenario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The physician enters a new pharmacological prescription for a patient.</a:t>
            </a:r>
            <a:endParaRPr/>
          </a:p>
          <a:p>
            <a:pPr marL="0" indent="0" algn="l">
              <a:buNone/>
              <a:defRPr/>
            </a:pPr>
            <a:r>
              <a:rPr lang="en-US" sz="1300" b="1">
                <a:solidFill>
                  <a:srgbClr val="C55A11"/>
                </a:solidFill>
                <a:latin typeface="Calibri"/>
              </a:rPr>
              <a:t>No prosumer involved: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Farmacia is the direct provider, responsible for its own domain.</a:t>
            </a:r>
            <a:endParaRPr/>
          </a:p>
          <a:p>
            <a:pPr marL="0" indent="0" algn="l">
              <a:buNone/>
              <a:defRPr/>
            </a:pPr>
            <a:r>
              <a:rPr lang="en-US" sz="1200" i="1">
                <a:solidFill>
                  <a:srgbClr val="595959"/>
                </a:solidFill>
                <a:latin typeface="Calibri"/>
              </a:rPr>
              <a:t>This use case shows that SOA does not always mandate aggregation: when an operation belongs to a single domain, the client reaches that provider directly.</a:t>
            </a:r>
            <a:endParaRPr/>
          </a:p>
        </p:txBody>
      </p:sp>
      <p:sp>
        <p:nvSpPr>
          <p:cNvPr id="1080611668" name="Bar201"/>
          <p:cNvSpPr/>
          <p:nvPr/>
        </p:nvSpPr>
        <p:spPr bwMode="auto">
          <a:xfrm>
            <a:off x="457200" y="1042416"/>
            <a:ext cx="64008" cy="2083843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94233231" name="ReqLbl"/>
          <p:cNvSpPr/>
          <p:nvPr/>
        </p:nvSpPr>
        <p:spPr bwMode="auto">
          <a:xfrm>
            <a:off x="3886200" y="1431036"/>
            <a:ext cx="4800600" cy="384048"/>
          </a:xfrm>
          <a:prstGeom prst="rect">
            <a:avLst/>
          </a:prstGeom>
          <a:solidFill>
            <a:srgbClr val="FCE4D6"/>
          </a:solidFill>
          <a:ln w="12700">
            <a:solidFill>
              <a:srgbClr val="C55A11"/>
            </a:solidFill>
          </a:ln>
        </p:spPr>
        <p:txBody>
          <a:bodyPr wrap="square" lIns="13000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50" b="1">
                <a:solidFill>
                  <a:srgbClr val="1F4E79"/>
                </a:solidFill>
                <a:latin typeface="Calibri"/>
              </a:rPr>
              <a:t>Request Payload</a:t>
            </a:r>
            <a:endParaRPr/>
          </a:p>
        </p:txBody>
      </p:sp>
      <p:sp>
        <p:nvSpPr>
          <p:cNvPr id="35351916" name="Bar220"/>
          <p:cNvSpPr/>
          <p:nvPr/>
        </p:nvSpPr>
        <p:spPr bwMode="auto">
          <a:xfrm>
            <a:off x="3886200" y="1888236"/>
            <a:ext cx="64008" cy="393192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48744619" name="Req0"/>
          <p:cNvSpPr/>
          <p:nvPr/>
        </p:nvSpPr>
        <p:spPr bwMode="auto">
          <a:xfrm>
            <a:off x="3886200" y="1888236"/>
            <a:ext cx="48006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C55A11"/>
                </a:solidFill>
                <a:latin typeface="Calibri"/>
              </a:rPr>
              <a:t>drug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20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Drug name + ATC code</a:t>
            </a:r>
            <a:endParaRPr/>
          </a:p>
        </p:txBody>
      </p:sp>
      <p:sp>
        <p:nvSpPr>
          <p:cNvPr id="1171683520" name="Bar230"/>
          <p:cNvSpPr/>
          <p:nvPr/>
        </p:nvSpPr>
        <p:spPr bwMode="auto">
          <a:xfrm>
            <a:off x="3886200" y="2327148"/>
            <a:ext cx="64008" cy="393192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48086437" name="Req1"/>
          <p:cNvSpPr/>
          <p:nvPr/>
        </p:nvSpPr>
        <p:spPr bwMode="auto">
          <a:xfrm>
            <a:off x="3886200" y="2327148"/>
            <a:ext cx="48006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C55A11"/>
                </a:solidFill>
                <a:latin typeface="Calibri"/>
              </a:rPr>
              <a:t>dosage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20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Quantity per administration</a:t>
            </a:r>
            <a:endParaRPr/>
          </a:p>
        </p:txBody>
      </p:sp>
      <p:sp>
        <p:nvSpPr>
          <p:cNvPr id="1759928799" name="Bar240"/>
          <p:cNvSpPr/>
          <p:nvPr/>
        </p:nvSpPr>
        <p:spPr bwMode="auto">
          <a:xfrm>
            <a:off x="3886200" y="2766060"/>
            <a:ext cx="64008" cy="393192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76746485" name="Req2"/>
          <p:cNvSpPr/>
          <p:nvPr/>
        </p:nvSpPr>
        <p:spPr bwMode="auto">
          <a:xfrm>
            <a:off x="3886200" y="2766060"/>
            <a:ext cx="48006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C55A11"/>
                </a:solidFill>
                <a:latin typeface="Calibri"/>
              </a:rPr>
              <a:t>frequency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20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Administration schedule</a:t>
            </a:r>
            <a:endParaRPr/>
          </a:p>
        </p:txBody>
      </p:sp>
      <p:sp>
        <p:nvSpPr>
          <p:cNvPr id="1545047482" name="Bar250"/>
          <p:cNvSpPr/>
          <p:nvPr/>
        </p:nvSpPr>
        <p:spPr bwMode="auto">
          <a:xfrm>
            <a:off x="3886200" y="3204972"/>
            <a:ext cx="64008" cy="393192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0778938" name="Req3"/>
          <p:cNvSpPr/>
          <p:nvPr/>
        </p:nvSpPr>
        <p:spPr bwMode="auto">
          <a:xfrm>
            <a:off x="3886200" y="3204972"/>
            <a:ext cx="48006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C55A11"/>
                </a:solidFill>
                <a:latin typeface="Calibri"/>
              </a:rPr>
              <a:t>validity dates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20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startDate · endDate</a:t>
            </a:r>
            <a:endParaRPr/>
          </a:p>
        </p:txBody>
      </p:sp>
      <p:sp>
        <p:nvSpPr>
          <p:cNvPr id="1699669507" name="Bar260"/>
          <p:cNvSpPr/>
          <p:nvPr/>
        </p:nvSpPr>
        <p:spPr bwMode="auto">
          <a:xfrm>
            <a:off x="3886200" y="3643884"/>
            <a:ext cx="64008" cy="393192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06704184" name="Req4"/>
          <p:cNvSpPr/>
          <p:nvPr/>
        </p:nvSpPr>
        <p:spPr bwMode="auto">
          <a:xfrm>
            <a:off x="3886200" y="3643884"/>
            <a:ext cx="48006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C55A11"/>
                </a:solidFill>
                <a:latin typeface="Calibri"/>
              </a:rPr>
              <a:t>prescribing physician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20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Physician identifier</a:t>
            </a:r>
            <a:endParaRPr/>
          </a:p>
        </p:txBody>
      </p:sp>
      <p:sp>
        <p:nvSpPr>
          <p:cNvPr id="323955401" name="ResLbl"/>
          <p:cNvSpPr/>
          <p:nvPr/>
        </p:nvSpPr>
        <p:spPr bwMode="auto">
          <a:xfrm>
            <a:off x="457199" y="3451860"/>
            <a:ext cx="3108961" cy="918972"/>
          </a:xfrm>
          <a:prstGeom prst="rect">
            <a:avLst/>
          </a:prstGeom>
          <a:solidFill>
            <a:srgbClr val="D6EFE8"/>
          </a:solidFill>
          <a:ln w="12700">
            <a:solidFill>
              <a:srgbClr val="0F6E56"/>
            </a:solidFill>
          </a:ln>
        </p:spPr>
        <p:txBody>
          <a:bodyPr wrap="square" lIns="130000" tIns="64008" rIns="91440" bIns="64008" rtlCol="0" anchor="ctr"/>
          <a:lstStyle/>
          <a:p>
            <a:pPr marL="0" indent="0" algn="l">
              <a:buNone/>
              <a:defRPr/>
            </a:pPr>
            <a:r>
              <a:rPr lang="en-US" sz="1350" b="1">
                <a:solidFill>
                  <a:srgbClr val="0F6E56"/>
                </a:solidFill>
                <a:latin typeface="Calibri"/>
              </a:rPr>
              <a:t>HTTP 201 Created  →  Prescription saved</a:t>
            </a:r>
            <a:endParaRPr/>
          </a:p>
          <a:p>
            <a:pPr marL="0" indent="0" algn="l">
              <a:buNone/>
              <a:defRPr/>
            </a:pPr>
            <a:r>
              <a:rPr lang="en-US" sz="1150">
                <a:solidFill>
                  <a:srgbClr val="595959"/>
                </a:solidFill>
                <a:latin typeface="Calibri"/>
              </a:rPr>
              <a:t>id · drugName · atcCode · dosage · frequency · startDate · endDate · prescribingPhysician</a:t>
            </a:r>
            <a:endParaRPr/>
          </a:p>
        </p:txBody>
      </p:sp>
      <p:sp>
        <p:nvSpPr>
          <p:cNvPr id="513902870" name="Bar271"/>
          <p:cNvSpPr/>
          <p:nvPr/>
        </p:nvSpPr>
        <p:spPr bwMode="auto">
          <a:xfrm>
            <a:off x="457199" y="3451860"/>
            <a:ext cx="45719" cy="918972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94121056" name="Shape 1"/>
          <p:cNvSpPr/>
          <p:nvPr/>
        </p:nvSpPr>
        <p:spPr bwMode="auto">
          <a:xfrm>
            <a:off x="480058" y="768096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6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605017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Technology Stack</a:t>
            </a:r>
            <a:endParaRPr lang="en-US" sz="3400"/>
          </a:p>
        </p:txBody>
      </p:sp>
      <p:sp>
        <p:nvSpPr>
          <p:cNvPr id="699237564" name="Shape 1"/>
          <p:cNvSpPr/>
          <p:nvPr/>
        </p:nvSpPr>
        <p:spPr bwMode="auto">
          <a:xfrm>
            <a:off x="457200" y="107899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2948093" name="Shape 2"/>
          <p:cNvSpPr/>
          <p:nvPr/>
        </p:nvSpPr>
        <p:spPr bwMode="auto">
          <a:xfrm>
            <a:off x="457200" y="1188720"/>
            <a:ext cx="39319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01800832" name="Text 3"/>
          <p:cNvSpPr/>
          <p:nvPr/>
        </p:nvSpPr>
        <p:spPr bwMode="auto">
          <a:xfrm>
            <a:off x="640080" y="126187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Frameworks &amp; Libraries</a:t>
            </a:r>
            <a:endParaRPr lang="en-US" sz="1300"/>
          </a:p>
        </p:txBody>
      </p:sp>
      <p:sp>
        <p:nvSpPr>
          <p:cNvPr id="2084829211" name="Text 4"/>
          <p:cNvSpPr/>
          <p:nvPr/>
        </p:nvSpPr>
        <p:spPr bwMode="auto">
          <a:xfrm>
            <a:off x="640080" y="1664208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Java 17</a:t>
            </a:r>
            <a:endParaRPr lang="en-US" sz="1050"/>
          </a:p>
        </p:txBody>
      </p:sp>
      <p:sp>
        <p:nvSpPr>
          <p:cNvPr id="198707337" name="Text 5"/>
          <p:cNvSpPr/>
          <p:nvPr/>
        </p:nvSpPr>
        <p:spPr bwMode="auto">
          <a:xfrm>
            <a:off x="2487168" y="16642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LTS runtime (pinned)</a:t>
            </a:r>
            <a:endParaRPr lang="en-US" sz="950"/>
          </a:p>
        </p:txBody>
      </p:sp>
      <p:sp>
        <p:nvSpPr>
          <p:cNvPr id="319222945" name="Text 6"/>
          <p:cNvSpPr/>
          <p:nvPr/>
        </p:nvSpPr>
        <p:spPr bwMode="auto">
          <a:xfrm>
            <a:off x="640080" y="2084832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Spring Boot 3.2.x</a:t>
            </a:r>
            <a:endParaRPr lang="en-US" sz="1050"/>
          </a:p>
        </p:txBody>
      </p:sp>
      <p:sp>
        <p:nvSpPr>
          <p:cNvPr id="2090929754" name="Text 7"/>
          <p:cNvSpPr/>
          <p:nvPr/>
        </p:nvSpPr>
        <p:spPr bwMode="auto">
          <a:xfrm>
            <a:off x="2487168" y="208483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Service base + embedded Tomcat</a:t>
            </a:r>
            <a:endParaRPr lang="en-US" sz="950"/>
          </a:p>
        </p:txBody>
      </p:sp>
      <p:sp>
        <p:nvSpPr>
          <p:cNvPr id="968935808" name="Text 8"/>
          <p:cNvSpPr/>
          <p:nvPr/>
        </p:nvSpPr>
        <p:spPr bwMode="auto">
          <a:xfrm>
            <a:off x="640080" y="2505456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Spring Cloud 2023.0.x</a:t>
            </a:r>
            <a:endParaRPr lang="en-US" sz="1050"/>
          </a:p>
        </p:txBody>
      </p:sp>
      <p:sp>
        <p:nvSpPr>
          <p:cNvPr id="1520244159" name="Text 9"/>
          <p:cNvSpPr/>
          <p:nvPr/>
        </p:nvSpPr>
        <p:spPr bwMode="auto">
          <a:xfrm>
            <a:off x="2487168" y="250545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Eureka, Gateway, Config, OpenFeign, LoadBalancer</a:t>
            </a:r>
            <a:endParaRPr lang="en-US" sz="950"/>
          </a:p>
        </p:txBody>
      </p:sp>
      <p:sp>
        <p:nvSpPr>
          <p:cNvPr id="1093103287" name="Text 10"/>
          <p:cNvSpPr/>
          <p:nvPr/>
        </p:nvSpPr>
        <p:spPr bwMode="auto">
          <a:xfrm>
            <a:off x="640080" y="2926080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Apache CXF 4.0.x</a:t>
            </a:r>
            <a:endParaRPr lang="en-US" sz="1050"/>
          </a:p>
        </p:txBody>
      </p:sp>
      <p:sp>
        <p:nvSpPr>
          <p:cNvPr id="1294038728" name="Text 11"/>
          <p:cNvSpPr/>
          <p:nvPr/>
        </p:nvSpPr>
        <p:spPr bwMode="auto">
          <a:xfrm>
            <a:off x="2487168" y="29260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SOAP contract-first </a:t>
            </a:r>
            <a:r>
              <a:rPr lang="it-IT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Anagrafe service + JAX-WS client</a:t>
            </a:r>
            <a:endParaRPr lang="en-US" sz="950"/>
          </a:p>
        </p:txBody>
      </p:sp>
      <p:sp>
        <p:nvSpPr>
          <p:cNvPr id="1880009143" name="Text 12"/>
          <p:cNvSpPr/>
          <p:nvPr/>
        </p:nvSpPr>
        <p:spPr bwMode="auto">
          <a:xfrm>
            <a:off x="640080" y="3346704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Resilience4j 2.2.x</a:t>
            </a:r>
            <a:endParaRPr lang="en-US" sz="1050"/>
          </a:p>
        </p:txBody>
      </p:sp>
      <p:sp>
        <p:nvSpPr>
          <p:cNvPr id="1613875394" name="Text 13"/>
          <p:cNvSpPr/>
          <p:nvPr/>
        </p:nvSpPr>
        <p:spPr bwMode="auto">
          <a:xfrm>
            <a:off x="2487168" y="334670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Circuit breaker on Care Coordinator Feign calls</a:t>
            </a:r>
            <a:endParaRPr lang="en-US" sz="950"/>
          </a:p>
        </p:txBody>
      </p:sp>
      <p:sp>
        <p:nvSpPr>
          <p:cNvPr id="660933427" name="Text 14"/>
          <p:cNvSpPr/>
          <p:nvPr/>
        </p:nvSpPr>
        <p:spPr bwMode="auto">
          <a:xfrm>
            <a:off x="640080" y="3767328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springdoc-openapi 2.3.x</a:t>
            </a:r>
            <a:endParaRPr lang="en-US" sz="1050"/>
          </a:p>
        </p:txBody>
      </p:sp>
      <p:sp>
        <p:nvSpPr>
          <p:cNvPr id="639562616" name="Text 15"/>
          <p:cNvSpPr/>
          <p:nvPr/>
        </p:nvSpPr>
        <p:spPr bwMode="auto">
          <a:xfrm>
            <a:off x="2487168" y="376732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Swagger UI on all REST services</a:t>
            </a:r>
            <a:endParaRPr lang="en-US" sz="950"/>
          </a:p>
        </p:txBody>
      </p:sp>
      <p:sp>
        <p:nvSpPr>
          <p:cNvPr id="1663025588" name="Text 16"/>
          <p:cNvSpPr/>
          <p:nvPr/>
        </p:nvSpPr>
        <p:spPr bwMode="auto">
          <a:xfrm>
            <a:off x="640080" y="4187952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Spring Data JPA</a:t>
            </a:r>
            <a:endParaRPr lang="en-US" sz="1050"/>
          </a:p>
        </p:txBody>
      </p:sp>
      <p:sp>
        <p:nvSpPr>
          <p:cNvPr id="839372522" name="Text 17"/>
          <p:cNvSpPr/>
          <p:nvPr/>
        </p:nvSpPr>
        <p:spPr bwMode="auto">
          <a:xfrm>
            <a:off x="2487168" y="41879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Repository layer over MySQL</a:t>
            </a:r>
            <a:endParaRPr lang="en-US" sz="950"/>
          </a:p>
        </p:txBody>
      </p:sp>
      <p:sp>
        <p:nvSpPr>
          <p:cNvPr id="1769270317" name="Text 18"/>
          <p:cNvSpPr/>
          <p:nvPr/>
        </p:nvSpPr>
        <p:spPr bwMode="auto">
          <a:xfrm>
            <a:off x="640080" y="4608576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Apache Maven 3.9.x</a:t>
            </a:r>
            <a:endParaRPr lang="en-US" sz="1050"/>
          </a:p>
        </p:txBody>
      </p:sp>
      <p:sp>
        <p:nvSpPr>
          <p:cNvPr id="1272510687" name="Text 19"/>
          <p:cNvSpPr/>
          <p:nvPr/>
        </p:nvSpPr>
        <p:spPr bwMode="auto">
          <a:xfrm>
            <a:off x="2487168" y="460857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Build </a:t>
            </a:r>
            <a:r>
              <a:rPr lang="it-IT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independent per-service POMs (no parent)</a:t>
            </a:r>
            <a:endParaRPr lang="en-US" sz="950"/>
          </a:p>
        </p:txBody>
      </p:sp>
      <p:sp>
        <p:nvSpPr>
          <p:cNvPr id="236388434" name="Shape 20"/>
          <p:cNvSpPr/>
          <p:nvPr/>
        </p:nvSpPr>
        <p:spPr bwMode="auto">
          <a:xfrm>
            <a:off x="4754880" y="1188720"/>
            <a:ext cx="39319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46681699" name="Text 21"/>
          <p:cNvSpPr/>
          <p:nvPr/>
        </p:nvSpPr>
        <p:spPr bwMode="auto">
          <a:xfrm>
            <a:off x="4937760" y="126187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Infrastructure</a:t>
            </a:r>
            <a:endParaRPr lang="en-US" sz="1300"/>
          </a:p>
        </p:txBody>
      </p:sp>
      <p:sp>
        <p:nvSpPr>
          <p:cNvPr id="127726118" name="Text 22"/>
          <p:cNvSpPr/>
          <p:nvPr/>
        </p:nvSpPr>
        <p:spPr bwMode="auto">
          <a:xfrm>
            <a:off x="4937760" y="1664208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MySQL 8</a:t>
            </a:r>
            <a:endParaRPr lang="en-US" sz="1050"/>
          </a:p>
        </p:txBody>
      </p:sp>
      <p:sp>
        <p:nvSpPr>
          <p:cNvPr id="33549465" name="Text 23"/>
          <p:cNvSpPr/>
          <p:nvPr/>
        </p:nvSpPr>
        <p:spPr bwMode="auto">
          <a:xfrm>
            <a:off x="6656832" y="1664208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Relational persistence, one schema per provider</a:t>
            </a:r>
            <a:endParaRPr lang="en-US" sz="950"/>
          </a:p>
        </p:txBody>
      </p:sp>
      <p:sp>
        <p:nvSpPr>
          <p:cNvPr id="418449537" name="Text 24"/>
          <p:cNvSpPr/>
          <p:nvPr/>
        </p:nvSpPr>
        <p:spPr bwMode="auto">
          <a:xfrm>
            <a:off x="4937760" y="2084832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Docker + Compose</a:t>
            </a:r>
            <a:endParaRPr lang="en-US" sz="1050"/>
          </a:p>
        </p:txBody>
      </p:sp>
      <p:sp>
        <p:nvSpPr>
          <p:cNvPr id="1305178895" name="Text 25"/>
          <p:cNvSpPr/>
          <p:nvPr/>
        </p:nvSpPr>
        <p:spPr bwMode="auto">
          <a:xfrm>
            <a:off x="6656832" y="2084832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Single-command full-stack deployment</a:t>
            </a:r>
            <a:endParaRPr lang="en-US" sz="950"/>
          </a:p>
        </p:txBody>
      </p:sp>
      <p:sp>
        <p:nvSpPr>
          <p:cNvPr id="778204752" name="Text 26"/>
          <p:cNvSpPr/>
          <p:nvPr/>
        </p:nvSpPr>
        <p:spPr bwMode="auto">
          <a:xfrm>
            <a:off x="4937760" y="2505456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Netflix Eureka</a:t>
            </a:r>
            <a:endParaRPr lang="en-US" sz="1050"/>
          </a:p>
        </p:txBody>
      </p:sp>
      <p:sp>
        <p:nvSpPr>
          <p:cNvPr id="1161742834" name="Text 27"/>
          <p:cNvSpPr/>
          <p:nvPr/>
        </p:nvSpPr>
        <p:spPr bwMode="auto">
          <a:xfrm>
            <a:off x="6656832" y="2505456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Service registry, self-registration, health checks</a:t>
            </a:r>
            <a:endParaRPr lang="en-US" sz="950"/>
          </a:p>
        </p:txBody>
      </p:sp>
      <p:sp>
        <p:nvSpPr>
          <p:cNvPr id="482639252" name="Text 28"/>
          <p:cNvSpPr/>
          <p:nvPr/>
        </p:nvSpPr>
        <p:spPr bwMode="auto">
          <a:xfrm>
            <a:off x="4937760" y="2926080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Spring Cloud Gateway</a:t>
            </a:r>
            <a:endParaRPr lang="en-US" sz="1050"/>
          </a:p>
        </p:txBody>
      </p:sp>
      <p:sp>
        <p:nvSpPr>
          <p:cNvPr id="354522544" name="Text 29"/>
          <p:cNvSpPr/>
          <p:nvPr/>
        </p:nvSpPr>
        <p:spPr bwMode="auto">
          <a:xfrm>
            <a:off x="6656832" y="2926080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API Gateway, lb:// routing, path rewriting</a:t>
            </a:r>
            <a:endParaRPr lang="en-US" sz="950"/>
          </a:p>
        </p:txBody>
      </p:sp>
      <p:sp>
        <p:nvSpPr>
          <p:cNvPr id="1236914341" name="Text 30"/>
          <p:cNvSpPr/>
          <p:nvPr/>
        </p:nvSpPr>
        <p:spPr bwMode="auto">
          <a:xfrm>
            <a:off x="4937760" y="3346704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Spring Cloud Config</a:t>
            </a:r>
            <a:endParaRPr lang="en-US" sz="1050"/>
          </a:p>
        </p:txBody>
      </p:sp>
      <p:sp>
        <p:nvSpPr>
          <p:cNvPr id="506813685" name="Text 31"/>
          <p:cNvSpPr/>
          <p:nvPr/>
        </p:nvSpPr>
        <p:spPr bwMode="auto">
          <a:xfrm>
            <a:off x="6656832" y="3346704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Centralised externalised config from git repo</a:t>
            </a:r>
            <a:endParaRPr lang="en-US" sz="950"/>
          </a:p>
        </p:txBody>
      </p:sp>
      <p:sp>
        <p:nvSpPr>
          <p:cNvPr id="1351178228" name="Text 32"/>
          <p:cNvSpPr/>
          <p:nvPr/>
        </p:nvSpPr>
        <p:spPr bwMode="auto">
          <a:xfrm>
            <a:off x="4937760" y="3767328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Spring Cloud OpenFeign</a:t>
            </a:r>
            <a:endParaRPr lang="en-US" sz="1050"/>
          </a:p>
        </p:txBody>
      </p:sp>
      <p:sp>
        <p:nvSpPr>
          <p:cNvPr id="122426909" name="Text 33"/>
          <p:cNvSpPr/>
          <p:nvPr/>
        </p:nvSpPr>
        <p:spPr bwMode="auto">
          <a:xfrm>
            <a:off x="6656832" y="3767328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REST client with Eureka name resolution</a:t>
            </a:r>
            <a:endParaRPr lang="en-US" sz="950"/>
          </a:p>
        </p:txBody>
      </p:sp>
      <p:sp>
        <p:nvSpPr>
          <p:cNvPr id="2640472" name="Text 34"/>
          <p:cNvSpPr/>
          <p:nvPr/>
        </p:nvSpPr>
        <p:spPr bwMode="auto">
          <a:xfrm>
            <a:off x="4937760" y="4187952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@Async / ThreadPool</a:t>
            </a:r>
            <a:endParaRPr lang="en-US" sz="1050"/>
          </a:p>
        </p:txBody>
      </p:sp>
      <p:sp>
        <p:nvSpPr>
          <p:cNvPr id="2144170809" name="Text 35"/>
          <p:cNvSpPr/>
          <p:nvPr/>
        </p:nvSpPr>
        <p:spPr bwMode="auto">
          <a:xfrm>
            <a:off x="6656832" y="4187952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Non-blocking processing in Laboratorio &amp; Imaging</a:t>
            </a:r>
            <a:endParaRPr lang="en-US" sz="950"/>
          </a:p>
        </p:txBody>
      </p:sp>
      <p:sp>
        <p:nvSpPr>
          <p:cNvPr id="1440243213" name="Text 36"/>
          <p:cNvSpPr/>
          <p:nvPr/>
        </p:nvSpPr>
        <p:spPr bwMode="auto">
          <a:xfrm>
            <a:off x="4937760" y="4608576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CompletableFuture</a:t>
            </a:r>
            <a:endParaRPr lang="en-US" sz="1050"/>
          </a:p>
        </p:txBody>
      </p:sp>
      <p:sp>
        <p:nvSpPr>
          <p:cNvPr id="1127311544" name="Text 37"/>
          <p:cNvSpPr/>
          <p:nvPr/>
        </p:nvSpPr>
        <p:spPr bwMode="auto">
          <a:xfrm>
            <a:off x="6656832" y="4608576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Fork-join parallel orchestration in Care Coordinator</a:t>
            </a:r>
            <a:endParaRPr lang="en-US" sz="9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17</Slides>
  <Notes>17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/>
  <cp:revision>11</cp:revision>
  <dcterms:created xsi:type="dcterms:W3CDTF">2026-06-22T13:52:18Z</dcterms:created>
  <dcterms:modified xsi:type="dcterms:W3CDTF">2026-06-25T09:01:17Z</dcterms:modified>
</cp:coreProperties>
</file>