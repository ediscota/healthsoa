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918" autoAdjust="0"/>
  </p:normalViewPr>
  <p:slideViewPr>
    <p:cSldViewPr snapToGrid="0" snapToObjects="1">
      <p:cViewPr varScale="1">
        <p:scale>
          <a:sx n="101" d="100"/>
          <a:sy n="101" d="100"/>
        </p:scale>
        <p:origin x="1092" y="8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6932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23563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4709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35810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615487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2449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90320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28858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23962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54527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13829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3457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80529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774773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1728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034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24308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7267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20532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32362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Thank you, Edoardo.</a:t>
            </a:r>
            <a:r>
              <a:rPr lang="it-IT" sz="1400"/>
              <a:t> </a:t>
            </a:r>
            <a:r>
              <a:rPr sz="1400"/>
              <a:t>Now, we will now look at</a:t>
            </a:r>
            <a:r>
              <a:rPr lang="it-IT" sz="1400"/>
              <a:t> the second block</a:t>
            </a:r>
            <a:r>
              <a:rPr sz="1400"/>
              <a:t> of our presentation. In this section, I will explain the business components of our system</a:t>
            </a:r>
            <a:r>
              <a:rPr lang="it-IT" sz="1400"/>
              <a:t>, we’</a:t>
            </a:r>
            <a:r>
              <a:rPr sz="1400"/>
              <a:t>ll see who are the main </a:t>
            </a:r>
            <a:r>
              <a:rPr lang="it-IT" sz="1400"/>
              <a:t>software a</a:t>
            </a:r>
            <a:r>
              <a:rPr sz="1400"/>
              <a:t>ctors, what responsibilities they have and how our data is structured.</a:t>
            </a:r>
            <a:endParaRPr lang="en-US"/>
          </a:p>
        </p:txBody>
      </p:sp>
      <p:sp>
        <p:nvSpPr>
          <p:cNvPr id="4323814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56225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177298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On this slide, we have the Service Providers</a:t>
            </a:r>
            <a:r>
              <a:rPr lang="it-IT" sz="1400"/>
              <a:t> which </a:t>
            </a:r>
            <a:r>
              <a:rPr sz="1400"/>
              <a:t>are the foundational services of our platform. Each provider is independent</a:t>
            </a:r>
            <a:r>
              <a:rPr lang="it-IT" sz="1400"/>
              <a:t> from the others</a:t>
            </a:r>
            <a:r>
              <a:rPr sz="1400"/>
              <a:t>, manages its own specific da</a:t>
            </a:r>
            <a:r>
              <a:rPr lang="it-IT" sz="1400"/>
              <a:t>ta </a:t>
            </a:r>
            <a:r>
              <a:rPr sz="1400"/>
              <a:t>and has its own separate database to ensure decoupling.</a:t>
            </a:r>
          </a:p>
          <a:p>
            <a:pPr>
              <a:defRPr/>
            </a:pPr>
            <a:r>
              <a:rPr sz="1400"/>
              <a:t>We have </a:t>
            </a:r>
            <a:r>
              <a:rPr lang="it-IT" sz="1400" b="1"/>
              <a:t>4</a:t>
            </a:r>
            <a:r>
              <a:rPr sz="1400" b="1"/>
              <a:t> providers</a:t>
            </a:r>
            <a:r>
              <a:rPr sz="1400"/>
              <a:t> in total: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First</a:t>
            </a:r>
            <a:r>
              <a:rPr lang="it-IT" sz="1400"/>
              <a:t> we have</a:t>
            </a:r>
            <a:r>
              <a:rPr sz="1400"/>
              <a:t> the </a:t>
            </a:r>
            <a:r>
              <a:rPr sz="1400" b="1"/>
              <a:t>Anagrafe Service</a:t>
            </a:r>
            <a:r>
              <a:rPr lang="it-IT" sz="1400"/>
              <a:t>, which </a:t>
            </a:r>
            <a:r>
              <a:rPr sz="1400"/>
              <a:t>simulates an external registry</a:t>
            </a:r>
            <a:r>
              <a:rPr lang="it-IT" sz="1400"/>
              <a:t> </a:t>
            </a:r>
            <a:r>
              <a:rPr sz="1400"/>
              <a:t>manag</a:t>
            </a:r>
            <a:r>
              <a:rPr lang="it-IT" sz="1400"/>
              <a:t>ing</a:t>
            </a:r>
            <a:r>
              <a:rPr sz="1400"/>
              <a:t> patient details, medical history and allergies. Because it simulates a real-world legacy system, it uses the SOAP protocol instead of the more modern REST</a:t>
            </a:r>
            <a:r>
              <a:rPr lang="it-IT" sz="1400"/>
              <a:t> to send its data.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Next, we have three modern REST services. </a:t>
            </a:r>
            <a:r>
              <a:rPr lang="it-IT" sz="1400"/>
              <a:t>Starting from the </a:t>
            </a:r>
            <a:r>
              <a:rPr sz="1400" b="1"/>
              <a:t>Laboratorio Service</a:t>
            </a:r>
            <a:r>
              <a:rPr sz="1400"/>
              <a:t> </a:t>
            </a:r>
            <a:r>
              <a:rPr lang="it-IT" sz="1400"/>
              <a:t>which </a:t>
            </a:r>
            <a:r>
              <a:rPr sz="1400"/>
              <a:t>handles medical test orders and results. In the real world, processing a biological sample takes time</a:t>
            </a:r>
            <a:r>
              <a:rPr lang="it-IT" sz="1400"/>
              <a:t>, t</a:t>
            </a:r>
            <a:r>
              <a:rPr sz="1400"/>
              <a:t>herefore this service works asynchronously</a:t>
            </a:r>
            <a:r>
              <a:rPr lang="it-IT" sz="1400"/>
              <a:t>, </a:t>
            </a:r>
            <a:r>
              <a:rPr sz="1400"/>
              <a:t>accept</a:t>
            </a:r>
            <a:r>
              <a:rPr lang="it-IT" sz="1400"/>
              <a:t>ing </a:t>
            </a:r>
            <a:r>
              <a:rPr sz="1400"/>
              <a:t>order</a:t>
            </a:r>
            <a:r>
              <a:rPr lang="it-IT" sz="1400"/>
              <a:t>s</a:t>
            </a:r>
            <a:r>
              <a:rPr sz="1400"/>
              <a:t> immediatel</a:t>
            </a:r>
            <a:r>
              <a:rPr lang="it-IT" sz="1400"/>
              <a:t>y</a:t>
            </a:r>
            <a:r>
              <a:rPr sz="1400"/>
              <a:t> and deliver</a:t>
            </a:r>
            <a:r>
              <a:rPr lang="it-IT" sz="1400"/>
              <a:t>ing</a:t>
            </a:r>
            <a:r>
              <a:rPr sz="1400"/>
              <a:t> the results</a:t>
            </a:r>
            <a:r>
              <a:rPr lang="it-IT" sz="1400"/>
              <a:t> at a</a:t>
            </a:r>
            <a:r>
              <a:rPr sz="1400"/>
              <a:t> later</a:t>
            </a:r>
            <a:r>
              <a:rPr lang="it-IT" sz="1400"/>
              <a:t> time</a:t>
            </a:r>
            <a:r>
              <a:rPr sz="1400"/>
              <a:t>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</a:t>
            </a:r>
            <a:r>
              <a:rPr sz="1400" b="1"/>
              <a:t>Imaging Service</a:t>
            </a:r>
            <a:r>
              <a:rPr sz="1400"/>
              <a:t> works </a:t>
            </a:r>
            <a:r>
              <a:rPr lang="it-IT" sz="1400"/>
              <a:t>in a similar way to Laboratorio Service</a:t>
            </a:r>
            <a:r>
              <a:rPr sz="1400"/>
              <a:t>, but </a:t>
            </a:r>
            <a:r>
              <a:rPr lang="it-IT" sz="1400"/>
              <a:t>instead it</a:t>
            </a:r>
            <a:r>
              <a:rPr sz="1400"/>
              <a:t> manages </a:t>
            </a:r>
            <a:r>
              <a:rPr lang="it-IT" sz="1400"/>
              <a:t>very different data such as </a:t>
            </a:r>
            <a:r>
              <a:rPr sz="1400"/>
              <a:t>radiology reports</a:t>
            </a:r>
            <a:r>
              <a:rPr lang="it-IT" sz="1400"/>
              <a:t>, X-Rays and MRI scans.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Finally, the </a:t>
            </a:r>
            <a:r>
              <a:rPr sz="1400" b="1"/>
              <a:t>Farmacia Service</a:t>
            </a:r>
            <a:r>
              <a:rPr sz="1400"/>
              <a:t> manages active drug prescriptions and includes a</a:t>
            </a:r>
            <a:r>
              <a:rPr lang="it-IT" sz="1400"/>
              <a:t>n endpoint </a:t>
            </a:r>
            <a:r>
              <a:rPr sz="1400"/>
              <a:t>to check for dangerous drug interactions.</a:t>
            </a:r>
            <a:endParaRPr/>
          </a:p>
          <a:p>
            <a:pPr>
              <a:defRPr/>
            </a:pPr>
            <a:r>
              <a:rPr sz="1400"/>
              <a:t>Now, let’s see how we combine all this information</a:t>
            </a:r>
            <a:r>
              <a:rPr lang="it-IT" sz="1400"/>
              <a:t>s</a:t>
            </a:r>
            <a:endParaRPr lang="en-US"/>
          </a:p>
        </p:txBody>
      </p:sp>
      <p:sp>
        <p:nvSpPr>
          <p:cNvPr id="729589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42920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58866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Here are the</a:t>
            </a:r>
            <a:r>
              <a:rPr sz="1400"/>
              <a:t> Service Prosumers</a:t>
            </a:r>
            <a:r>
              <a:rPr lang="it-IT" sz="1400"/>
              <a:t>, we use them t</a:t>
            </a:r>
            <a:r>
              <a:rPr sz="1400"/>
              <a:t>o create a complete view for the clinical staff, </a:t>
            </a:r>
            <a:r>
              <a:rPr lang="it-IT" sz="1400"/>
              <a:t>therefore these</a:t>
            </a:r>
            <a:r>
              <a:rPr sz="1400"/>
              <a:t> components do not just store data but they consume data from the providers and aggregate it.</a:t>
            </a:r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first one is the </a:t>
            </a:r>
            <a:r>
              <a:rPr sz="1400" b="1"/>
              <a:t>Diagnostic Aggregator</a:t>
            </a:r>
            <a:r>
              <a:rPr lang="it-IT" sz="1400"/>
              <a:t>, which </a:t>
            </a:r>
            <a:r>
              <a:rPr sz="1400"/>
              <a:t>communicates with the Laboratorio </a:t>
            </a:r>
            <a:r>
              <a:rPr lang="it-IT" sz="1400"/>
              <a:t>service </a:t>
            </a:r>
            <a:r>
              <a:rPr sz="1400"/>
              <a:t>and </a:t>
            </a:r>
            <a:r>
              <a:rPr lang="it-IT" sz="1400"/>
              <a:t>the </a:t>
            </a:r>
            <a:r>
              <a:rPr sz="1400"/>
              <a:t>Imaging service. It collects the asynchronous test results and combines them into a single complete Diagnostic Bundle</a:t>
            </a:r>
            <a:r>
              <a:rPr lang="it-IT" sz="1400"/>
              <a:t>, it can be customized based on the panel value selectable from the index page.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second one is the </a:t>
            </a:r>
            <a:r>
              <a:rPr sz="1400" b="1"/>
              <a:t>Clinical Aggregator</a:t>
            </a:r>
            <a:r>
              <a:rPr lang="it-IT" sz="1400"/>
              <a:t>, which</a:t>
            </a:r>
            <a:r>
              <a:rPr sz="1400"/>
              <a:t> acts as a technological bridge</a:t>
            </a:r>
            <a:r>
              <a:rPr lang="it-IT" sz="1400"/>
              <a:t> because i</a:t>
            </a:r>
            <a:r>
              <a:rPr sz="1400"/>
              <a:t>t talks to </a:t>
            </a:r>
            <a:r>
              <a:rPr lang="it-IT" sz="1400"/>
              <a:t>both t</a:t>
            </a:r>
            <a:r>
              <a:rPr sz="1400"/>
              <a:t>he SOAP Anagrafe service and the REST Farmacia service, </a:t>
            </a:r>
            <a:r>
              <a:rPr lang="it-IT" sz="1400"/>
              <a:t>unifying </a:t>
            </a:r>
            <a:r>
              <a:rPr sz="1400"/>
              <a:t>the</a:t>
            </a:r>
            <a:r>
              <a:rPr lang="it-IT" sz="1400"/>
              <a:t>ir</a:t>
            </a:r>
            <a:r>
              <a:rPr sz="1400"/>
              <a:t> data and return</a:t>
            </a:r>
            <a:r>
              <a:rPr lang="it-IT" sz="1400"/>
              <a:t>ing</a:t>
            </a:r>
            <a:r>
              <a:rPr sz="1400"/>
              <a:t> a full Clinical Profile of the patient.</a:t>
            </a:r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At the very </a:t>
            </a:r>
            <a:r>
              <a:rPr lang="it-IT" sz="1400"/>
              <a:t>end</a:t>
            </a:r>
            <a:r>
              <a:rPr sz="1400"/>
              <a:t> we have the </a:t>
            </a:r>
            <a:r>
              <a:rPr sz="1400" b="1"/>
              <a:t>Care Coordinator</a:t>
            </a:r>
            <a:r>
              <a:rPr lang="it-IT" sz="1400"/>
              <a:t>, which</a:t>
            </a:r>
            <a:r>
              <a:rPr sz="1400"/>
              <a:t> is the main orchestrator of our platform. It calls both the Clinical and Diagnostic aggregators in parallel, it waits for both </a:t>
            </a:r>
            <a:r>
              <a:rPr lang="it-IT" sz="1400"/>
              <a:t>of them t</a:t>
            </a:r>
            <a:r>
              <a:rPr sz="1400"/>
              <a:t>o finish</a:t>
            </a:r>
            <a:r>
              <a:rPr lang="it-IT" sz="1400"/>
              <a:t> and then </a:t>
            </a:r>
            <a:r>
              <a:rPr sz="1400"/>
              <a:t>cross-references all the data</a:t>
            </a:r>
            <a:r>
              <a:rPr lang="it-IT" sz="1400"/>
              <a:t> </a:t>
            </a:r>
            <a:r>
              <a:rPr sz="1400"/>
              <a:t>applies </a:t>
            </a:r>
            <a:r>
              <a:rPr lang="it-IT" sz="1400"/>
              <a:t>its own </a:t>
            </a:r>
            <a:r>
              <a:rPr sz="1400"/>
              <a:t>business rules to generate</a:t>
            </a:r>
            <a:r>
              <a:rPr lang="it-IT" sz="1400"/>
              <a:t> </a:t>
            </a:r>
            <a:r>
              <a:rPr sz="1400"/>
              <a:t>the final report.</a:t>
            </a:r>
            <a:endParaRPr lang="en-US"/>
          </a:p>
        </p:txBody>
      </p:sp>
      <p:sp>
        <p:nvSpPr>
          <p:cNvPr id="1917116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901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6786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Now l</a:t>
            </a:r>
            <a:r>
              <a:rPr sz="1400"/>
              <a:t>et’s look at our Key Data Structures to see how our data is managed by </a:t>
            </a:r>
            <a:r>
              <a:rPr lang="it-IT" sz="1400"/>
              <a:t>all </a:t>
            </a:r>
            <a:r>
              <a:rPr sz="1400"/>
              <a:t>the components I just described.</a:t>
            </a:r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left side we </a:t>
            </a:r>
            <a:r>
              <a:rPr lang="it-IT" sz="1400"/>
              <a:t>can see </a:t>
            </a:r>
            <a:r>
              <a:rPr sz="1400"/>
              <a:t>the </a:t>
            </a:r>
            <a:r>
              <a:rPr sz="1400" b="1"/>
              <a:t>Domain Objects</a:t>
            </a:r>
            <a:r>
              <a:rPr lang="it-IT" sz="1400"/>
              <a:t>, t</a:t>
            </a:r>
            <a:r>
              <a:rPr sz="1400"/>
              <a:t>hese are the simple data units managed by our providers, such as patient</a:t>
            </a:r>
            <a:r>
              <a:rPr lang="it-IT" sz="1400"/>
              <a:t>s</a:t>
            </a:r>
            <a:r>
              <a:rPr sz="1400"/>
              <a:t>, conditions, allergies a</a:t>
            </a:r>
            <a:r>
              <a:rPr lang="it-IT" sz="1400"/>
              <a:t>nd </a:t>
            </a:r>
            <a:r>
              <a:rPr sz="1400"/>
              <a:t>measurements, </a:t>
            </a:r>
            <a:r>
              <a:rPr lang="it-IT" sz="1400"/>
              <a:t>each one of them with all of their </a:t>
            </a:r>
            <a:r>
              <a:rPr sz="1400"/>
              <a:t>attributes on screen.</a:t>
            </a:r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right side we have the </a:t>
            </a:r>
            <a:r>
              <a:rPr sz="1400" b="1"/>
              <a:t>Composed Objects</a:t>
            </a:r>
            <a:r>
              <a:rPr sz="1400"/>
              <a:t> created by our Prosumers.</a:t>
            </a:r>
            <a:r>
              <a:rPr lang="it-IT" sz="1400"/>
              <a:t> T</a:t>
            </a:r>
            <a:r>
              <a:rPr sz="1400"/>
              <a:t>he Diagnostic Bundle and the Clinical Profile represent the first level of </a:t>
            </a:r>
            <a:r>
              <a:rPr lang="it-IT" sz="1400"/>
              <a:t>composed data, respectively managed by the Diagnostic and Clinical aggregators.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</a:t>
            </a:r>
            <a:r>
              <a:rPr lang="it-IT" sz="1400"/>
              <a:t>nother</a:t>
            </a:r>
            <a:r>
              <a:rPr sz="1400"/>
              <a:t> important </a:t>
            </a:r>
            <a:r>
              <a:rPr lang="it-IT" sz="1400"/>
              <a:t>data </a:t>
            </a:r>
            <a:r>
              <a:rPr sz="1400"/>
              <a:t>structure</a:t>
            </a:r>
            <a:r>
              <a:rPr lang="it-IT" sz="1400"/>
              <a:t> </a:t>
            </a:r>
            <a:r>
              <a:rPr sz="1400"/>
              <a:t>is the Risk Flag</a:t>
            </a:r>
            <a:r>
              <a:rPr lang="it-IT" sz="1400"/>
              <a:t>, they ar</a:t>
            </a:r>
            <a:r>
              <a:rPr sz="1400"/>
              <a:t>e </a:t>
            </a:r>
            <a:r>
              <a:rPr lang="it-IT" sz="1400"/>
              <a:t> managed by the </a:t>
            </a:r>
            <a:r>
              <a:rPr sz="1400"/>
              <a:t>Care Coordinator</a:t>
            </a:r>
            <a:r>
              <a:rPr lang="it-IT" sz="1400"/>
              <a:t>, which </a:t>
            </a:r>
            <a:r>
              <a:rPr sz="1400"/>
              <a:t>creates these flags automatically if it detects a dangerous situation. For example, if a doctor prescribes a drug that conflicts with a patient's allergy, or if a lab</a:t>
            </a:r>
            <a:r>
              <a:rPr lang="it-IT" sz="1400"/>
              <a:t>oratory</a:t>
            </a:r>
            <a:r>
              <a:rPr sz="1400"/>
              <a:t> test value is critically bad, the system generates a warning flag.</a:t>
            </a:r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All of this information is packed into the final Fitness Report</a:t>
            </a:r>
            <a:r>
              <a:rPr lang="it-IT" sz="1400"/>
              <a:t>, which gives to </a:t>
            </a:r>
            <a:r>
              <a:rPr sz="1400"/>
              <a:t>the doctor a clear evaluation summary</a:t>
            </a:r>
            <a:r>
              <a:rPr lang="it-IT" sz="1400"/>
              <a:t>, and it can assume 3 values: “</a:t>
            </a:r>
            <a:r>
              <a:rPr sz="1400"/>
              <a:t>Fit</a:t>
            </a:r>
            <a:r>
              <a:rPr lang="it-IT" sz="1400"/>
              <a:t>”</a:t>
            </a:r>
            <a:r>
              <a:rPr sz="1400"/>
              <a:t>, </a:t>
            </a:r>
            <a:r>
              <a:rPr lang="it-IT" sz="1400"/>
              <a:t>“</a:t>
            </a:r>
            <a:r>
              <a:rPr sz="1400"/>
              <a:t>Fit with Reservation</a:t>
            </a:r>
            <a:r>
              <a:rPr lang="it-IT" sz="1400"/>
              <a:t>”</a:t>
            </a:r>
            <a:r>
              <a:rPr sz="1400"/>
              <a:t> or </a:t>
            </a:r>
            <a:r>
              <a:rPr lang="it-IT" sz="1400"/>
              <a:t>“</a:t>
            </a:r>
            <a:r>
              <a:rPr sz="1400"/>
              <a:t>Unfit</a:t>
            </a:r>
            <a:r>
              <a:rPr lang="it-IT" sz="1400"/>
              <a:t>”,</a:t>
            </a:r>
            <a:r>
              <a:rPr sz="1400"/>
              <a:t> along with the patient summary and the list of risk factors.</a:t>
            </a:r>
            <a:endParaRPr lang="en-US"/>
          </a:p>
        </p:txBody>
      </p:sp>
      <p:sp>
        <p:nvSpPr>
          <p:cNvPr id="1740447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31903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19216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2829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0101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745288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dirty="0"/>
              <a:t>The goal of </a:t>
            </a:r>
            <a:r>
              <a:rPr lang="it-IT" dirty="0" err="1"/>
              <a:t>HealthSOA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to assist </a:t>
            </a:r>
            <a:r>
              <a:rPr lang="it-IT" dirty="0" err="1"/>
              <a:t>healthcare</a:t>
            </a:r>
            <a:r>
              <a:rPr lang="it-IT" dirty="0"/>
              <a:t> </a:t>
            </a:r>
            <a:r>
              <a:rPr lang="it-IT" dirty="0" err="1"/>
              <a:t>professionals</a:t>
            </a:r>
            <a:r>
              <a:rPr lang="it-IT" dirty="0"/>
              <a:t> in </a:t>
            </a:r>
            <a:r>
              <a:rPr lang="it-IT" dirty="0" err="1"/>
              <a:t>collecting</a:t>
            </a:r>
            <a:r>
              <a:rPr lang="it-IT" dirty="0"/>
              <a:t> and </a:t>
            </a:r>
            <a:r>
              <a:rPr lang="it-IT" dirty="0" err="1"/>
              <a:t>analysing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the clinical information </a:t>
            </a:r>
            <a:r>
              <a:rPr lang="it-IT" dirty="0" err="1"/>
              <a:t>required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a </a:t>
            </a:r>
            <a:r>
              <a:rPr lang="it-IT" dirty="0" err="1"/>
              <a:t>medical</a:t>
            </a:r>
            <a:r>
              <a:rPr lang="it-IT" dirty="0"/>
              <a:t> procedure. To </a:t>
            </a:r>
            <a:r>
              <a:rPr lang="it-IT" dirty="0" err="1"/>
              <a:t>achieve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identified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</a:t>
            </a:r>
            <a:r>
              <a:rPr lang="it-IT" dirty="0" err="1"/>
              <a:t>main</a:t>
            </a:r>
            <a:r>
              <a:rPr lang="it-IT" dirty="0"/>
              <a:t> use </a:t>
            </a:r>
            <a:r>
              <a:rPr lang="it-IT" dirty="0" err="1"/>
              <a:t>cases</a:t>
            </a:r>
            <a:r>
              <a:rPr lang="it-IT" dirty="0"/>
              <a:t>. </a:t>
            </a:r>
            <a:endParaRPr lang="en-US" dirty="0"/>
          </a:p>
        </p:txBody>
      </p:sp>
      <p:sp>
        <p:nvSpPr>
          <p:cNvPr id="1823016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05190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48104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dirty="0"/>
              <a:t>In </a:t>
            </a:r>
            <a:r>
              <a:rPr lang="it-IT" dirty="0" err="1"/>
              <a:t>this</a:t>
            </a:r>
            <a:r>
              <a:rPr lang="it-IT" dirty="0"/>
              <a:t> scenario, the </a:t>
            </a:r>
            <a:r>
              <a:rPr lang="it-IT" dirty="0" err="1"/>
              <a:t>physician</a:t>
            </a:r>
            <a:r>
              <a:rPr lang="it-IT" dirty="0"/>
              <a:t> </a:t>
            </a:r>
            <a:r>
              <a:rPr lang="it-IT" dirty="0" err="1"/>
              <a:t>requests</a:t>
            </a:r>
            <a:r>
              <a:rPr lang="it-IT" dirty="0"/>
              <a:t> a complete </a:t>
            </a:r>
            <a:r>
              <a:rPr lang="it-IT" dirty="0" err="1"/>
              <a:t>evaluation</a:t>
            </a:r>
            <a:r>
              <a:rPr lang="it-IT" dirty="0"/>
              <a:t> of a </a:t>
            </a:r>
            <a:r>
              <a:rPr lang="it-IT" dirty="0" err="1"/>
              <a:t>patient's</a:t>
            </a:r>
            <a:r>
              <a:rPr lang="it-IT" dirty="0"/>
              <a:t> </a:t>
            </a:r>
            <a:r>
              <a:rPr lang="it-IT" dirty="0" err="1"/>
              <a:t>suitability</a:t>
            </a:r>
            <a:r>
              <a:rPr lang="it-IT" dirty="0"/>
              <a:t> for a </a:t>
            </a:r>
            <a:r>
              <a:rPr lang="it-IT" dirty="0" err="1"/>
              <a:t>medical</a:t>
            </a:r>
            <a:r>
              <a:rPr lang="it-IT" dirty="0"/>
              <a:t> procedure or surgery. </a:t>
            </a:r>
          </a:p>
          <a:p>
            <a:pPr>
              <a:defRPr/>
            </a:pPr>
            <a:endParaRPr lang="it-IT" dirty="0"/>
          </a:p>
          <a:p>
            <a:pPr>
              <a:defRPr/>
            </a:pPr>
            <a:r>
              <a:rPr lang="it-IT" dirty="0"/>
              <a:t>From a </a:t>
            </a:r>
            <a:r>
              <a:rPr lang="it-IT" dirty="0" err="1"/>
              <a:t>functional</a:t>
            </a:r>
            <a:r>
              <a:rPr lang="it-IT" dirty="0"/>
              <a:t> </a:t>
            </a:r>
            <a:r>
              <a:rPr lang="it-IT" dirty="0" err="1"/>
              <a:t>perspective</a:t>
            </a:r>
            <a:r>
              <a:rPr lang="it-IT" dirty="0"/>
              <a:t>, </a:t>
            </a:r>
            <a:r>
              <a:rPr lang="it-IT" dirty="0" err="1"/>
              <a:t>this</a:t>
            </a:r>
            <a:r>
              <a:rPr lang="it-IT" dirty="0"/>
              <a:t> use case </a:t>
            </a:r>
            <a:r>
              <a:rPr lang="it-IT" dirty="0" err="1"/>
              <a:t>transforms</a:t>
            </a:r>
            <a:r>
              <a:rPr lang="it-IT" dirty="0"/>
              <a:t> data coming from multiple sources </a:t>
            </a:r>
            <a:r>
              <a:rPr lang="it-IT" dirty="0" err="1"/>
              <a:t>into</a:t>
            </a:r>
            <a:r>
              <a:rPr lang="it-IT" dirty="0"/>
              <a:t> a single clinical </a:t>
            </a:r>
            <a:r>
              <a:rPr lang="it-IT" dirty="0" err="1"/>
              <a:t>assessment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ready to support </a:t>
            </a:r>
            <a:r>
              <a:rPr lang="it-IT" dirty="0" err="1"/>
              <a:t>medical</a:t>
            </a:r>
            <a:r>
              <a:rPr lang="it-IT" dirty="0"/>
              <a:t> decision-making.</a:t>
            </a:r>
            <a:endParaRPr dirty="0"/>
          </a:p>
        </p:txBody>
      </p:sp>
      <p:sp>
        <p:nvSpPr>
          <p:cNvPr id="1774813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25564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66397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dirty="0"/>
              <a:t>In </a:t>
            </a:r>
            <a:r>
              <a:rPr lang="it-IT" dirty="0" err="1"/>
              <a:t>this</a:t>
            </a:r>
            <a:r>
              <a:rPr lang="it-IT" dirty="0"/>
              <a:t> scenario, the </a:t>
            </a:r>
            <a:r>
              <a:rPr lang="it-IT" dirty="0" err="1"/>
              <a:t>physician</a:t>
            </a:r>
            <a:r>
              <a:rPr lang="it-IT" dirty="0"/>
              <a:t> </a:t>
            </a:r>
            <a:r>
              <a:rPr lang="it-IT" dirty="0" err="1"/>
              <a:t>does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require</a:t>
            </a:r>
            <a:r>
              <a:rPr lang="it-IT" dirty="0"/>
              <a:t> a complete </a:t>
            </a:r>
            <a:r>
              <a:rPr lang="it-IT" dirty="0" err="1"/>
              <a:t>assessment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simply</a:t>
            </a:r>
            <a:r>
              <a:rPr lang="it-IT" dirty="0"/>
              <a:t> </a:t>
            </a:r>
            <a:r>
              <a:rPr lang="it-IT" dirty="0" err="1"/>
              <a:t>wants</a:t>
            </a:r>
            <a:r>
              <a:rPr lang="it-IT" dirty="0"/>
              <a:t> to review the </a:t>
            </a:r>
            <a:r>
              <a:rPr lang="it-IT" dirty="0" err="1"/>
              <a:t>patient's</a:t>
            </a:r>
            <a:r>
              <a:rPr lang="it-IT" dirty="0"/>
              <a:t> </a:t>
            </a:r>
            <a:r>
              <a:rPr lang="it-IT" dirty="0" err="1"/>
              <a:t>medical</a:t>
            </a:r>
            <a:r>
              <a:rPr lang="it-IT" dirty="0"/>
              <a:t> background. </a:t>
            </a:r>
          </a:p>
          <a:p>
            <a:pPr>
              <a:defRPr/>
            </a:pPr>
            <a:endParaRPr lang="it-IT" dirty="0"/>
          </a:p>
          <a:p>
            <a:pPr>
              <a:defRPr/>
            </a:pPr>
            <a:r>
              <a:rPr lang="it-IT" dirty="0"/>
              <a:t>From the end </a:t>
            </a:r>
            <a:r>
              <a:rPr lang="it-IT" dirty="0" err="1"/>
              <a:t>user's</a:t>
            </a:r>
            <a:r>
              <a:rPr lang="it-IT" dirty="0"/>
              <a:t> </a:t>
            </a:r>
            <a:r>
              <a:rPr lang="it-IT" dirty="0" err="1"/>
              <a:t>perspective</a:t>
            </a:r>
            <a:r>
              <a:rPr lang="it-IT" dirty="0"/>
              <a:t>, </a:t>
            </a:r>
            <a:r>
              <a:rPr lang="it-IT" dirty="0" err="1"/>
              <a:t>there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 </a:t>
            </a:r>
            <a:r>
              <a:rPr lang="it-IT" dirty="0" err="1"/>
              <a:t>need</a:t>
            </a:r>
            <a:r>
              <a:rPr lang="it-IT" dirty="0"/>
              <a:t> to query multiple systems </a:t>
            </a:r>
            <a:r>
              <a:rPr lang="it-IT" dirty="0" err="1"/>
              <a:t>separately</a:t>
            </a:r>
            <a:r>
              <a:rPr lang="it-IT" dirty="0"/>
              <a:t>: </a:t>
            </a: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relevant</a:t>
            </a:r>
            <a:r>
              <a:rPr lang="it-IT" dirty="0"/>
              <a:t> information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presented</a:t>
            </a:r>
            <a:r>
              <a:rPr lang="it-IT" dirty="0"/>
              <a:t> in a single, </a:t>
            </a:r>
            <a:r>
              <a:rPr lang="it-IT" dirty="0" err="1"/>
              <a:t>coherent</a:t>
            </a:r>
            <a:r>
              <a:rPr lang="it-IT" dirty="0"/>
              <a:t> </a:t>
            </a:r>
            <a:r>
              <a:rPr lang="it-IT" dirty="0" err="1"/>
              <a:t>view</a:t>
            </a:r>
            <a:r>
              <a:rPr lang="it-IT" dirty="0"/>
              <a:t>.</a:t>
            </a:r>
            <a:endParaRPr dirty="0"/>
          </a:p>
        </p:txBody>
      </p:sp>
      <p:sp>
        <p:nvSpPr>
          <p:cNvPr id="964123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301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236260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dirty="0"/>
              <a:t>The </a:t>
            </a:r>
            <a:r>
              <a:rPr lang="it-IT" dirty="0" err="1"/>
              <a:t>physician</a:t>
            </a:r>
            <a:r>
              <a:rPr lang="it-IT" dirty="0"/>
              <a:t> can </a:t>
            </a:r>
            <a:r>
              <a:rPr lang="it-IT" dirty="0" err="1"/>
              <a:t>request</a:t>
            </a:r>
            <a:r>
              <a:rPr lang="it-IT" dirty="0"/>
              <a:t> a </a:t>
            </a:r>
            <a:r>
              <a:rPr lang="it-IT" dirty="0" err="1"/>
              <a:t>diagnostic</a:t>
            </a:r>
            <a:r>
              <a:rPr lang="it-IT" dirty="0"/>
              <a:t> panel, </a:t>
            </a:r>
            <a:r>
              <a:rPr lang="it-IT" dirty="0" err="1"/>
              <a:t>such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renal</a:t>
            </a:r>
            <a:r>
              <a:rPr lang="it-IT" dirty="0"/>
              <a:t> or </a:t>
            </a:r>
            <a:r>
              <a:rPr lang="it-IT" dirty="0" err="1"/>
              <a:t>metabolic</a:t>
            </a:r>
            <a:r>
              <a:rPr lang="it-IT" dirty="0"/>
              <a:t> panel. </a:t>
            </a:r>
            <a:endParaRPr dirty="0"/>
          </a:p>
        </p:txBody>
      </p:sp>
      <p:sp>
        <p:nvSpPr>
          <p:cNvPr id="835117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36768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73414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dirty="0"/>
              <a:t>In </a:t>
            </a:r>
            <a:r>
              <a:rPr lang="it-IT" dirty="0" err="1"/>
              <a:t>this</a:t>
            </a:r>
            <a:r>
              <a:rPr lang="it-IT" dirty="0"/>
              <a:t> scenario, the </a:t>
            </a:r>
            <a:r>
              <a:rPr lang="it-IT" dirty="0" err="1"/>
              <a:t>physician</a:t>
            </a:r>
            <a:r>
              <a:rPr lang="it-IT" dirty="0"/>
              <a:t> </a:t>
            </a:r>
            <a:r>
              <a:rPr lang="it-IT" dirty="0" err="1"/>
              <a:t>creates</a:t>
            </a:r>
            <a:r>
              <a:rPr lang="it-IT" dirty="0"/>
              <a:t> a new </a:t>
            </a:r>
            <a:r>
              <a:rPr lang="it-IT" dirty="0" err="1"/>
              <a:t>prescription</a:t>
            </a:r>
            <a:r>
              <a:rPr lang="it-IT" dirty="0"/>
              <a:t> for a </a:t>
            </a:r>
            <a:r>
              <a:rPr lang="it-IT" dirty="0" err="1"/>
              <a:t>patient</a:t>
            </a:r>
            <a:r>
              <a:rPr lang="it-IT" dirty="0"/>
              <a:t>.</a:t>
            </a:r>
            <a:endParaRPr dirty="0"/>
          </a:p>
        </p:txBody>
      </p:sp>
      <p:sp>
        <p:nvSpPr>
          <p:cNvPr id="4826367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18770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40440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dirty="0"/>
              <a:t>To conclude,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architecture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built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technologies</a:t>
            </a:r>
            <a:r>
              <a:rPr lang="it-IT" dirty="0"/>
              <a:t> </a:t>
            </a:r>
            <a:r>
              <a:rPr lang="it-IT" dirty="0" err="1"/>
              <a:t>commonly</a:t>
            </a:r>
            <a:r>
              <a:rPr lang="it-IT" dirty="0"/>
              <a:t> </a:t>
            </a:r>
            <a:r>
              <a:rPr lang="it-IT" dirty="0" err="1"/>
              <a:t>adopted</a:t>
            </a:r>
            <a:r>
              <a:rPr lang="it-IT" dirty="0"/>
              <a:t> in </a:t>
            </a:r>
            <a:r>
              <a:rPr lang="it-IT" dirty="0" err="1"/>
              <a:t>modern</a:t>
            </a:r>
            <a:r>
              <a:rPr lang="it-IT" dirty="0"/>
              <a:t> </a:t>
            </a:r>
            <a:r>
              <a:rPr lang="it-IT" dirty="0" err="1"/>
              <a:t>microservice</a:t>
            </a:r>
            <a:r>
              <a:rPr lang="it-IT" dirty="0"/>
              <a:t> </a:t>
            </a:r>
            <a:r>
              <a:rPr lang="it-IT" dirty="0" err="1"/>
              <a:t>ecosystems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Java 17 and Spring Boot </a:t>
            </a:r>
            <a:r>
              <a:rPr lang="it-IT" dirty="0" err="1"/>
              <a:t>as</a:t>
            </a:r>
            <a:r>
              <a:rPr lang="it-IT" dirty="0"/>
              <a:t> the </a:t>
            </a:r>
            <a:r>
              <a:rPr lang="it-IT" dirty="0" err="1"/>
              <a:t>application</a:t>
            </a:r>
            <a:r>
              <a:rPr lang="it-IT" dirty="0"/>
              <a:t> </a:t>
            </a:r>
            <a:r>
              <a:rPr lang="it-IT" dirty="0" err="1"/>
              <a:t>foundation</a:t>
            </a:r>
            <a:r>
              <a:rPr lang="it-IT" dirty="0"/>
              <a:t>, Spring Cloud for service </a:t>
            </a:r>
            <a:r>
              <a:rPr lang="it-IT" dirty="0" err="1"/>
              <a:t>discovery</a:t>
            </a:r>
            <a:r>
              <a:rPr lang="it-IT" dirty="0"/>
              <a:t>, gateway management and inter-service </a:t>
            </a:r>
            <a:r>
              <a:rPr lang="it-IT" dirty="0" err="1"/>
              <a:t>communication</a:t>
            </a:r>
            <a:r>
              <a:rPr lang="it-IT" dirty="0"/>
              <a:t>, Apache CXF for SOAP </a:t>
            </a:r>
            <a:r>
              <a:rPr lang="it-IT" dirty="0" err="1"/>
              <a:t>integration</a:t>
            </a:r>
            <a:r>
              <a:rPr lang="it-IT" dirty="0"/>
              <a:t> with the Patient </a:t>
            </a:r>
            <a:r>
              <a:rPr lang="it-IT" dirty="0" err="1"/>
              <a:t>Registry</a:t>
            </a:r>
            <a:r>
              <a:rPr lang="it-IT" dirty="0"/>
              <a:t>, MySQL for data </a:t>
            </a:r>
            <a:r>
              <a:rPr lang="it-IT" dirty="0" err="1"/>
              <a:t>persistence</a:t>
            </a:r>
            <a:r>
              <a:rPr lang="it-IT" dirty="0"/>
              <a:t>, and Docker for deployment of the </a:t>
            </a:r>
            <a:r>
              <a:rPr lang="it-IT" dirty="0" err="1"/>
              <a:t>entire</a:t>
            </a:r>
            <a:r>
              <a:rPr lang="it-IT" dirty="0"/>
              <a:t> </a:t>
            </a:r>
            <a:r>
              <a:rPr lang="it-IT" dirty="0" err="1"/>
              <a:t>platform</a:t>
            </a:r>
            <a:r>
              <a:rPr lang="it-IT" dirty="0"/>
              <a:t>. </a:t>
            </a:r>
            <a:r>
              <a:rPr lang="it-IT" dirty="0" err="1"/>
              <a:t>Together</a:t>
            </a:r>
            <a:r>
              <a:rPr lang="it-IT" dirty="0"/>
              <a:t>,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technologies</a:t>
            </a:r>
            <a:r>
              <a:rPr lang="it-IT" dirty="0"/>
              <a:t>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build a </a:t>
            </a:r>
            <a:r>
              <a:rPr lang="it-IT" dirty="0" err="1"/>
              <a:t>platform</a:t>
            </a:r>
            <a:r>
              <a:rPr lang="it-IT" dirty="0"/>
              <a:t> </a:t>
            </a:r>
            <a:r>
              <a:rPr lang="it-IT" dirty="0" err="1"/>
              <a:t>capable</a:t>
            </a:r>
            <a:r>
              <a:rPr lang="it-IT" dirty="0"/>
              <a:t> of </a:t>
            </a:r>
            <a:r>
              <a:rPr lang="it-IT" dirty="0" err="1"/>
              <a:t>integrating</a:t>
            </a:r>
            <a:r>
              <a:rPr lang="it-IT" dirty="0"/>
              <a:t> clinical information coming from </a:t>
            </a:r>
            <a:r>
              <a:rPr lang="it-IT" dirty="0" err="1"/>
              <a:t>heterogeneous</a:t>
            </a:r>
            <a:r>
              <a:rPr lang="it-IT" dirty="0"/>
              <a:t> systems and </a:t>
            </a:r>
            <a:r>
              <a:rPr lang="it-IT" dirty="0" err="1"/>
              <a:t>presenting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to </a:t>
            </a:r>
            <a:r>
              <a:rPr lang="it-IT" dirty="0" err="1"/>
              <a:t>healthcare</a:t>
            </a:r>
            <a:r>
              <a:rPr lang="it-IT" dirty="0"/>
              <a:t> </a:t>
            </a:r>
            <a:r>
              <a:rPr lang="it-IT" dirty="0" err="1"/>
              <a:t>professionals</a:t>
            </a:r>
            <a:r>
              <a:rPr lang="it-IT" dirty="0"/>
              <a:t> </a:t>
            </a:r>
            <a:r>
              <a:rPr lang="it-IT" dirty="0" err="1"/>
              <a:t>through</a:t>
            </a:r>
            <a:r>
              <a:rPr lang="it-IT" dirty="0"/>
              <a:t> a single, </a:t>
            </a:r>
            <a:r>
              <a:rPr lang="it-IT" dirty="0" err="1"/>
              <a:t>consistent</a:t>
            </a:r>
            <a:r>
              <a:rPr lang="it-IT" dirty="0"/>
              <a:t>, and easy-to-use </a:t>
            </a:r>
            <a:r>
              <a:rPr lang="it-IT" dirty="0" err="1"/>
              <a:t>interface</a:t>
            </a:r>
            <a:r>
              <a:rPr lang="it-IT" dirty="0"/>
              <a:t>.</a:t>
            </a:r>
            <a:endParaRPr lang="en-US" dirty="0"/>
          </a:p>
        </p:txBody>
      </p:sp>
      <p:sp>
        <p:nvSpPr>
          <p:cNvPr id="3906296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745164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513447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112793722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955276649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1337536795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25708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Domain, Architecture &amp; Infrastructure</a:t>
            </a:r>
            <a:endParaRPr lang="en-US" sz="4200"/>
          </a:p>
        </p:txBody>
      </p:sp>
      <p:sp>
        <p:nvSpPr>
          <p:cNvPr id="1367794536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Edoardo Di Giuseppe</a:t>
            </a:r>
            <a:endParaRPr lang="en-US" sz="2000"/>
          </a:p>
        </p:txBody>
      </p:sp>
      <p:sp>
        <p:nvSpPr>
          <p:cNvPr id="501967184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21776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62703146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809763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12818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6933044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321071507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not an aesthetic choice.</a:t>
            </a:r>
            <a:endParaRPr lang="en-US" sz="1050"/>
          </a:p>
        </p:txBody>
      </p:sp>
      <p:sp>
        <p:nvSpPr>
          <p:cNvPr id="1952491662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575094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1114873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2124738382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1730341385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30854464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6366172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1085189321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1851638565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22729063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7684366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1175995587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4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41518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808524785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74208601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1504138775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856670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66032785" name="Shape 1"/>
          <p:cNvSpPr/>
          <p:nvPr/>
        </p:nvSpPr>
        <p:spPr bwMode="auto">
          <a:xfrm>
            <a:off x="457200" y="745235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5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62011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1326310714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893726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2696462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729065759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0781031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179566774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468570463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hardcoded values</a:t>
            </a:r>
            <a:endParaRPr lang="en-US" sz="1050"/>
          </a:p>
        </p:txBody>
      </p:sp>
      <p:sp>
        <p:nvSpPr>
          <p:cNvPr id="1484132550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166989186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763448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1565240535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3981433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874732665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address book</a:t>
            </a:r>
            <a:endParaRPr lang="en-US" sz="1050"/>
          </a:p>
        </p:txBody>
      </p:sp>
      <p:sp>
        <p:nvSpPr>
          <p:cNvPr id="686187129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1292157611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1878846985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78861419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2090059345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9603525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236029111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clients never call services directly, only /api/&lt;prefix&gt;/**</a:t>
            </a:r>
            <a:endParaRPr lang="en-US" sz="1050"/>
          </a:p>
        </p:txBody>
      </p:sp>
      <p:sp>
        <p:nvSpPr>
          <p:cNvPr id="1480185824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560972177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44897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72301196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6311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147540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1541723198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1779607353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demographics, history, allergies queried by every request</a:t>
            </a:r>
            <a:endParaRPr lang="en-US" sz="950"/>
          </a:p>
        </p:txBody>
      </p:sp>
      <p:sp>
        <p:nvSpPr>
          <p:cNvPr id="1220317585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141158084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1140621748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71966449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any replica handles any request</a:t>
            </a:r>
            <a:endParaRPr lang="en-US" sz="950"/>
          </a:p>
        </p:txBody>
      </p:sp>
      <p:sp>
        <p:nvSpPr>
          <p:cNvPr id="882421602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1885066637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1475900742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2081137157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05168977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444557092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1836096970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routes.</a:t>
            </a:r>
            <a:endParaRPr lang="en-US" sz="950"/>
          </a:p>
        </p:txBody>
      </p:sp>
      <p:sp>
        <p:nvSpPr>
          <p:cNvPr id="194141053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2008582489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2111904669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823780024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IP, no port. Round-robin load balancing is implicit.</a:t>
            </a:r>
            <a:endParaRPr lang="en-US" sz="950"/>
          </a:p>
        </p:txBody>
      </p:sp>
      <p:sp>
        <p:nvSpPr>
          <p:cNvPr id="1933844270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1624389890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485169964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880557733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1467880246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6465608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Providers, Prosumers &amp; Data Model</a:t>
            </a:r>
            <a:endParaRPr lang="en-US" sz="4200"/>
          </a:p>
        </p:txBody>
      </p:sp>
      <p:sp>
        <p:nvSpPr>
          <p:cNvPr id="363591960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280467976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101399179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Lorenzo Di Giandomenico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8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14634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175052078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0698073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9121782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459819788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5896124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68771805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7461957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2068516429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2524085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1894854265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58108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95361060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9757777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(CXF)</a:t>
            </a:r>
            <a:endParaRPr lang="en-US" sz="1100"/>
          </a:p>
        </p:txBody>
      </p:sp>
      <p:sp>
        <p:nvSpPr>
          <p:cNvPr id="820490955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20542973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2103944274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969512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known allergies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b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</a:b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ontract-first WSDL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890303727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8705526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480881850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1078149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708172871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9119752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948338344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1355186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and measurements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status polling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 retrieval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635943062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6292456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248532303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4290569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426113234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7836688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34029844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1819250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dirty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prescription endpoint</a:t>
            </a:r>
            <a:r>
              <a:rPr lang="it-IT" sz="1100" dirty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 dirty="0"/>
          </a:p>
        </p:txBody>
      </p:sp>
      <p:sp>
        <p:nvSpPr>
          <p:cNvPr id="408836649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1575352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Service</a:t>
            </a:r>
            <a:endParaRPr lang="en-US" sz="1100"/>
          </a:p>
        </p:txBody>
      </p:sp>
      <p:sp>
        <p:nvSpPr>
          <p:cNvPr id="1270258783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2482453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211207687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9414501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435991905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7218129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– Exams are already done, only the resulting images are sent.</a:t>
            </a:r>
            <a:endParaRPr lang="en-US" sz="1100"/>
          </a:p>
        </p:txBody>
      </p:sp>
      <p:sp>
        <p:nvSpPr>
          <p:cNvPr id="392129947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9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22559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1937505551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6806582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272324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983519055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1909971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718624972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7489136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2067453436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87552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1031119483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1378863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068608723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8168248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1897880171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7857644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Serivce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</a:t>
            </a:r>
            <a:endParaRPr lang="en-US" sz="1050"/>
          </a:p>
        </p:txBody>
      </p:sp>
      <p:sp>
        <p:nvSpPr>
          <p:cNvPr id="329016977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66592962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diagnostic panel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process the request asynchronously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compose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TestResults and ImagingReports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filtered by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panel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value, to build a DiagnosticBundle.</a:t>
            </a:r>
            <a:endParaRPr lang="en-US" sz="1050"/>
          </a:p>
        </p:txBody>
      </p:sp>
      <p:sp>
        <p:nvSpPr>
          <p:cNvPr id="1128296764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479318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486941252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5356529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12850482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2321193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(SOAP/CXF)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222447723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31734248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compose demographics + history + prescriptions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to build a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ClinicalProfile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050"/>
          </a:p>
        </p:txBody>
      </p:sp>
      <p:sp>
        <p:nvSpPr>
          <p:cNvPr id="2075653385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6442535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1996994213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4941289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1236487815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0215457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</a:p>
          <a:p>
            <a:pPr marL="0" indent="0">
              <a:buNone/>
              <a:defRPr/>
            </a:pPr>
            <a:r>
              <a:rPr lang="it-IT" sz="10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Here we consume Prosumers!</a:t>
            </a:r>
            <a:endParaRPr sz="1050" i="1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9600126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62521570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omplete fitness assessment for a patient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done with p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arallel orchestration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- </a:t>
            </a:r>
            <a:r>
              <a:rPr>
                <a:solidFill>
                  <a:srgbClr val="595959"/>
                </a:solidFill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cross-reference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into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FitnessReport</a:t>
            </a:r>
            <a:r>
              <a:rPr lang="it-IT" sz="1050"/>
              <a:t>.</a:t>
            </a:r>
            <a:endParaRPr lang="en-US" sz="1050"/>
          </a:p>
        </p:txBody>
      </p:sp>
      <p:sp>
        <p:nvSpPr>
          <p:cNvPr id="364593701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1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4737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2137556125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087060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1118332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1325316868" name="Text 4"/>
          <p:cNvSpPr/>
          <p:nvPr/>
        </p:nvSpPr>
        <p:spPr bwMode="auto">
          <a:xfrm>
            <a:off x="640079" y="17922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1670157430" name="Text 5"/>
          <p:cNvSpPr/>
          <p:nvPr/>
        </p:nvSpPr>
        <p:spPr bwMode="auto">
          <a:xfrm>
            <a:off x="1874519" y="17465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first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name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last name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irth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· gender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phone number</a:t>
            </a:r>
            <a:endParaRPr lang="en-US" sz="900"/>
          </a:p>
        </p:txBody>
      </p:sp>
      <p:sp>
        <p:nvSpPr>
          <p:cNvPr id="718084211" name="Text 6"/>
          <p:cNvSpPr/>
          <p:nvPr/>
        </p:nvSpPr>
        <p:spPr bwMode="auto">
          <a:xfrm>
            <a:off x="640079" y="22494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886733041" name="Text 7"/>
          <p:cNvSpPr/>
          <p:nvPr/>
        </p:nvSpPr>
        <p:spPr bwMode="auto">
          <a:xfrm>
            <a:off x="1874519" y="22037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10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description · diagnosis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· status (ACTIVE/RESOLVED)</a:t>
            </a:r>
            <a:endParaRPr lang="en-US" sz="900"/>
          </a:p>
        </p:txBody>
      </p:sp>
      <p:sp>
        <p:nvSpPr>
          <p:cNvPr id="1594125820" name="Text 8"/>
          <p:cNvSpPr/>
          <p:nvPr/>
        </p:nvSpPr>
        <p:spPr bwMode="auto">
          <a:xfrm>
            <a:off x="640079" y="27066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761286737" name="Text 9"/>
          <p:cNvSpPr/>
          <p:nvPr/>
        </p:nvSpPr>
        <p:spPr bwMode="auto">
          <a:xfrm>
            <a:off x="1874519" y="26609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substance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severity (MILD/SEVERE/ANAPHYLACTIC) · detected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</a:t>
            </a:r>
            <a:endParaRPr lang="en-US" sz="900"/>
          </a:p>
        </p:txBody>
      </p:sp>
      <p:sp>
        <p:nvSpPr>
          <p:cNvPr id="1903468509" name="Text 10"/>
          <p:cNvSpPr/>
          <p:nvPr/>
        </p:nvSpPr>
        <p:spPr bwMode="auto">
          <a:xfrm>
            <a:off x="640079" y="316382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115460444" name="Text 11"/>
          <p:cNvSpPr/>
          <p:nvPr/>
        </p:nvSpPr>
        <p:spPr bwMode="auto">
          <a:xfrm>
            <a:off x="1874519" y="312724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ame · atc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dosage · frequency · start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end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prescribing doctor.</a:t>
            </a:r>
            <a:endParaRPr lang="en-US" sz="900"/>
          </a:p>
        </p:txBody>
      </p:sp>
      <p:sp>
        <p:nvSpPr>
          <p:cNvPr id="147024531" name="Text 12"/>
          <p:cNvSpPr/>
          <p:nvPr/>
        </p:nvSpPr>
        <p:spPr bwMode="auto">
          <a:xfrm>
            <a:off x="640079" y="36210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Order</a:t>
            </a:r>
            <a:endParaRPr lang="en-US" sz="1100"/>
          </a:p>
        </p:txBody>
      </p:sp>
      <p:sp>
        <p:nvSpPr>
          <p:cNvPr id="1664330928" name="Text 13"/>
          <p:cNvSpPr/>
          <p:nvPr/>
        </p:nvSpPr>
        <p:spPr bwMode="auto">
          <a:xfrm>
            <a:off x="1874519" y="35753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patient id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status (PENDING/PROCESSING/COMPLETED/ERROR)</a:t>
            </a:r>
            <a:r>
              <a:rPr lang="it-IT" sz="900"/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date of creation · date of update</a:t>
            </a:r>
            <a:endParaRPr lang="en-US" sz="900" b="0" i="0" u="none" strike="noStrike" cap="none" spc="0">
              <a:solidFill>
                <a:srgbClr val="595959"/>
              </a:solidFill>
              <a:latin typeface="Calibri"/>
              <a:cs typeface="Calibri"/>
            </a:endParaRPr>
          </a:p>
        </p:txBody>
      </p:sp>
      <p:sp>
        <p:nvSpPr>
          <p:cNvPr id="1992890284" name="Text 14"/>
          <p:cNvSpPr/>
          <p:nvPr/>
        </p:nvSpPr>
        <p:spPr bwMode="auto">
          <a:xfrm>
            <a:off x="640079" y="40782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2109959783" name="Text 15"/>
          <p:cNvSpPr/>
          <p:nvPr/>
        </p:nvSpPr>
        <p:spPr bwMode="auto">
          <a:xfrm>
            <a:off x="1874519" y="4032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id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erence r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ange · anomaly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(TRUE/FALSE)</a:t>
            </a:r>
            <a:endParaRPr lang="en-US" sz="900"/>
          </a:p>
        </p:txBody>
      </p:sp>
      <p:sp>
        <p:nvSpPr>
          <p:cNvPr id="1701322343" name="Text 16"/>
          <p:cNvSpPr/>
          <p:nvPr/>
        </p:nvSpPr>
        <p:spPr bwMode="auto">
          <a:xfrm>
            <a:off x="640079" y="45354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128807738" name="Text 17"/>
          <p:cNvSpPr/>
          <p:nvPr/>
        </p:nvSpPr>
        <p:spPr bwMode="auto">
          <a:xfrm>
            <a:off x="1874519" y="44897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id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ype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status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findings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conclusion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 date</a:t>
            </a:r>
            <a:endParaRPr lang="en-US" sz="900"/>
          </a:p>
        </p:txBody>
      </p:sp>
      <p:sp>
        <p:nvSpPr>
          <p:cNvPr id="1159709559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6301823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439593587" name="Text 20"/>
          <p:cNvSpPr/>
          <p:nvPr/>
        </p:nvSpPr>
        <p:spPr bwMode="auto">
          <a:xfrm>
            <a:off x="4937760" y="189280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Bundle</a:t>
            </a:r>
            <a:endParaRPr lang="en-US" sz="1100"/>
          </a:p>
        </p:txBody>
      </p:sp>
      <p:sp>
        <p:nvSpPr>
          <p:cNvPr id="1538956681" name="Text 21"/>
          <p:cNvSpPr/>
          <p:nvPr/>
        </p:nvSpPr>
        <p:spPr bwMode="auto">
          <a:xfrm>
            <a:off x="6400800" y="179222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 (</a:t>
            </a:r>
            <a:r>
              <a:rPr lang="it-IT" sz="8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 Order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List&lt;ImagingReport&gt;</a:t>
            </a:r>
            <a:endParaRPr lang="en-US" sz="850"/>
          </a:p>
        </p:txBody>
      </p:sp>
      <p:sp>
        <p:nvSpPr>
          <p:cNvPr id="298263151" name="Text 22"/>
          <p:cNvSpPr/>
          <p:nvPr/>
        </p:nvSpPr>
        <p:spPr bwMode="auto">
          <a:xfrm>
            <a:off x="4937760" y="2551173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Profile</a:t>
            </a:r>
            <a:endParaRPr lang="en-US" sz="1100"/>
          </a:p>
        </p:txBody>
      </p:sp>
      <p:sp>
        <p:nvSpPr>
          <p:cNvPr id="348936049" name="Text 23"/>
          <p:cNvSpPr/>
          <p:nvPr/>
        </p:nvSpPr>
        <p:spPr bwMode="auto">
          <a:xfrm>
            <a:off x="6400800" y="238201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List&lt;Condition&gt;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List&lt;Allergy&gt;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List&lt;Prescription&gt;</a:t>
            </a:r>
            <a:endParaRPr lang="en-US" sz="850"/>
          </a:p>
        </p:txBody>
      </p:sp>
      <p:sp>
        <p:nvSpPr>
          <p:cNvPr id="1889142803" name="Text 24"/>
          <p:cNvSpPr/>
          <p:nvPr/>
        </p:nvSpPr>
        <p:spPr bwMode="auto">
          <a:xfrm>
            <a:off x="4937760" y="3346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Flag</a:t>
            </a:r>
            <a:endParaRPr lang="en-US" sz="1100"/>
          </a:p>
        </p:txBody>
      </p:sp>
      <p:sp>
        <p:nvSpPr>
          <p:cNvPr id="1627524843" name="Text 25"/>
          <p:cNvSpPr/>
          <p:nvPr/>
        </p:nvSpPr>
        <p:spPr bwMode="auto">
          <a:xfrm>
            <a:off x="6400800" y="3145533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severity (INFO/WARNING/CRITICAL)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description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source</a:t>
            </a:r>
            <a:r>
              <a:rPr lang="it-IT"/>
              <a:t> </a:t>
            </a:r>
            <a:endParaRPr lang="en-US"/>
          </a:p>
        </p:txBody>
      </p:sp>
      <p:sp>
        <p:nvSpPr>
          <p:cNvPr id="1634535085" name="Text 26"/>
          <p:cNvSpPr/>
          <p:nvPr/>
        </p:nvSpPr>
        <p:spPr bwMode="auto">
          <a:xfrm>
            <a:off x="4937760" y="42976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930249170" name="Text 27"/>
          <p:cNvSpPr/>
          <p:nvPr/>
        </p:nvSpPr>
        <p:spPr bwMode="auto">
          <a:xfrm>
            <a:off x="6400800" y="4078224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| WITH_RESERVATION |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generatedAt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linicalProfile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iagnosticBundle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2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51946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Use Cases, Sequence Diagrams, Technological Stack</a:t>
            </a:r>
            <a:endParaRPr lang="en-US" sz="4200"/>
          </a:p>
        </p:txBody>
      </p:sp>
      <p:sp>
        <p:nvSpPr>
          <p:cNvPr id="2003933322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235280107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4985771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Federico Capricci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202505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1021384031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91337330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0729173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1253027048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526277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75932926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921141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1486102034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161934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522801725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3523318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1314626706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7297217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789014618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2696397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348355898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4252173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314756233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3481160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2118415004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1333666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567553336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6713247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249215135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0215555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2022485336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8937077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1846376369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1274543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61876493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3421092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1549276971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5513421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607899001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61318975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248161501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6584464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1492377677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0376079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1626812102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1966093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422908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UC-1  Full Fitness Assessment</a:t>
            </a:r>
            <a:endParaRPr/>
          </a:p>
        </p:txBody>
      </p:sp>
      <p:sp>
        <p:nvSpPr>
          <p:cNvPr id="204397218" name="ScenCard"/>
          <p:cNvSpPr/>
          <p:nvPr/>
        </p:nvSpPr>
        <p:spPr bwMode="auto">
          <a:xfrm>
            <a:off x="457200" y="1508759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</a:rPr>
              <a:t>The Physician Requests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A complete fitness assessment for a surgical or medical procedure.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The system collects data from multiple services in parallel and aggregates them into a single clinical response.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Assessment outcome:</a:t>
            </a:r>
            <a:endParaRPr/>
          </a:p>
        </p:txBody>
      </p:sp>
      <p:sp>
        <p:nvSpPr>
          <p:cNvPr id="1027789461" name="Bar201"/>
          <p:cNvSpPr/>
          <p:nvPr/>
        </p:nvSpPr>
        <p:spPr bwMode="auto">
          <a:xfrm>
            <a:off x="457200" y="1508759"/>
            <a:ext cx="64008" cy="3108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4855329" name="Badge210"/>
          <p:cNvSpPr/>
          <p:nvPr/>
        </p:nvSpPr>
        <p:spPr bwMode="auto">
          <a:xfrm>
            <a:off x="640080" y="3383279"/>
            <a:ext cx="583387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FIT</a:t>
            </a:r>
            <a:endParaRPr/>
          </a:p>
        </p:txBody>
      </p:sp>
      <p:sp>
        <p:nvSpPr>
          <p:cNvPr id="178468896" name="Badge211"/>
          <p:cNvSpPr/>
          <p:nvPr/>
        </p:nvSpPr>
        <p:spPr bwMode="auto">
          <a:xfrm>
            <a:off x="1600200" y="3394525"/>
            <a:ext cx="1133856" cy="38404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FIT WITH RESERVATION</a:t>
            </a:r>
            <a:endParaRPr/>
          </a:p>
        </p:txBody>
      </p:sp>
      <p:sp>
        <p:nvSpPr>
          <p:cNvPr id="1834907050" name="Badge212"/>
          <p:cNvSpPr/>
          <p:nvPr/>
        </p:nvSpPr>
        <p:spPr bwMode="auto">
          <a:xfrm>
            <a:off x="3148279" y="3383279"/>
            <a:ext cx="652882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UNFIT</a:t>
            </a:r>
            <a:endParaRPr/>
          </a:p>
        </p:txBody>
      </p:sp>
      <p:sp>
        <p:nvSpPr>
          <p:cNvPr id="415075463" name="RepLbl"/>
          <p:cNvSpPr/>
          <p:nvPr/>
        </p:nvSpPr>
        <p:spPr bwMode="auto">
          <a:xfrm>
            <a:off x="4572000" y="834205"/>
            <a:ext cx="434340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4E79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FitnessReport · Response Contents</a:t>
            </a:r>
            <a:endParaRPr/>
          </a:p>
        </p:txBody>
      </p:sp>
      <p:sp>
        <p:nvSpPr>
          <p:cNvPr id="425028407" name="Bar300"/>
          <p:cNvSpPr/>
          <p:nvPr/>
        </p:nvSpPr>
        <p:spPr bwMode="auto">
          <a:xfrm>
            <a:off x="4572000" y="12914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0424554" name="Item0"/>
          <p:cNvSpPr/>
          <p:nvPr/>
        </p:nvSpPr>
        <p:spPr bwMode="auto">
          <a:xfrm>
            <a:off x="4572000" y="12914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Overall outcome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FIT / FIT WITH RESERVATION / UNFIT</a:t>
            </a:r>
            <a:endParaRPr/>
          </a:p>
        </p:txBody>
      </p:sp>
      <p:sp>
        <p:nvSpPr>
          <p:cNvPr id="1585409575" name="Bar310"/>
          <p:cNvSpPr/>
          <p:nvPr/>
        </p:nvSpPr>
        <p:spPr bwMode="auto">
          <a:xfrm>
            <a:off x="4572000" y="17486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4026917" name="Item1"/>
          <p:cNvSpPr/>
          <p:nvPr/>
        </p:nvSpPr>
        <p:spPr bwMode="auto">
          <a:xfrm>
            <a:off x="4572000" y="1748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summary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Identifying data of the patient</a:t>
            </a:r>
            <a:endParaRPr/>
          </a:p>
        </p:txBody>
      </p:sp>
      <p:sp>
        <p:nvSpPr>
          <p:cNvPr id="1714208993" name="Bar320"/>
          <p:cNvSpPr/>
          <p:nvPr/>
        </p:nvSpPr>
        <p:spPr bwMode="auto">
          <a:xfrm>
            <a:off x="4572000" y="22058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5863985" name="Item2"/>
          <p:cNvSpPr/>
          <p:nvPr/>
        </p:nvSpPr>
        <p:spPr bwMode="auto">
          <a:xfrm>
            <a:off x="4572000" y="2205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conditions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Active and past diagnoses (ICD codes)</a:t>
            </a:r>
            <a:endParaRPr/>
          </a:p>
        </p:txBody>
      </p:sp>
      <p:sp>
        <p:nvSpPr>
          <p:cNvPr id="1597143911" name="Bar330"/>
          <p:cNvSpPr/>
          <p:nvPr/>
        </p:nvSpPr>
        <p:spPr bwMode="auto">
          <a:xfrm>
            <a:off x="4572000" y="26630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5070040" name="Item3"/>
          <p:cNvSpPr/>
          <p:nvPr/>
        </p:nvSpPr>
        <p:spPr bwMode="auto">
          <a:xfrm>
            <a:off x="4572000" y="26630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Registered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severity, date detected</a:t>
            </a:r>
            <a:endParaRPr/>
          </a:p>
        </p:txBody>
      </p:sp>
      <p:sp>
        <p:nvSpPr>
          <p:cNvPr id="939999941" name="Bar340"/>
          <p:cNvSpPr/>
          <p:nvPr/>
        </p:nvSpPr>
        <p:spPr bwMode="auto">
          <a:xfrm>
            <a:off x="4572000" y="31202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5951461" name="Item4"/>
          <p:cNvSpPr/>
          <p:nvPr/>
        </p:nvSpPr>
        <p:spPr bwMode="auto">
          <a:xfrm>
            <a:off x="4572000" y="31202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dosage, frequency</a:t>
            </a:r>
            <a:endParaRPr/>
          </a:p>
        </p:txBody>
      </p:sp>
      <p:sp>
        <p:nvSpPr>
          <p:cNvPr id="1889586287" name="Bar350"/>
          <p:cNvSpPr/>
          <p:nvPr/>
        </p:nvSpPr>
        <p:spPr bwMode="auto">
          <a:xfrm>
            <a:off x="4572000" y="3577404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5654094" name="Item5"/>
          <p:cNvSpPr/>
          <p:nvPr/>
        </p:nvSpPr>
        <p:spPr bwMode="auto">
          <a:xfrm>
            <a:off x="4572000" y="3577404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Laboratory results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Measurements with anomalyFlag</a:t>
            </a:r>
            <a:endParaRPr/>
          </a:p>
        </p:txBody>
      </p:sp>
      <p:sp>
        <p:nvSpPr>
          <p:cNvPr id="52608156" name="Bar360"/>
          <p:cNvSpPr/>
          <p:nvPr/>
        </p:nvSpPr>
        <p:spPr bwMode="auto">
          <a:xfrm>
            <a:off x="4572000" y="4034605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6402326" name="Item6"/>
          <p:cNvSpPr/>
          <p:nvPr/>
        </p:nvSpPr>
        <p:spPr bwMode="auto">
          <a:xfrm>
            <a:off x="4572000" y="4034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Diagnostic reports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Imaging: findings, criticalFlag</a:t>
            </a:r>
            <a:endParaRPr/>
          </a:p>
        </p:txBody>
      </p:sp>
      <p:sp>
        <p:nvSpPr>
          <p:cNvPr id="1235032826" name="Bar370"/>
          <p:cNvSpPr/>
          <p:nvPr/>
        </p:nvSpPr>
        <p:spPr bwMode="auto">
          <a:xfrm>
            <a:off x="4572000" y="4491805"/>
            <a:ext cx="64008" cy="40233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5724230" name="Item7"/>
          <p:cNvSpPr/>
          <p:nvPr/>
        </p:nvSpPr>
        <p:spPr bwMode="auto">
          <a:xfrm>
            <a:off x="4572000" y="4491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Risk factors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 contraindication · Critical value · Allergy</a:t>
            </a:r>
            <a:endParaRPr/>
          </a:p>
        </p:txBody>
      </p:sp>
      <p:sp>
        <p:nvSpPr>
          <p:cNvPr id="545919216" name="Shape 1"/>
          <p:cNvSpPr/>
          <p:nvPr/>
        </p:nvSpPr>
        <p:spPr bwMode="auto">
          <a:xfrm>
            <a:off x="489203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681599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UC-2  Clinical History Consultation</a:t>
            </a:r>
            <a:endParaRPr/>
          </a:p>
        </p:txBody>
      </p:sp>
      <p:sp>
        <p:nvSpPr>
          <p:cNvPr id="1140428880" name="Intro"/>
          <p:cNvSpPr/>
          <p:nvPr/>
        </p:nvSpPr>
        <p:spPr bwMode="auto">
          <a:xfrm>
            <a:off x="457200" y="959996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needs to review the patient's medical history without requesting a full fitness assessment.</a:t>
            </a:r>
            <a:endParaRPr/>
          </a:p>
        </p:txBody>
      </p:sp>
      <p:sp>
        <p:nvSpPr>
          <p:cNvPr id="1467143748" name="Bar201"/>
          <p:cNvSpPr/>
          <p:nvPr/>
        </p:nvSpPr>
        <p:spPr bwMode="auto">
          <a:xfrm>
            <a:off x="457200" y="959996"/>
            <a:ext cx="45719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966380" name="CPLbl"/>
          <p:cNvSpPr/>
          <p:nvPr/>
        </p:nvSpPr>
        <p:spPr bwMode="auto">
          <a:xfrm>
            <a:off x="3680460" y="1497639"/>
            <a:ext cx="5166360" cy="384048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ClinicalProfile · Object returned to the physician</a:t>
            </a:r>
            <a:endParaRPr/>
          </a:p>
        </p:txBody>
      </p:sp>
      <p:sp>
        <p:nvSpPr>
          <p:cNvPr id="1882278904" name="Bar220"/>
          <p:cNvSpPr/>
          <p:nvPr/>
        </p:nvSpPr>
        <p:spPr bwMode="auto">
          <a:xfrm>
            <a:off x="3680460" y="1954839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2937949" name="CP0"/>
          <p:cNvSpPr/>
          <p:nvPr/>
        </p:nvSpPr>
        <p:spPr bwMode="auto">
          <a:xfrm>
            <a:off x="3680460" y="1954839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data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id, name, fiscal code, date of birth, gender</a:t>
            </a:r>
            <a:endParaRPr/>
          </a:p>
        </p:txBody>
      </p:sp>
      <p:sp>
        <p:nvSpPr>
          <p:cNvPr id="1990898482" name="Bar230"/>
          <p:cNvSpPr/>
          <p:nvPr/>
        </p:nvSpPr>
        <p:spPr bwMode="auto">
          <a:xfrm>
            <a:off x="3680460" y="2476047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9480267" name="CP1"/>
          <p:cNvSpPr/>
          <p:nvPr/>
        </p:nvSpPr>
        <p:spPr bwMode="auto">
          <a:xfrm>
            <a:off x="3680460" y="2476047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Past diagnoses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List of ICD conditions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 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status ACTIVE / RESOLVED</a:t>
            </a:r>
            <a:endParaRPr/>
          </a:p>
        </p:txBody>
      </p:sp>
      <p:sp>
        <p:nvSpPr>
          <p:cNvPr id="1922477869" name="Bar240"/>
          <p:cNvSpPr/>
          <p:nvPr/>
        </p:nvSpPr>
        <p:spPr bwMode="auto">
          <a:xfrm>
            <a:off x="3680460" y="2997255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183464" name="CP2"/>
          <p:cNvSpPr/>
          <p:nvPr/>
        </p:nvSpPr>
        <p:spPr bwMode="auto">
          <a:xfrm>
            <a:off x="3680460" y="2997255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 (MILD / SEVERE / ANAPHYLACTIC)</a:t>
            </a:r>
            <a:endParaRPr/>
          </a:p>
        </p:txBody>
      </p:sp>
      <p:sp>
        <p:nvSpPr>
          <p:cNvPr id="1703821285" name="Bar250"/>
          <p:cNvSpPr/>
          <p:nvPr/>
        </p:nvSpPr>
        <p:spPr bwMode="auto">
          <a:xfrm>
            <a:off x="3680460" y="3518463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7284513" name="CP3"/>
          <p:cNvSpPr/>
          <p:nvPr/>
        </p:nvSpPr>
        <p:spPr bwMode="auto">
          <a:xfrm>
            <a:off x="3680460" y="3518463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ATC code, dosage, frequency, dates</a:t>
            </a:r>
            <a:endParaRPr/>
          </a:p>
        </p:txBody>
      </p:sp>
      <p:sp>
        <p:nvSpPr>
          <p:cNvPr id="1242798587" name="AnaSource"/>
          <p:cNvSpPr/>
          <p:nvPr/>
        </p:nvSpPr>
        <p:spPr bwMode="auto">
          <a:xfrm>
            <a:off x="457200" y="2370520"/>
            <a:ext cx="2743200" cy="1051560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</a:rPr>
              <a:t>Anagrafe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SOAP / CXF  ·  :9101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Patient data · medical history · allergies</a:t>
            </a:r>
            <a:endParaRPr/>
          </a:p>
        </p:txBody>
      </p:sp>
      <p:sp>
        <p:nvSpPr>
          <p:cNvPr id="2055385961" name="Bar301"/>
          <p:cNvSpPr/>
          <p:nvPr/>
        </p:nvSpPr>
        <p:spPr bwMode="auto">
          <a:xfrm>
            <a:off x="457200" y="2370520"/>
            <a:ext cx="64008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9057849" name="FarmSource"/>
          <p:cNvSpPr/>
          <p:nvPr/>
        </p:nvSpPr>
        <p:spPr bwMode="auto">
          <a:xfrm>
            <a:off x="489204" y="3813172"/>
            <a:ext cx="2711196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C55A11"/>
                </a:solidFill>
                <a:latin typeface="Calibri"/>
              </a:rPr>
              <a:t>Farmacia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REST  ·  :9103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Active prescriptions per patient</a:t>
            </a:r>
            <a:endParaRPr/>
          </a:p>
        </p:txBody>
      </p:sp>
      <p:sp>
        <p:nvSpPr>
          <p:cNvPr id="231931231" name="Bar311"/>
          <p:cNvSpPr/>
          <p:nvPr/>
        </p:nvSpPr>
        <p:spPr bwMode="auto">
          <a:xfrm>
            <a:off x="457200" y="3813172"/>
            <a:ext cx="65556" cy="10515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9108736" name="Shape 1"/>
          <p:cNvSpPr/>
          <p:nvPr/>
        </p:nvSpPr>
        <p:spPr bwMode="auto">
          <a:xfrm>
            <a:off x="480059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326499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UC-3  Diagnostic Test Order &amp; Monitoring</a:t>
            </a:r>
            <a:endParaRPr/>
          </a:p>
        </p:txBody>
      </p:sp>
      <p:sp>
        <p:nvSpPr>
          <p:cNvPr id="25953993" name="Badge200"/>
          <p:cNvSpPr/>
          <p:nvPr/>
        </p:nvSpPr>
        <p:spPr bwMode="auto">
          <a:xfrm>
            <a:off x="685800" y="1508759"/>
            <a:ext cx="246888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① Order</a:t>
            </a:r>
            <a:endParaRPr/>
          </a:p>
        </p:txBody>
      </p:sp>
      <p:sp>
        <p:nvSpPr>
          <p:cNvPr id="878201385" name="P1"/>
          <p:cNvSpPr/>
          <p:nvPr/>
        </p:nvSpPr>
        <p:spPr bwMode="auto">
          <a:xfrm>
            <a:off x="68580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requests a diagnostic panel (e.g. renal panel, metabolic panel).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The system responds immediately: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trackingId  (tracking code)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HTTP 202 Accepted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can continue working without waiting.</a:t>
            </a:r>
            <a:endParaRPr/>
          </a:p>
        </p:txBody>
      </p:sp>
      <p:sp>
        <p:nvSpPr>
          <p:cNvPr id="1929516839" name="Bar202"/>
          <p:cNvSpPr/>
          <p:nvPr/>
        </p:nvSpPr>
        <p:spPr bwMode="auto">
          <a:xfrm>
            <a:off x="685800" y="1920240"/>
            <a:ext cx="64008" cy="23317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1577733" name="Badge210"/>
          <p:cNvSpPr/>
          <p:nvPr/>
        </p:nvSpPr>
        <p:spPr bwMode="auto">
          <a:xfrm>
            <a:off x="3337560" y="1508759"/>
            <a:ext cx="2468880" cy="4114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② Processing</a:t>
            </a:r>
            <a:endParaRPr/>
          </a:p>
        </p:txBody>
      </p:sp>
      <p:sp>
        <p:nvSpPr>
          <p:cNvPr id="29191181" name="P2"/>
          <p:cNvSpPr/>
          <p:nvPr/>
        </p:nvSpPr>
        <p:spPr bwMode="auto">
          <a:xfrm>
            <a:off x="333756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client polls the system using the trackingId.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While processing, the response shows: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status: PROCESSING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In the background: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Laboratorio :9102  processes lab tests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Imaging :9104  processes radiology reports</a:t>
            </a:r>
            <a:endParaRPr/>
          </a:p>
        </p:txBody>
      </p:sp>
      <p:sp>
        <p:nvSpPr>
          <p:cNvPr id="569810369" name="Bar212"/>
          <p:cNvSpPr/>
          <p:nvPr/>
        </p:nvSpPr>
        <p:spPr bwMode="auto">
          <a:xfrm>
            <a:off x="3337560" y="1920240"/>
            <a:ext cx="64008" cy="233172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2364054" name="Badge220"/>
          <p:cNvSpPr/>
          <p:nvPr/>
        </p:nvSpPr>
        <p:spPr bwMode="auto">
          <a:xfrm>
            <a:off x="5989320" y="1508759"/>
            <a:ext cx="2468880" cy="4114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③ Final Result</a:t>
            </a:r>
            <a:endParaRPr/>
          </a:p>
        </p:txBody>
      </p:sp>
      <p:sp>
        <p:nvSpPr>
          <p:cNvPr id="1864247687" name="P3"/>
          <p:cNvSpPr/>
          <p:nvPr/>
        </p:nvSpPr>
        <p:spPr bwMode="auto">
          <a:xfrm>
            <a:off x="598932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Once processing is complete, the system returns the DiagnosticBundle: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DiagnosticBundle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List&lt;TestResult&gt;  (lab results)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List&lt;ImagingReport&gt;  (diagnostic reports)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always interacts with a single entry point and receives an aggregated response.</a:t>
            </a:r>
            <a:endParaRPr/>
          </a:p>
        </p:txBody>
      </p:sp>
      <p:sp>
        <p:nvSpPr>
          <p:cNvPr id="1306511378" name="Bar222"/>
          <p:cNvSpPr/>
          <p:nvPr/>
        </p:nvSpPr>
        <p:spPr bwMode="auto">
          <a:xfrm>
            <a:off x="5989320" y="1920240"/>
            <a:ext cx="64008" cy="233172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5891651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429126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UC-4  New Prescription</a:t>
            </a:r>
            <a:endParaRPr/>
          </a:p>
        </p:txBody>
      </p:sp>
      <p:sp>
        <p:nvSpPr>
          <p:cNvPr id="732291632" name="Sub"/>
          <p:cNvSpPr/>
          <p:nvPr/>
        </p:nvSpPr>
        <p:spPr bwMode="auto">
          <a:xfrm>
            <a:off x="345989" y="470001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250" i="1">
                <a:solidFill>
                  <a:srgbClr val="595959"/>
                </a:solidFill>
                <a:latin typeface="Calibri"/>
              </a:rPr>
              <a:t>Direct client → provider interaction: not every operation requires an aggregator</a:t>
            </a:r>
            <a:endParaRPr/>
          </a:p>
        </p:txBody>
      </p:sp>
      <p:sp>
        <p:nvSpPr>
          <p:cNvPr id="794666655" name="Scenario"/>
          <p:cNvSpPr/>
          <p:nvPr/>
        </p:nvSpPr>
        <p:spPr bwMode="auto">
          <a:xfrm>
            <a:off x="457200" y="1042416"/>
            <a:ext cx="3108960" cy="208384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5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enters a new pharmacological prescription for a patient.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C55A11"/>
                </a:solidFill>
                <a:latin typeface="Calibri"/>
              </a:rPr>
              <a:t>No prosumer involved: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Farmacia is the direct provider, responsible for its own domain.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This use case shows that SOA does not always mandate aggregation: when an operation belongs to a single domain, the client reaches that provider directly.</a:t>
            </a:r>
            <a:endParaRPr/>
          </a:p>
        </p:txBody>
      </p:sp>
      <p:sp>
        <p:nvSpPr>
          <p:cNvPr id="1814618674" name="Bar201"/>
          <p:cNvSpPr/>
          <p:nvPr/>
        </p:nvSpPr>
        <p:spPr bwMode="auto">
          <a:xfrm>
            <a:off x="457200" y="1042416"/>
            <a:ext cx="64008" cy="2083843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7229316" name="ReqLbl"/>
          <p:cNvSpPr/>
          <p:nvPr/>
        </p:nvSpPr>
        <p:spPr bwMode="auto">
          <a:xfrm>
            <a:off x="3886200" y="1431036"/>
            <a:ext cx="4800600" cy="384048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Request Payload</a:t>
            </a:r>
            <a:endParaRPr/>
          </a:p>
        </p:txBody>
      </p:sp>
      <p:sp>
        <p:nvSpPr>
          <p:cNvPr id="251699905" name="Bar220"/>
          <p:cNvSpPr/>
          <p:nvPr/>
        </p:nvSpPr>
        <p:spPr bwMode="auto">
          <a:xfrm>
            <a:off x="3886200" y="1888236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5738074" name="Req0"/>
          <p:cNvSpPr/>
          <p:nvPr/>
        </p:nvSpPr>
        <p:spPr bwMode="auto">
          <a:xfrm>
            <a:off x="3886200" y="1888236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drug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Drug name + ATC code</a:t>
            </a:r>
            <a:endParaRPr/>
          </a:p>
        </p:txBody>
      </p:sp>
      <p:sp>
        <p:nvSpPr>
          <p:cNvPr id="434371286" name="Bar230"/>
          <p:cNvSpPr/>
          <p:nvPr/>
        </p:nvSpPr>
        <p:spPr bwMode="auto">
          <a:xfrm>
            <a:off x="3886200" y="2327148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6923635" name="Req1"/>
          <p:cNvSpPr/>
          <p:nvPr/>
        </p:nvSpPr>
        <p:spPr bwMode="auto">
          <a:xfrm>
            <a:off x="3886200" y="2327148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dosage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Quantity per administration</a:t>
            </a:r>
            <a:endParaRPr/>
          </a:p>
        </p:txBody>
      </p:sp>
      <p:sp>
        <p:nvSpPr>
          <p:cNvPr id="871970449" name="Bar240"/>
          <p:cNvSpPr/>
          <p:nvPr/>
        </p:nvSpPr>
        <p:spPr bwMode="auto">
          <a:xfrm>
            <a:off x="3886200" y="2766060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2759391" name="Req2"/>
          <p:cNvSpPr/>
          <p:nvPr/>
        </p:nvSpPr>
        <p:spPr bwMode="auto">
          <a:xfrm>
            <a:off x="3886200" y="2766060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frequency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Administration schedule</a:t>
            </a:r>
            <a:endParaRPr/>
          </a:p>
        </p:txBody>
      </p:sp>
      <p:sp>
        <p:nvSpPr>
          <p:cNvPr id="1264866459" name="Bar250"/>
          <p:cNvSpPr/>
          <p:nvPr/>
        </p:nvSpPr>
        <p:spPr bwMode="auto">
          <a:xfrm>
            <a:off x="3886200" y="3204972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26506058" name="Req3"/>
          <p:cNvSpPr/>
          <p:nvPr/>
        </p:nvSpPr>
        <p:spPr bwMode="auto">
          <a:xfrm>
            <a:off x="3886200" y="3204972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validity dates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startDate · endDate</a:t>
            </a:r>
            <a:endParaRPr/>
          </a:p>
        </p:txBody>
      </p:sp>
      <p:sp>
        <p:nvSpPr>
          <p:cNvPr id="194780076" name="Bar260"/>
          <p:cNvSpPr/>
          <p:nvPr/>
        </p:nvSpPr>
        <p:spPr bwMode="auto">
          <a:xfrm>
            <a:off x="3886200" y="3643884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8360633" name="Req4"/>
          <p:cNvSpPr/>
          <p:nvPr/>
        </p:nvSpPr>
        <p:spPr bwMode="auto">
          <a:xfrm>
            <a:off x="3886200" y="3643884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prescribing physician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Physician identifier</a:t>
            </a:r>
            <a:endParaRPr/>
          </a:p>
        </p:txBody>
      </p:sp>
      <p:sp>
        <p:nvSpPr>
          <p:cNvPr id="1659365323" name="ResLbl"/>
          <p:cNvSpPr/>
          <p:nvPr/>
        </p:nvSpPr>
        <p:spPr bwMode="auto">
          <a:xfrm>
            <a:off x="457199" y="3451860"/>
            <a:ext cx="3108961" cy="918972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64008" rIns="91440" bIns="64008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0F6E56"/>
                </a:solidFill>
                <a:latin typeface="Calibri"/>
              </a:rPr>
              <a:t>HTTP 201 Created  →  Prescription saved</a:t>
            </a:r>
            <a:endParaRPr/>
          </a:p>
          <a:p>
            <a:pPr marL="0" indent="0" algn="l">
              <a:buNone/>
              <a:defRPr/>
            </a:pPr>
            <a:r>
              <a:rPr lang="en-US" sz="1150">
                <a:solidFill>
                  <a:srgbClr val="595959"/>
                </a:solidFill>
                <a:latin typeface="Calibri"/>
              </a:rPr>
              <a:t>id · drugName · atcCode · dosage · frequency · startDate · endDate · prescribingPhysician</a:t>
            </a:r>
            <a:endParaRPr/>
          </a:p>
        </p:txBody>
      </p:sp>
      <p:sp>
        <p:nvSpPr>
          <p:cNvPr id="919671354" name="Bar271"/>
          <p:cNvSpPr/>
          <p:nvPr/>
        </p:nvSpPr>
        <p:spPr bwMode="auto">
          <a:xfrm>
            <a:off x="457199" y="3451860"/>
            <a:ext cx="45719" cy="9189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51324361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98044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33323832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6008298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3277173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321387175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792217205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721417858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49059321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2030495927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1422511919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2096332356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2013434564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Anagrafe service + JAX-WS client</a:t>
            </a:r>
            <a:endParaRPr lang="en-US" sz="950"/>
          </a:p>
        </p:txBody>
      </p:sp>
      <p:sp>
        <p:nvSpPr>
          <p:cNvPr id="905922035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413620988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559749752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796655424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847716724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1488905443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1432138741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1198148959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independent per-service POMs (no parent)</a:t>
            </a:r>
            <a:endParaRPr lang="en-US" sz="950"/>
          </a:p>
        </p:txBody>
      </p:sp>
      <p:sp>
        <p:nvSpPr>
          <p:cNvPr id="1590169495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9808219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1498539066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728869698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1595193990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1662932179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1874014832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2117966298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744791851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866198386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1009849347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1412941927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780563061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521087871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1503602723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1700143982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1438413903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1863198634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2702</Words>
  <Application>Microsoft Office PowerPoint</Application>
  <PresentationFormat>Presentazione su schermo (16:9)</PresentationFormat>
  <Paragraphs>305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Federico Capricci</cp:lastModifiedBy>
  <cp:revision>10</cp:revision>
  <dcterms:created xsi:type="dcterms:W3CDTF">2026-06-22T13:52:18Z</dcterms:created>
  <dcterms:modified xsi:type="dcterms:W3CDTF">2026-06-25T08:51:09Z</dcterms:modified>
</cp:coreProperties>
</file>