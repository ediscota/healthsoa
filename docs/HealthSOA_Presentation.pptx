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4.xml" ContentType="application/vnd.openxmlformats-officedocument.presentationml.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7.xml" ContentType="application/vnd.openxmlformats-officedocument.presentationml.slide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9144000" cy="5143500" type="screen16x9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09" d="100"/>
          <a:sy n="109" d="100"/>
        </p:scale>
        <p:origin x="867" y="85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 /><Relationship Id="rId23" Type="http://schemas.openxmlformats.org/officeDocument/2006/relationships/tableStyles" Target="tableStyles.xml" /><Relationship Id="rId2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9543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458678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127297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30180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27864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32097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086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399303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536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1529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86335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64965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7173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4996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99163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3435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29391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839585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20752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93260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Thank you, Edoardo.</a:t>
            </a:r>
            <a:r>
              <a:rPr lang="it-IT" sz="1400"/>
              <a:t> </a:t>
            </a:r>
            <a:r>
              <a:rPr sz="1400"/>
              <a:t>Now, we will now look at</a:t>
            </a:r>
            <a:r>
              <a:rPr lang="it-IT" sz="1400"/>
              <a:t> the second block</a:t>
            </a:r>
            <a:r>
              <a:rPr sz="1400"/>
              <a:t> of our presentation. In this section, I will explain the business components of our system</a:t>
            </a:r>
            <a:r>
              <a:rPr lang="it-IT" sz="1400"/>
              <a:t>, w</a:t>
            </a:r>
            <a:r>
              <a:rPr lang="it-IT" sz="1400"/>
              <a:t>e’</a:t>
            </a:r>
            <a:r>
              <a:rPr sz="1400"/>
              <a:t>ll see who are the main </a:t>
            </a:r>
            <a:r>
              <a:rPr lang="it-IT" sz="1400"/>
              <a:t>software a</a:t>
            </a:r>
            <a:r>
              <a:rPr sz="1400"/>
              <a:t>ctors, what responsibilities they have and how our data is structured.</a:t>
            </a:r>
            <a:endParaRPr lang="en-US"/>
          </a:p>
        </p:txBody>
      </p:sp>
      <p:sp>
        <p:nvSpPr>
          <p:cNvPr id="5798469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4817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433600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On this slide, we have the Service Providers</a:t>
            </a:r>
            <a:r>
              <a:rPr lang="it-IT" sz="1400"/>
              <a:t> which </a:t>
            </a:r>
            <a:r>
              <a:rPr sz="1400"/>
              <a:t>are the foundational services of our platform. Each provider is independent</a:t>
            </a:r>
            <a:r>
              <a:rPr lang="it-IT" sz="1400"/>
              <a:t> from the others</a:t>
            </a:r>
            <a:r>
              <a:rPr sz="1400"/>
              <a:t>, manages its own specific da</a:t>
            </a:r>
            <a:r>
              <a:rPr lang="it-IT" sz="1400"/>
              <a:t>ta </a:t>
            </a:r>
            <a:r>
              <a:rPr sz="1400"/>
              <a:t>and has its own separate database to ensure decoupling.</a:t>
            </a:r>
            <a:endParaRPr sz="1400"/>
          </a:p>
          <a:p>
            <a:pPr>
              <a:defRPr/>
            </a:pPr>
            <a:r>
              <a:rPr sz="1400"/>
              <a:t>We have </a:t>
            </a:r>
            <a:r>
              <a:rPr lang="it-IT" sz="1400" b="1"/>
              <a:t>4</a:t>
            </a:r>
            <a:r>
              <a:rPr sz="1400" b="1"/>
              <a:t> providers</a:t>
            </a:r>
            <a:r>
              <a:rPr sz="1400"/>
              <a:t> in total:</a:t>
            </a:r>
            <a:endParaRPr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First</a:t>
            </a:r>
            <a:r>
              <a:rPr lang="it-IT" sz="1400"/>
              <a:t> we have</a:t>
            </a:r>
            <a:r>
              <a:rPr sz="1400"/>
              <a:t> the </a:t>
            </a:r>
            <a:r>
              <a:rPr sz="1400" b="1"/>
              <a:t>Anagrafe Service</a:t>
            </a:r>
            <a:r>
              <a:rPr lang="it-IT" sz="1400"/>
              <a:t>, which </a:t>
            </a:r>
            <a:r>
              <a:rPr sz="1400"/>
              <a:t>simulates an external registry</a:t>
            </a:r>
            <a:r>
              <a:rPr lang="it-IT" sz="1400"/>
              <a:t> </a:t>
            </a:r>
            <a:r>
              <a:rPr sz="1400"/>
              <a:t>manag</a:t>
            </a:r>
            <a:r>
              <a:rPr lang="it-IT" sz="1400"/>
              <a:t>ing</a:t>
            </a:r>
            <a:r>
              <a:rPr sz="1400"/>
              <a:t> patient details, medical history and allergies. Because it simulates a real-world legacy system, it uses the SOAP protocol instead of the more modern REST</a:t>
            </a:r>
            <a:r>
              <a:rPr lang="it-IT" sz="1400"/>
              <a:t> to send its data.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Next, we have three modern REST services. </a:t>
            </a:r>
            <a:r>
              <a:rPr lang="it-IT" sz="1400"/>
              <a:t>Starting from the</a:t>
            </a:r>
            <a:r>
              <a:rPr lang="it-IT" sz="1400"/>
              <a:t> </a:t>
            </a:r>
            <a:r>
              <a:rPr sz="1400" b="1"/>
              <a:t>Laboratorio Service</a:t>
            </a:r>
            <a:r>
              <a:rPr sz="1400"/>
              <a:t> </a:t>
            </a:r>
            <a:r>
              <a:rPr lang="it-IT" sz="1400"/>
              <a:t>which </a:t>
            </a:r>
            <a:r>
              <a:rPr sz="1400"/>
              <a:t>handles medical test orders and results. In the real world, processing a biological sample takes time</a:t>
            </a:r>
            <a:r>
              <a:rPr lang="it-IT" sz="1400"/>
              <a:t>, t</a:t>
            </a:r>
            <a:r>
              <a:rPr sz="1400"/>
              <a:t>herefore this service works asynchronously</a:t>
            </a:r>
            <a:r>
              <a:rPr lang="it-IT" sz="1400"/>
              <a:t>, </a:t>
            </a:r>
            <a:r>
              <a:rPr sz="1400"/>
              <a:t>accept</a:t>
            </a:r>
            <a:r>
              <a:rPr lang="it-IT" sz="1400"/>
              <a:t>ing </a:t>
            </a:r>
            <a:r>
              <a:rPr sz="1400"/>
              <a:t>order</a:t>
            </a:r>
            <a:r>
              <a:rPr lang="it-IT" sz="1400"/>
              <a:t>s</a:t>
            </a:r>
            <a:r>
              <a:rPr sz="1400"/>
              <a:t> immediatel</a:t>
            </a:r>
            <a:r>
              <a:rPr lang="it-IT" sz="1400"/>
              <a:t>y</a:t>
            </a:r>
            <a:r>
              <a:rPr sz="1400"/>
              <a:t> and deliver</a:t>
            </a:r>
            <a:r>
              <a:rPr lang="it-IT" sz="1400"/>
              <a:t>ing</a:t>
            </a:r>
            <a:r>
              <a:rPr sz="1400"/>
              <a:t> the results</a:t>
            </a:r>
            <a:r>
              <a:rPr lang="it-IT" sz="1400"/>
              <a:t> at a</a:t>
            </a:r>
            <a:r>
              <a:rPr sz="1400"/>
              <a:t> later</a:t>
            </a:r>
            <a:r>
              <a:rPr lang="it-IT" sz="1400"/>
              <a:t> time</a:t>
            </a:r>
            <a:r>
              <a:rPr sz="1400"/>
              <a:t>.</a:t>
            </a:r>
            <a:endParaRPr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The </a:t>
            </a:r>
            <a:r>
              <a:rPr sz="1400" b="1"/>
              <a:t>Imaging Service</a:t>
            </a:r>
            <a:r>
              <a:rPr sz="1400"/>
              <a:t> works exactly the same way</a:t>
            </a:r>
            <a:r>
              <a:rPr lang="it-IT" sz="1400"/>
              <a:t> as the Laboratorio Service</a:t>
            </a:r>
            <a:r>
              <a:rPr sz="1400"/>
              <a:t>, but </a:t>
            </a:r>
            <a:r>
              <a:rPr lang="it-IT" sz="1400"/>
              <a:t>instead it</a:t>
            </a:r>
            <a:r>
              <a:rPr sz="1400"/>
              <a:t> manages </a:t>
            </a:r>
            <a:r>
              <a:rPr lang="it-IT" sz="1400"/>
              <a:t>very different data such as </a:t>
            </a:r>
            <a:r>
              <a:rPr sz="1400"/>
              <a:t>radiology reports</a:t>
            </a:r>
            <a:r>
              <a:rPr lang="it-IT" sz="1400"/>
              <a:t>, X-Rays and MRI scans.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Finally, the </a:t>
            </a:r>
            <a:r>
              <a:rPr sz="1400" b="1"/>
              <a:t>Farmacia Service</a:t>
            </a:r>
            <a:r>
              <a:rPr sz="1400"/>
              <a:t> manages active drug prescriptions and includes a</a:t>
            </a:r>
            <a:r>
              <a:rPr lang="it-IT" sz="1400"/>
              <a:t>n endpoint </a:t>
            </a:r>
            <a:r>
              <a:rPr sz="1400"/>
              <a:t>to check for dangerous drug interactions.</a:t>
            </a:r>
            <a:endParaRPr/>
          </a:p>
          <a:p>
            <a:pPr>
              <a:defRPr/>
            </a:pPr>
            <a:r>
              <a:rPr sz="1400"/>
              <a:t>Now, let’s see how we combine all this information</a:t>
            </a:r>
            <a:r>
              <a:rPr lang="it-IT" sz="1400"/>
              <a:t>s</a:t>
            </a:r>
            <a:endParaRPr lang="en-US"/>
          </a:p>
        </p:txBody>
      </p:sp>
      <p:sp>
        <p:nvSpPr>
          <p:cNvPr id="16026205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75008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03759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 sz="1400"/>
              <a:t>Here are </a:t>
            </a:r>
            <a:r>
              <a:rPr lang="it-IT" sz="1400"/>
              <a:t>the</a:t>
            </a:r>
            <a:r>
              <a:rPr sz="1400"/>
              <a:t> Service Prosumers</a:t>
            </a:r>
            <a:r>
              <a:rPr lang="it-IT" sz="1400"/>
              <a:t>, </a:t>
            </a:r>
            <a:r>
              <a:rPr lang="it-IT" sz="1400"/>
              <a:t>we use them t</a:t>
            </a:r>
            <a:r>
              <a:rPr sz="1400"/>
              <a:t>o create a complete view for the clinical staff, </a:t>
            </a:r>
            <a:r>
              <a:rPr lang="it-IT" sz="1400"/>
              <a:t>therefore these</a:t>
            </a:r>
            <a:r>
              <a:rPr sz="1400"/>
              <a:t> components do not just store data but they consume data from the providers and aggregate it.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The first one is the </a:t>
            </a:r>
            <a:r>
              <a:rPr sz="1400" b="1"/>
              <a:t>Diagnostic Aggregator</a:t>
            </a:r>
            <a:r>
              <a:rPr lang="it-IT" sz="1400"/>
              <a:t>, which </a:t>
            </a:r>
            <a:r>
              <a:rPr sz="1400"/>
              <a:t>communicates with the Laboratorio </a:t>
            </a:r>
            <a:r>
              <a:rPr lang="it-IT" sz="1400"/>
              <a:t>service </a:t>
            </a:r>
            <a:r>
              <a:rPr sz="1400"/>
              <a:t>and </a:t>
            </a:r>
            <a:r>
              <a:rPr lang="it-IT" sz="1400"/>
              <a:t>the </a:t>
            </a:r>
            <a:r>
              <a:rPr sz="1400"/>
              <a:t>Imaging service. It collects the asynchronous test results and combines them into a single complete Diagnostic Bundle</a:t>
            </a:r>
            <a:r>
              <a:rPr lang="it-IT" sz="1400"/>
              <a:t>, it can be customized based on the panel value selectable from the index page.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The second one is the </a:t>
            </a:r>
            <a:r>
              <a:rPr sz="1400" b="1"/>
              <a:t>Clinical Aggregator</a:t>
            </a:r>
            <a:r>
              <a:rPr lang="it-IT" sz="1400"/>
              <a:t>, which</a:t>
            </a:r>
            <a:r>
              <a:rPr sz="1400"/>
              <a:t> acts as a technological bridge</a:t>
            </a:r>
            <a:r>
              <a:rPr lang="it-IT" sz="1400"/>
              <a:t> because i</a:t>
            </a:r>
            <a:r>
              <a:rPr sz="1400"/>
              <a:t>t talks to </a:t>
            </a:r>
            <a:r>
              <a:rPr lang="it-IT" sz="1400"/>
              <a:t>both t</a:t>
            </a:r>
            <a:r>
              <a:rPr sz="1400"/>
              <a:t>he SOAP Anagrafe service and the REST Farmacia service, </a:t>
            </a:r>
            <a:r>
              <a:rPr lang="it-IT" sz="1400"/>
              <a:t>unifying</a:t>
            </a:r>
            <a:r>
              <a:rPr lang="it-IT" sz="1400"/>
              <a:t> </a:t>
            </a:r>
            <a:r>
              <a:rPr sz="1400"/>
              <a:t>the</a:t>
            </a:r>
            <a:r>
              <a:rPr lang="it-IT" sz="1400"/>
              <a:t>ir</a:t>
            </a:r>
            <a:r>
              <a:rPr sz="1400"/>
              <a:t> data and return</a:t>
            </a:r>
            <a:r>
              <a:rPr lang="it-IT" sz="1400"/>
              <a:t>ing</a:t>
            </a:r>
            <a:r>
              <a:rPr sz="1400"/>
              <a:t> a full Clinical Profile of the patient.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At the very </a:t>
            </a:r>
            <a:r>
              <a:rPr lang="it-IT" sz="1400"/>
              <a:t>end</a:t>
            </a:r>
            <a:r>
              <a:rPr sz="1400"/>
              <a:t> we have the </a:t>
            </a:r>
            <a:r>
              <a:rPr sz="1400" b="1"/>
              <a:t>Care Coordinator</a:t>
            </a:r>
            <a:r>
              <a:rPr lang="it-IT" sz="1400"/>
              <a:t>, which</a:t>
            </a:r>
            <a:r>
              <a:rPr sz="1400"/>
              <a:t> is the main orchestrator of our platform. It calls both the Clinical and Diagnostic aggregators in parallel, it waits for both </a:t>
            </a:r>
            <a:r>
              <a:rPr lang="it-IT" sz="1400"/>
              <a:t>of them t</a:t>
            </a:r>
            <a:r>
              <a:rPr sz="1400"/>
              <a:t>o finish</a:t>
            </a:r>
            <a:r>
              <a:rPr lang="it-IT" sz="1400"/>
              <a:t> and then </a:t>
            </a:r>
            <a:r>
              <a:rPr sz="1400"/>
              <a:t>cross-references all the data</a:t>
            </a:r>
            <a:r>
              <a:rPr lang="it-IT" sz="1400"/>
              <a:t> </a:t>
            </a:r>
            <a:r>
              <a:rPr sz="1400"/>
              <a:t>applies </a:t>
            </a:r>
            <a:r>
              <a:rPr lang="it-IT" sz="1400"/>
              <a:t>its own </a:t>
            </a:r>
            <a:r>
              <a:rPr sz="1400"/>
              <a:t>business rules to </a:t>
            </a:r>
            <a:r>
              <a:rPr sz="1400"/>
              <a:t>generate</a:t>
            </a:r>
            <a:r>
              <a:rPr lang="it-IT" sz="1400"/>
              <a:t> </a:t>
            </a:r>
            <a:r>
              <a:rPr sz="1400"/>
              <a:t>the final report.</a:t>
            </a:r>
            <a:endParaRPr lang="en-US"/>
          </a:p>
        </p:txBody>
      </p:sp>
      <p:sp>
        <p:nvSpPr>
          <p:cNvPr id="2136192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30863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621323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 sz="1400"/>
              <a:t>Now l</a:t>
            </a:r>
            <a:r>
              <a:rPr sz="1400"/>
              <a:t>et’s look at our Key Data Structures to see how our data is managed by </a:t>
            </a:r>
            <a:r>
              <a:rPr lang="it-IT" sz="1400"/>
              <a:t>all </a:t>
            </a:r>
            <a:r>
              <a:rPr sz="1400"/>
              <a:t>the components I just described.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On the left side we </a:t>
            </a:r>
            <a:r>
              <a:rPr lang="it-IT" sz="1400"/>
              <a:t>can see</a:t>
            </a:r>
            <a:r>
              <a:rPr lang="it-IT" sz="1400"/>
              <a:t> </a:t>
            </a:r>
            <a:r>
              <a:rPr sz="1400"/>
              <a:t>the </a:t>
            </a:r>
            <a:r>
              <a:rPr sz="1400" b="1"/>
              <a:t>Domain Objects</a:t>
            </a:r>
            <a:r>
              <a:rPr lang="it-IT" sz="1400"/>
              <a:t>, t</a:t>
            </a:r>
            <a:r>
              <a:rPr sz="1400"/>
              <a:t>hese are the simple data units managed by our providers, such as patient</a:t>
            </a:r>
            <a:r>
              <a:rPr lang="it-IT" sz="1400"/>
              <a:t>s</a:t>
            </a:r>
            <a:r>
              <a:rPr sz="1400"/>
              <a:t>, conditions, allergies a</a:t>
            </a:r>
            <a:r>
              <a:rPr lang="it-IT" sz="1400"/>
              <a:t>nd </a:t>
            </a:r>
            <a:r>
              <a:rPr sz="1400"/>
              <a:t>measurements, </a:t>
            </a:r>
            <a:r>
              <a:rPr lang="it-IT" sz="1400"/>
              <a:t>each one of them with all of their</a:t>
            </a:r>
            <a:r>
              <a:rPr lang="it-IT" sz="1400"/>
              <a:t> </a:t>
            </a:r>
            <a:r>
              <a:rPr sz="1400"/>
              <a:t>attributes on screen.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On the right side we have the </a:t>
            </a:r>
            <a:r>
              <a:rPr sz="1400" b="1"/>
              <a:t>Composed Objects</a:t>
            </a:r>
            <a:r>
              <a:rPr sz="1400"/>
              <a:t> created by our Prosumers.</a:t>
            </a:r>
            <a:r>
              <a:rPr lang="it-IT" sz="1400"/>
              <a:t> </a:t>
            </a:r>
            <a:r>
              <a:rPr lang="it-IT" sz="1400"/>
              <a:t>T</a:t>
            </a:r>
            <a:r>
              <a:rPr sz="1400"/>
              <a:t>he Diagnostic Bundle and the Clinical Profile represent the first level of </a:t>
            </a:r>
            <a:r>
              <a:rPr lang="it-IT" sz="1400"/>
              <a:t>composed</a:t>
            </a:r>
            <a:r>
              <a:rPr lang="it-IT" sz="1400"/>
              <a:t> data</a:t>
            </a:r>
            <a:r>
              <a:rPr lang="it-IT" sz="1400"/>
              <a:t>, respectively managed by the Diagnostic and Clinical aggregators.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A</a:t>
            </a:r>
            <a:r>
              <a:rPr lang="it-IT" sz="1400"/>
              <a:t>nother</a:t>
            </a:r>
            <a:r>
              <a:rPr sz="1400"/>
              <a:t> important </a:t>
            </a:r>
            <a:r>
              <a:rPr lang="it-IT" sz="1400"/>
              <a:t>data </a:t>
            </a:r>
            <a:r>
              <a:rPr sz="1400"/>
              <a:t>structure</a:t>
            </a:r>
            <a:r>
              <a:rPr lang="it-IT" sz="1400"/>
              <a:t> </a:t>
            </a:r>
            <a:r>
              <a:rPr sz="1400"/>
              <a:t>is the Risk Flag</a:t>
            </a:r>
            <a:r>
              <a:rPr lang="it-IT" sz="1400"/>
              <a:t>, they ar</a:t>
            </a:r>
            <a:r>
              <a:rPr sz="1400"/>
              <a:t>e </a:t>
            </a:r>
            <a:r>
              <a:rPr lang="it-IT" sz="1400"/>
              <a:t> managed by the </a:t>
            </a:r>
            <a:r>
              <a:rPr sz="1400"/>
              <a:t>Care Coordinator</a:t>
            </a:r>
            <a:r>
              <a:rPr lang="it-IT" sz="1400"/>
              <a:t>, which </a:t>
            </a:r>
            <a:r>
              <a:rPr sz="1400"/>
              <a:t>creates these flags automatically if it detects a dangerous situation. For example, if a doctor prescribes a drug that conflicts with a patient's allergy, or if a lab</a:t>
            </a:r>
            <a:r>
              <a:rPr lang="it-IT" sz="1400"/>
              <a:t>oratory</a:t>
            </a:r>
            <a:r>
              <a:rPr sz="1400"/>
              <a:t> test value is criti</a:t>
            </a:r>
            <a:r>
              <a:rPr sz="1400"/>
              <a:t>cally bad, the system generates a warning flag.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All of this information is packed into the final Fitness Report</a:t>
            </a:r>
            <a:r>
              <a:rPr lang="it-IT" sz="1400"/>
              <a:t>, which gives</a:t>
            </a:r>
            <a:r>
              <a:rPr lang="it-IT" sz="1400"/>
              <a:t> to </a:t>
            </a:r>
            <a:r>
              <a:rPr sz="1400"/>
              <a:t>the doctor a clear evaluation summary</a:t>
            </a:r>
            <a:r>
              <a:rPr lang="it-IT" sz="1400"/>
              <a:t>, and it can assume 3 values</a:t>
            </a:r>
            <a:r>
              <a:rPr lang="it-IT" sz="1400"/>
              <a:t>: “</a:t>
            </a:r>
            <a:r>
              <a:rPr sz="1400"/>
              <a:t>Fit</a:t>
            </a:r>
            <a:r>
              <a:rPr lang="it-IT" sz="1400"/>
              <a:t>”</a:t>
            </a:r>
            <a:r>
              <a:rPr sz="1400"/>
              <a:t>, </a:t>
            </a:r>
            <a:r>
              <a:rPr lang="it-IT" sz="1400"/>
              <a:t>“</a:t>
            </a:r>
            <a:r>
              <a:rPr sz="1400"/>
              <a:t>Fit with Reservation</a:t>
            </a:r>
            <a:r>
              <a:rPr lang="it-IT" sz="1400"/>
              <a:t>”</a:t>
            </a:r>
            <a:r>
              <a:rPr sz="1400"/>
              <a:t> or </a:t>
            </a:r>
            <a:r>
              <a:rPr lang="it-IT" sz="1400"/>
              <a:t>“</a:t>
            </a:r>
            <a:r>
              <a:rPr sz="1400"/>
              <a:t>Unfit</a:t>
            </a:r>
            <a:r>
              <a:rPr lang="it-IT" sz="1400"/>
              <a:t>”</a:t>
            </a:r>
            <a:r>
              <a:rPr lang="it-IT" sz="1400"/>
              <a:t>,</a:t>
            </a:r>
            <a:r>
              <a:rPr sz="1400"/>
              <a:t> along with the patient summary and the list of risk factors.</a:t>
            </a:r>
            <a:endParaRPr lang="en-US"/>
          </a:p>
        </p:txBody>
      </p:sp>
      <p:sp>
        <p:nvSpPr>
          <p:cNvPr id="1273049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9985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37165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7050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11485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4933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517581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98056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47497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7686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242196-202C-F19F-E59B-19A0C2A48E0E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08201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42604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39576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8B224E-5401-2944-BD9E-177ABE848A1D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0544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811640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22477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7D4132B-99D2-A016-0E8A-93AF35626232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55330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1380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13908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EBE06E-E069-3376-C5E3-792169FA5BE7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54041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867367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5283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2001506" name="Shape 0"/>
          <p:cNvSpPr/>
          <p:nvPr/>
        </p:nvSpPr>
        <p:spPr bwMode="auto">
          <a:xfrm>
            <a:off x="0" y="0"/>
            <a:ext cx="164592" cy="5148072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148955" name="Text 1"/>
          <p:cNvSpPr/>
          <p:nvPr/>
        </p:nvSpPr>
        <p:spPr bwMode="auto">
          <a:xfrm>
            <a:off x="502920" y="822960"/>
            <a:ext cx="8138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6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HealthSOA</a:t>
            </a:r>
            <a:endParaRPr lang="en-US" sz="6000"/>
          </a:p>
        </p:txBody>
      </p:sp>
      <p:sp>
        <p:nvSpPr>
          <p:cNvPr id="1784113037" name="Text 2"/>
          <p:cNvSpPr/>
          <p:nvPr/>
        </p:nvSpPr>
        <p:spPr bwMode="auto">
          <a:xfrm>
            <a:off x="502920" y="2057400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4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Hospital Platform for Pre-Procedure</a:t>
            </a:r>
            <a:endParaRPr lang="en-US" sz="2400"/>
          </a:p>
          <a:p>
            <a:pPr marL="0" indent="0">
              <a:buNone/>
              <a:defRPr/>
            </a:pPr>
            <a:r>
              <a:rPr lang="en-US" sz="24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Clinical Assessment</a:t>
            </a:r>
            <a:endParaRPr lang="en-US" sz="2400"/>
          </a:p>
        </p:txBody>
      </p:sp>
      <p:sp>
        <p:nvSpPr>
          <p:cNvPr id="1575819432" name="Text 3"/>
          <p:cNvSpPr/>
          <p:nvPr/>
        </p:nvSpPr>
        <p:spPr bwMode="auto">
          <a:xfrm>
            <a:off x="502920" y="324612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7BA8C8"/>
                </a:solidFill>
                <a:latin typeface="Calibri"/>
                <a:ea typeface="Calibri"/>
                <a:cs typeface="Calibri"/>
              </a:rPr>
              <a:t>Service-Oriented Software Engineering  ·  A.A. 2025/2026</a:t>
            </a:r>
            <a:endParaRPr lang="en-US" sz="1500"/>
          </a:p>
        </p:txBody>
      </p:sp>
      <p:sp>
        <p:nvSpPr>
          <p:cNvPr id="1246749169" name="Text 4"/>
          <p:cNvSpPr/>
          <p:nvPr/>
        </p:nvSpPr>
        <p:spPr bwMode="auto">
          <a:xfrm>
            <a:off x="502920" y="361188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7BA8C8"/>
                </a:solidFill>
                <a:latin typeface="Calibri"/>
                <a:ea typeface="Calibri"/>
                <a:cs typeface="Calibri"/>
              </a:rPr>
              <a:t>Università degli Studi dell'Aquila  ·  DISIM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4748557" name="Text 0"/>
          <p:cNvSpPr/>
          <p:nvPr/>
        </p:nvSpPr>
        <p:spPr bwMode="auto"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 1 </a:t>
            </a:r>
            <a:r>
              <a:rPr lang="it-IT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Domain, Architecture &amp; Infrastructure</a:t>
            </a:r>
            <a:endParaRPr lang="en-US" sz="4200"/>
          </a:p>
        </p:txBody>
      </p:sp>
      <p:sp>
        <p:nvSpPr>
          <p:cNvPr id="1433401756" name="Text 1"/>
          <p:cNvSpPr/>
          <p:nvPr/>
        </p:nvSpPr>
        <p:spPr bwMode="auto"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20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Edoardo Di Giuseppe</a:t>
            </a:r>
            <a:endParaRPr lang="en-US" sz="2000"/>
          </a:p>
        </p:txBody>
      </p:sp>
      <p:sp>
        <p:nvSpPr>
          <p:cNvPr id="1767308691" name="Text 2"/>
          <p:cNvSpPr/>
          <p:nvPr/>
        </p:nvSpPr>
        <p:spPr bwMode="auto">
          <a:xfrm>
            <a:off x="731520" y="30175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i="1">
                <a:solidFill>
                  <a:srgbClr val="7BA8C8"/>
                </a:solidFill>
                <a:latin typeface="Calibri"/>
                <a:ea typeface="Calibri"/>
                <a:cs typeface="Calibri"/>
              </a:rPr>
              <a:t>Domain &amp; Motivation · System Overview · Infrastructure · Load Balancing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5892787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Domain &amp; Motivation</a:t>
            </a:r>
            <a:endParaRPr lang="en-US" sz="3400"/>
          </a:p>
        </p:txBody>
      </p:sp>
      <p:sp>
        <p:nvSpPr>
          <p:cNvPr id="1259720397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25988146" name="Shape 2"/>
          <p:cNvSpPr/>
          <p:nvPr/>
        </p:nvSpPr>
        <p:spPr bwMode="auto">
          <a:xfrm>
            <a:off x="457200" y="1207008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70271263" name="Shape 3"/>
          <p:cNvSpPr/>
          <p:nvPr/>
        </p:nvSpPr>
        <p:spPr bwMode="auto">
          <a:xfrm>
            <a:off x="457200" y="1207008"/>
            <a:ext cx="64008" cy="822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54271626" name="Text 4"/>
          <p:cNvSpPr/>
          <p:nvPr/>
        </p:nvSpPr>
        <p:spPr bwMode="auto">
          <a:xfrm>
            <a:off x="685800" y="1271016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Legacy SOAP Integration</a:t>
            </a:r>
            <a:endParaRPr lang="en-US" sz="1300"/>
          </a:p>
        </p:txBody>
      </p:sp>
      <p:sp>
        <p:nvSpPr>
          <p:cNvPr id="1241509289" name="Text 5"/>
          <p:cNvSpPr/>
          <p:nvPr/>
        </p:nvSpPr>
        <p:spPr bwMode="auto">
          <a:xfrm>
            <a:off x="685800" y="157276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The regional Anagrafe Sanitaria is a real-world institutional system that exposes typed contracts via WSDL (HL7-style). Contract-first SOAP is imposed by the interoperability requirement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not an aesthetic choice.</a:t>
            </a:r>
            <a:endParaRPr lang="en-US" sz="1050"/>
          </a:p>
        </p:txBody>
      </p:sp>
      <p:sp>
        <p:nvSpPr>
          <p:cNvPr id="879541719" name="Shape 6"/>
          <p:cNvSpPr/>
          <p:nvPr/>
        </p:nvSpPr>
        <p:spPr bwMode="auto">
          <a:xfrm>
            <a:off x="457200" y="2139696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01424140" name="Shape 7"/>
          <p:cNvSpPr/>
          <p:nvPr/>
        </p:nvSpPr>
        <p:spPr bwMode="auto">
          <a:xfrm>
            <a:off x="457200" y="2139696"/>
            <a:ext cx="64008" cy="822960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62542725" name="Text 8"/>
          <p:cNvSpPr/>
          <p:nvPr/>
        </p:nvSpPr>
        <p:spPr bwMode="auto">
          <a:xfrm>
            <a:off x="685800" y="2203704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Asynchronous Lab Processing</a:t>
            </a:r>
            <a:endParaRPr lang="en-US" sz="1300"/>
          </a:p>
        </p:txBody>
      </p:sp>
      <p:sp>
        <p:nvSpPr>
          <p:cNvPr id="652901147" name="Text 9"/>
          <p:cNvSpPr/>
          <p:nvPr/>
        </p:nvSpPr>
        <p:spPr bwMode="auto">
          <a:xfrm>
            <a:off x="685800" y="250545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lab panel ordered urgently has real latency while the biological sample is processed. A synchronous call would hold threads and connections; asynchrony is mandated by the physics of the problem.</a:t>
            </a:r>
            <a:endParaRPr lang="en-US" sz="1050"/>
          </a:p>
        </p:txBody>
      </p:sp>
      <p:sp>
        <p:nvSpPr>
          <p:cNvPr id="1716865706" name="Shape 10"/>
          <p:cNvSpPr/>
          <p:nvPr/>
        </p:nvSpPr>
        <p:spPr bwMode="auto">
          <a:xfrm>
            <a:off x="457200" y="3072384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01320953" name="Shape 11"/>
          <p:cNvSpPr/>
          <p:nvPr/>
        </p:nvSpPr>
        <p:spPr bwMode="auto">
          <a:xfrm>
            <a:off x="457200" y="3072384"/>
            <a:ext cx="64008" cy="822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02004070" name="Text 12"/>
          <p:cNvSpPr/>
          <p:nvPr/>
        </p:nvSpPr>
        <p:spPr bwMode="auto">
          <a:xfrm>
            <a:off x="685800" y="31363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Independent Parallel Branches</a:t>
            </a:r>
            <a:endParaRPr lang="en-US" sz="1300"/>
          </a:p>
        </p:txBody>
      </p:sp>
      <p:sp>
        <p:nvSpPr>
          <p:cNvPr id="744299733" name="Text 13"/>
          <p:cNvSpPr/>
          <p:nvPr/>
        </p:nvSpPr>
        <p:spPr bwMode="auto">
          <a:xfrm>
            <a:off x="685800" y="3438144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fitness assessment needs the diagnostic bundle (lab + imaging) AND the clinical history (registry + prescriptions) at the same time. The two data-collection branches are logically independent; sequential execution would needlessly double latency.</a:t>
            </a:r>
            <a:endParaRPr lang="en-US" sz="1050"/>
          </a:p>
        </p:txBody>
      </p:sp>
      <p:sp>
        <p:nvSpPr>
          <p:cNvPr id="2057949646" name="Shape 14"/>
          <p:cNvSpPr/>
          <p:nvPr/>
        </p:nvSpPr>
        <p:spPr bwMode="auto">
          <a:xfrm>
            <a:off x="457200" y="4005072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85364382" name="Shape 15"/>
          <p:cNvSpPr/>
          <p:nvPr/>
        </p:nvSpPr>
        <p:spPr bwMode="auto">
          <a:xfrm>
            <a:off x="457200" y="4005072"/>
            <a:ext cx="64008" cy="822960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40120458" name="Text 16"/>
          <p:cNvSpPr/>
          <p:nvPr/>
        </p:nvSpPr>
        <p:spPr bwMode="auto">
          <a:xfrm>
            <a:off x="685800" y="4069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Bursty Peak Load</a:t>
            </a:r>
            <a:endParaRPr lang="en-US" sz="1300"/>
          </a:p>
        </p:txBody>
      </p:sp>
      <p:sp>
        <p:nvSpPr>
          <p:cNvPr id="1255426119" name="Text 17"/>
          <p:cNvSpPr/>
          <p:nvPr/>
        </p:nvSpPr>
        <p:spPr bwMode="auto">
          <a:xfrm>
            <a:off x="685800" y="437083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Anagrafe and Laboratorio sit on the critical path of every workflow and are hit by many clinicians simultaneously during morning rounds and ER rushes. Load is bursty and read-heavy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replication is motivated by specific system behaviour.</a:t>
            </a: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665248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System Overview</a:t>
            </a:r>
            <a:endParaRPr lang="en-US" sz="3400"/>
          </a:p>
        </p:txBody>
      </p:sp>
      <p:sp>
        <p:nvSpPr>
          <p:cNvPr id="1331820508" name="Text 24"/>
          <p:cNvSpPr/>
          <p:nvPr/>
        </p:nvSpPr>
        <p:spPr bwMode="auto">
          <a:xfrm>
            <a:off x="6903720" y="3547872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endParaRPr lang="en-US" sz="950"/>
          </a:p>
        </p:txBody>
      </p:sp>
      <p:sp>
        <p:nvSpPr>
          <p:cNvPr id="776595656" name="Text 30"/>
          <p:cNvSpPr/>
          <p:nvPr/>
        </p:nvSpPr>
        <p:spPr bwMode="auto">
          <a:xfrm>
            <a:off x="457200" y="449884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endParaRPr lang="en-US" sz="1000"/>
          </a:p>
        </p:txBody>
      </p:sp>
      <p:pic>
        <p:nvPicPr>
          <p:cNvPr id="1911935427" name="Immagine 4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117187" y="856670"/>
            <a:ext cx="4909625" cy="415180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8053156" name="Shape 1"/>
          <p:cNvSpPr/>
          <p:nvPr/>
        </p:nvSpPr>
        <p:spPr bwMode="auto">
          <a:xfrm>
            <a:off x="457200" y="745235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708873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Infrastructure Services</a:t>
            </a:r>
            <a:endParaRPr lang="en-US" sz="3400"/>
          </a:p>
        </p:txBody>
      </p:sp>
      <p:sp>
        <p:nvSpPr>
          <p:cNvPr id="1197931347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9170958" name="Shape 2"/>
          <p:cNvSpPr/>
          <p:nvPr/>
        </p:nvSpPr>
        <p:spPr bwMode="auto">
          <a:xfrm>
            <a:off x="457200" y="1207008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79739907" name="Text 3"/>
          <p:cNvSpPr/>
          <p:nvPr/>
        </p:nvSpPr>
        <p:spPr bwMode="auto">
          <a:xfrm>
            <a:off x="640080" y="128016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Config Server</a:t>
            </a:r>
            <a:endParaRPr lang="en-US" sz="1400"/>
          </a:p>
        </p:txBody>
      </p:sp>
      <p:sp>
        <p:nvSpPr>
          <p:cNvPr id="788056825" name="Shape 4"/>
          <p:cNvSpPr/>
          <p:nvPr/>
        </p:nvSpPr>
        <p:spPr bwMode="auto">
          <a:xfrm>
            <a:off x="7132320" y="1280160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65931998" name="Text 5"/>
          <p:cNvSpPr/>
          <p:nvPr/>
        </p:nvSpPr>
        <p:spPr bwMode="auto">
          <a:xfrm>
            <a:off x="7132320" y="1280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:8888</a:t>
            </a:r>
            <a:endParaRPr lang="en-US" sz="1200"/>
          </a:p>
        </p:txBody>
      </p:sp>
      <p:sp>
        <p:nvSpPr>
          <p:cNvPr id="1668379135" name="Text 6"/>
          <p:cNvSpPr/>
          <p:nvPr/>
        </p:nvSpPr>
        <p:spPr bwMode="auto">
          <a:xfrm>
            <a:off x="658368" y="160934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Centralises all service properties in a sibling git repository (healthsoa-properties-repository)</a:t>
            </a:r>
            <a:endParaRPr lang="en-US" sz="1050"/>
          </a:p>
        </p:txBody>
      </p:sp>
      <p:sp>
        <p:nvSpPr>
          <p:cNvPr id="875235895" name="Text 7"/>
          <p:cNvSpPr/>
          <p:nvPr/>
        </p:nvSpPr>
        <p:spPr bwMode="auto">
          <a:xfrm>
            <a:off x="658368" y="1847088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Each microservice reads its entire config on startup via spring.config.import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hardcoded values</a:t>
            </a:r>
            <a:endParaRPr lang="en-US" sz="1050"/>
          </a:p>
        </p:txBody>
      </p:sp>
      <p:sp>
        <p:nvSpPr>
          <p:cNvPr id="1284851336" name="Text 8"/>
          <p:cNvSpPr/>
          <p:nvPr/>
        </p:nvSpPr>
        <p:spPr bwMode="auto">
          <a:xfrm>
            <a:off x="658368" y="2084832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Runtime refresh: POST /actuator/refresh + @RefreshScope pushes config changes without restarting</a:t>
            </a:r>
            <a:endParaRPr lang="en-US" sz="1050"/>
          </a:p>
        </p:txBody>
      </p:sp>
      <p:sp>
        <p:nvSpPr>
          <p:cNvPr id="1697803353" name="Shape 9"/>
          <p:cNvSpPr/>
          <p:nvPr/>
        </p:nvSpPr>
        <p:spPr bwMode="auto">
          <a:xfrm>
            <a:off x="457200" y="2468880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80040161" name="Text 10"/>
          <p:cNvSpPr/>
          <p:nvPr/>
        </p:nvSpPr>
        <p:spPr bwMode="auto">
          <a:xfrm>
            <a:off x="640080" y="25420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Discovery Server — Eureka</a:t>
            </a:r>
            <a:endParaRPr lang="en-US" sz="1400"/>
          </a:p>
        </p:txBody>
      </p:sp>
      <p:sp>
        <p:nvSpPr>
          <p:cNvPr id="887312277" name="Shape 11"/>
          <p:cNvSpPr/>
          <p:nvPr/>
        </p:nvSpPr>
        <p:spPr bwMode="auto">
          <a:xfrm>
            <a:off x="7132320" y="2542032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8818333" name="Text 12"/>
          <p:cNvSpPr/>
          <p:nvPr/>
        </p:nvSpPr>
        <p:spPr bwMode="auto">
          <a:xfrm>
            <a:off x="7132320" y="254203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:8761</a:t>
            </a:r>
            <a:endParaRPr lang="en-US" sz="1200"/>
          </a:p>
        </p:txBody>
      </p:sp>
      <p:sp>
        <p:nvSpPr>
          <p:cNvPr id="291932360" name="Text 13"/>
          <p:cNvSpPr/>
          <p:nvPr/>
        </p:nvSpPr>
        <p:spPr bwMode="auto">
          <a:xfrm>
            <a:off x="658368" y="2871216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All services self-register at startup via @EnableDiscoveryClient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static address book</a:t>
            </a:r>
            <a:endParaRPr lang="en-US" sz="1050"/>
          </a:p>
        </p:txBody>
      </p:sp>
      <p:sp>
        <p:nvSpPr>
          <p:cNvPr id="467750437" name="Text 14"/>
          <p:cNvSpPr/>
          <p:nvPr/>
        </p:nvSpPr>
        <p:spPr bwMode="auto">
          <a:xfrm>
            <a:off x="658368" y="3108960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Gateway and Feign clients resolve service names dynamically; load balancing is transparent</a:t>
            </a:r>
            <a:endParaRPr lang="en-US" sz="1050"/>
          </a:p>
        </p:txBody>
      </p:sp>
      <p:sp>
        <p:nvSpPr>
          <p:cNvPr id="694368951" name="Text 15"/>
          <p:cNvSpPr/>
          <p:nvPr/>
        </p:nvSpPr>
        <p:spPr bwMode="auto">
          <a:xfrm>
            <a:off x="658368" y="334670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Health dashboard at http://localhost:8761 shows registered instances and their status</a:t>
            </a:r>
            <a:endParaRPr lang="en-US" sz="1050"/>
          </a:p>
        </p:txBody>
      </p:sp>
      <p:sp>
        <p:nvSpPr>
          <p:cNvPr id="631558275" name="Shape 16"/>
          <p:cNvSpPr/>
          <p:nvPr/>
        </p:nvSpPr>
        <p:spPr bwMode="auto">
          <a:xfrm>
            <a:off x="457200" y="3730752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85671503" name="Text 17"/>
          <p:cNvSpPr/>
          <p:nvPr/>
        </p:nvSpPr>
        <p:spPr bwMode="auto">
          <a:xfrm>
            <a:off x="640080" y="3803904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API Gateway</a:t>
            </a:r>
            <a:endParaRPr lang="en-US" sz="1400"/>
          </a:p>
        </p:txBody>
      </p:sp>
      <p:sp>
        <p:nvSpPr>
          <p:cNvPr id="576649361" name="Shape 18"/>
          <p:cNvSpPr/>
          <p:nvPr/>
        </p:nvSpPr>
        <p:spPr bwMode="auto">
          <a:xfrm>
            <a:off x="7132320" y="3803904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3596235" name="Text 19"/>
          <p:cNvSpPr/>
          <p:nvPr/>
        </p:nvSpPr>
        <p:spPr bwMode="auto">
          <a:xfrm>
            <a:off x="7132320" y="380390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:9000</a:t>
            </a:r>
            <a:endParaRPr lang="en-US" sz="1200"/>
          </a:p>
        </p:txBody>
      </p:sp>
      <p:sp>
        <p:nvSpPr>
          <p:cNvPr id="1999993931" name="Text 20"/>
          <p:cNvSpPr/>
          <p:nvPr/>
        </p:nvSpPr>
        <p:spPr bwMode="auto">
          <a:xfrm>
            <a:off x="658368" y="4133088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Single public entry point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clients never call services directly, only /api/&lt;prefix&gt;/**</a:t>
            </a:r>
            <a:endParaRPr lang="en-US" sz="1050"/>
          </a:p>
        </p:txBody>
      </p:sp>
      <p:sp>
        <p:nvSpPr>
          <p:cNvPr id="331582945" name="Text 21"/>
          <p:cNvSpPr/>
          <p:nvPr/>
        </p:nvSpPr>
        <p:spPr bwMode="auto">
          <a:xfrm>
            <a:off x="658368" y="4370832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Routes use lb://service-name URIs; Spring Cloud LoadBalancer picks a healthy replica</a:t>
            </a:r>
            <a:endParaRPr lang="en-US" sz="1050"/>
          </a:p>
        </p:txBody>
      </p:sp>
      <p:sp>
        <p:nvSpPr>
          <p:cNvPr id="1525141202" name="Text 22"/>
          <p:cNvSpPr/>
          <p:nvPr/>
        </p:nvSpPr>
        <p:spPr bwMode="auto">
          <a:xfrm>
            <a:off x="658368" y="4608576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5613175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Load Balancing &amp; Scalability</a:t>
            </a:r>
            <a:endParaRPr lang="en-US" sz="3400"/>
          </a:p>
        </p:txBody>
      </p:sp>
      <p:sp>
        <p:nvSpPr>
          <p:cNvPr id="2121298302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52324551" name="Shape 2"/>
          <p:cNvSpPr/>
          <p:nvPr/>
        </p:nvSpPr>
        <p:spPr bwMode="auto">
          <a:xfrm>
            <a:off x="457200" y="1188720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84254031" name="Text 3"/>
          <p:cNvSpPr/>
          <p:nvPr/>
        </p:nvSpPr>
        <p:spPr bwMode="auto">
          <a:xfrm>
            <a:off x="64008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Scalable Services</a:t>
            </a:r>
            <a:endParaRPr lang="en-US" sz="1400"/>
          </a:p>
        </p:txBody>
      </p:sp>
      <p:sp>
        <p:nvSpPr>
          <p:cNvPr id="288063391" name="Text 4"/>
          <p:cNvSpPr/>
          <p:nvPr/>
        </p:nvSpPr>
        <p:spPr bwMode="auto">
          <a:xfrm>
            <a:off x="658368" y="169164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Anagrafe  :9101</a:t>
            </a:r>
            <a:endParaRPr lang="en-US" sz="1150"/>
          </a:p>
        </p:txBody>
      </p:sp>
      <p:sp>
        <p:nvSpPr>
          <p:cNvPr id="608398427" name="Text 5"/>
          <p:cNvSpPr/>
          <p:nvPr/>
        </p:nvSpPr>
        <p:spPr bwMode="auto">
          <a:xfrm>
            <a:off x="658368" y="1965960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Read-heavy on every workflow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demographics, history, allergies queried by every request</a:t>
            </a:r>
            <a:endParaRPr lang="en-US" sz="950"/>
          </a:p>
        </p:txBody>
      </p:sp>
      <p:sp>
        <p:nvSpPr>
          <p:cNvPr id="648839190" name="Text 6"/>
          <p:cNvSpPr/>
          <p:nvPr/>
        </p:nvSpPr>
        <p:spPr bwMode="auto">
          <a:xfrm>
            <a:off x="658368" y="2441448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Laboratorio  :9102</a:t>
            </a:r>
            <a:endParaRPr lang="en-US" sz="1150"/>
          </a:p>
        </p:txBody>
      </p:sp>
      <p:sp>
        <p:nvSpPr>
          <p:cNvPr id="1634155472" name="Text 7"/>
          <p:cNvSpPr/>
          <p:nvPr/>
        </p:nvSpPr>
        <p:spPr bwMode="auto">
          <a:xfrm>
            <a:off x="658368" y="271576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Peak order bursts during morning rounds and ER rushes; async processing with per-instance thread pools</a:t>
            </a:r>
            <a:endParaRPr lang="en-US" sz="950"/>
          </a:p>
        </p:txBody>
      </p:sp>
      <p:sp>
        <p:nvSpPr>
          <p:cNvPr id="121878393" name="Text 8"/>
          <p:cNvSpPr/>
          <p:nvPr/>
        </p:nvSpPr>
        <p:spPr bwMode="auto">
          <a:xfrm>
            <a:off x="658368" y="319125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Imaging  :9104</a:t>
            </a:r>
            <a:endParaRPr lang="en-US" sz="1150"/>
          </a:p>
        </p:txBody>
      </p:sp>
      <p:sp>
        <p:nvSpPr>
          <p:cNvPr id="2037370456" name="Text 9"/>
          <p:cNvSpPr/>
          <p:nvPr/>
        </p:nvSpPr>
        <p:spPr bwMode="auto">
          <a:xfrm>
            <a:off x="658368" y="3465576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Same bursty profile as Laboratorio; stateless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any replica handles any request</a:t>
            </a:r>
            <a:endParaRPr lang="en-US" sz="950"/>
          </a:p>
        </p:txBody>
      </p:sp>
      <p:sp>
        <p:nvSpPr>
          <p:cNvPr id="1935061337" name="Text 10"/>
          <p:cNvSpPr/>
          <p:nvPr/>
        </p:nvSpPr>
        <p:spPr bwMode="auto">
          <a:xfrm>
            <a:off x="658368" y="3941064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Diagnostic Aggregator  :9201</a:t>
            </a:r>
            <a:endParaRPr lang="en-US" sz="1150"/>
          </a:p>
        </p:txBody>
      </p:sp>
      <p:sp>
        <p:nvSpPr>
          <p:cNvPr id="852526698" name="Text 11"/>
          <p:cNvSpPr/>
          <p:nvPr/>
        </p:nvSpPr>
        <p:spPr bwMode="auto">
          <a:xfrm>
            <a:off x="658368" y="4215384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Critical path of UC-3; stateless trackingId design enables transparent horizontal scaling</a:t>
            </a:r>
            <a:endParaRPr lang="en-US" sz="950"/>
          </a:p>
        </p:txBody>
      </p:sp>
      <p:sp>
        <p:nvSpPr>
          <p:cNvPr id="1199571013" name="Text 12"/>
          <p:cNvSpPr/>
          <p:nvPr/>
        </p:nvSpPr>
        <p:spPr bwMode="auto">
          <a:xfrm>
            <a:off x="658368" y="457200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50"/>
          </a:p>
        </p:txBody>
      </p:sp>
      <p:sp>
        <p:nvSpPr>
          <p:cNvPr id="1195896249" name="Shape 13"/>
          <p:cNvSpPr/>
          <p:nvPr/>
        </p:nvSpPr>
        <p:spPr bwMode="auto">
          <a:xfrm>
            <a:off x="4754880" y="1188720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28219505" name="Text 14"/>
          <p:cNvSpPr/>
          <p:nvPr/>
        </p:nvSpPr>
        <p:spPr bwMode="auto">
          <a:xfrm>
            <a:off x="493776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How It Works</a:t>
            </a:r>
            <a:endParaRPr lang="en-US" sz="1400"/>
          </a:p>
        </p:txBody>
      </p:sp>
      <p:sp>
        <p:nvSpPr>
          <p:cNvPr id="1577828112" name="Text 15"/>
          <p:cNvSpPr/>
          <p:nvPr/>
        </p:nvSpPr>
        <p:spPr bwMode="auto">
          <a:xfrm>
            <a:off x="4937760" y="169164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Eureka registration</a:t>
            </a:r>
            <a:endParaRPr lang="en-US" sz="1100"/>
          </a:p>
        </p:txBody>
      </p:sp>
      <p:sp>
        <p:nvSpPr>
          <p:cNvPr id="273737969" name="Text 16"/>
          <p:cNvSpPr/>
          <p:nvPr/>
        </p:nvSpPr>
        <p:spPr bwMode="auto">
          <a:xfrm>
            <a:off x="4937760" y="1947671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Every replica self-registers; gateway and Feign query the live registry at call time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static routes.</a:t>
            </a:r>
            <a:endParaRPr lang="en-US" sz="950"/>
          </a:p>
        </p:txBody>
      </p:sp>
      <p:sp>
        <p:nvSpPr>
          <p:cNvPr id="935012986" name="Text 17"/>
          <p:cNvSpPr/>
          <p:nvPr/>
        </p:nvSpPr>
        <p:spPr bwMode="auto">
          <a:xfrm>
            <a:off x="4937760" y="2359152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lb:// routing</a:t>
            </a:r>
            <a:endParaRPr lang="en-US" sz="1100"/>
          </a:p>
        </p:txBody>
      </p:sp>
      <p:sp>
        <p:nvSpPr>
          <p:cNvPr id="923688833" name="Text 18"/>
          <p:cNvSpPr/>
          <p:nvPr/>
        </p:nvSpPr>
        <p:spPr bwMode="auto">
          <a:xfrm>
            <a:off x="4937760" y="261518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Gateway routes contain lb://service-name; Spring Cloud LoadBalancer distributes across healthy instances.</a:t>
            </a:r>
            <a:endParaRPr lang="en-US" sz="950"/>
          </a:p>
        </p:txBody>
      </p:sp>
      <p:sp>
        <p:nvSpPr>
          <p:cNvPr id="1989017945" name="Text 19"/>
          <p:cNvSpPr/>
          <p:nvPr/>
        </p:nvSpPr>
        <p:spPr bwMode="auto">
          <a:xfrm>
            <a:off x="4937760" y="3026664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@FeignClient(name=…)</a:t>
            </a:r>
            <a:endParaRPr lang="en-US" sz="1100"/>
          </a:p>
        </p:txBody>
      </p:sp>
      <p:sp>
        <p:nvSpPr>
          <p:cNvPr id="342098500" name="Text 20"/>
          <p:cNvSpPr/>
          <p:nvPr/>
        </p:nvSpPr>
        <p:spPr bwMode="auto">
          <a:xfrm>
            <a:off x="4937760" y="328269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Feign resolves the name via Eureka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IP, no port. Round-robin load balancing is implicit.</a:t>
            </a:r>
            <a:endParaRPr lang="en-US" sz="950"/>
          </a:p>
        </p:txBody>
      </p:sp>
      <p:sp>
        <p:nvSpPr>
          <p:cNvPr id="1532234787" name="Text 21"/>
          <p:cNvSpPr/>
          <p:nvPr/>
        </p:nvSpPr>
        <p:spPr bwMode="auto">
          <a:xfrm>
            <a:off x="4937760" y="3694176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docker-compose --scale</a:t>
            </a:r>
            <a:endParaRPr lang="en-US" sz="1100"/>
          </a:p>
        </p:txBody>
      </p:sp>
      <p:sp>
        <p:nvSpPr>
          <p:cNvPr id="1025123975" name="Text 22"/>
          <p:cNvSpPr/>
          <p:nvPr/>
        </p:nvSpPr>
        <p:spPr bwMode="auto">
          <a:xfrm>
            <a:off x="4937760" y="395020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docker-compose up --scale laboratorio-service=3 spins up replicas with zero code changes.</a:t>
            </a:r>
            <a:endParaRPr lang="en-US" sz="950"/>
          </a:p>
        </p:txBody>
      </p:sp>
      <p:sp>
        <p:nvSpPr>
          <p:cNvPr id="1164747125" name="Text 23"/>
          <p:cNvSpPr/>
          <p:nvPr/>
        </p:nvSpPr>
        <p:spPr bwMode="auto">
          <a:xfrm>
            <a:off x="4937760" y="436168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100"/>
          </a:p>
        </p:txBody>
      </p:sp>
      <p:sp>
        <p:nvSpPr>
          <p:cNvPr id="528608956" name="Text 24"/>
          <p:cNvSpPr/>
          <p:nvPr/>
        </p:nvSpPr>
        <p:spPr bwMode="auto">
          <a:xfrm>
            <a:off x="4937760" y="46177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950"/>
          </a:p>
        </p:txBody>
      </p:sp>
      <p:sp>
        <p:nvSpPr>
          <p:cNvPr id="737505904" name="Text 25"/>
          <p:cNvSpPr/>
          <p:nvPr/>
        </p:nvSpPr>
        <p:spPr bwMode="auto">
          <a:xfrm>
            <a:off x="4937760" y="45720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9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8383139" name="Text 0"/>
          <p:cNvSpPr/>
          <p:nvPr/>
        </p:nvSpPr>
        <p:spPr bwMode="auto"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 2 </a:t>
            </a:r>
            <a:r>
              <a:rPr lang="it-IT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Providers, Prosumers &amp; Data Model</a:t>
            </a:r>
            <a:endParaRPr lang="en-US" sz="4200"/>
          </a:p>
        </p:txBody>
      </p:sp>
      <p:sp>
        <p:nvSpPr>
          <p:cNvPr id="619736058" name="Text 1"/>
          <p:cNvSpPr/>
          <p:nvPr/>
        </p:nvSpPr>
        <p:spPr bwMode="auto"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2000"/>
          </a:p>
        </p:txBody>
      </p:sp>
      <p:sp>
        <p:nvSpPr>
          <p:cNvPr id="1577645029" name="Text 2"/>
          <p:cNvSpPr/>
          <p:nvPr/>
        </p:nvSpPr>
        <p:spPr bwMode="auto">
          <a:xfrm>
            <a:off x="731520" y="30175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400"/>
          </a:p>
        </p:txBody>
      </p:sp>
      <p:sp>
        <p:nvSpPr>
          <p:cNvPr id="273665243" name="Text 1"/>
          <p:cNvSpPr/>
          <p:nvPr/>
        </p:nvSpPr>
        <p:spPr bwMode="auto">
          <a:xfrm>
            <a:off x="883919" y="2666999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20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Lorenzo Di Giandomenico</a:t>
            </a: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1367668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Service Providers</a:t>
            </a:r>
            <a:endParaRPr lang="en-US" sz="3400"/>
          </a:p>
        </p:txBody>
      </p:sp>
      <p:sp>
        <p:nvSpPr>
          <p:cNvPr id="2000650378" name="Shape 1"/>
          <p:cNvSpPr/>
          <p:nvPr/>
        </p:nvSpPr>
        <p:spPr bwMode="auto">
          <a:xfrm>
            <a:off x="457200" y="71323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95423857" name="Shape 2"/>
          <p:cNvSpPr/>
          <p:nvPr/>
        </p:nvSpPr>
        <p:spPr bwMode="auto">
          <a:xfrm>
            <a:off x="264115" y="886968"/>
            <a:ext cx="16459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68940391" name="Text 3"/>
          <p:cNvSpPr/>
          <p:nvPr/>
        </p:nvSpPr>
        <p:spPr bwMode="auto">
          <a:xfrm>
            <a:off x="328123" y="886968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200"/>
          </a:p>
        </p:txBody>
      </p:sp>
      <p:sp>
        <p:nvSpPr>
          <p:cNvPr id="1107890406" name="Shape 4"/>
          <p:cNvSpPr/>
          <p:nvPr/>
        </p:nvSpPr>
        <p:spPr bwMode="auto">
          <a:xfrm>
            <a:off x="1910035" y="886968"/>
            <a:ext cx="11887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55727428" name="Text 5"/>
          <p:cNvSpPr/>
          <p:nvPr/>
        </p:nvSpPr>
        <p:spPr bwMode="auto">
          <a:xfrm>
            <a:off x="1974043" y="886968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Protocol</a:t>
            </a:r>
            <a:endParaRPr lang="en-US" sz="1200"/>
          </a:p>
        </p:txBody>
      </p:sp>
      <p:sp>
        <p:nvSpPr>
          <p:cNvPr id="1728231110" name="Shape 6"/>
          <p:cNvSpPr/>
          <p:nvPr/>
        </p:nvSpPr>
        <p:spPr bwMode="auto">
          <a:xfrm>
            <a:off x="3098755" y="886968"/>
            <a:ext cx="7315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75270186" name="Text 7"/>
          <p:cNvSpPr/>
          <p:nvPr/>
        </p:nvSpPr>
        <p:spPr bwMode="auto">
          <a:xfrm>
            <a:off x="3162763" y="886968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Port</a:t>
            </a:r>
            <a:endParaRPr lang="en-US" sz="1200"/>
          </a:p>
        </p:txBody>
      </p:sp>
      <p:sp>
        <p:nvSpPr>
          <p:cNvPr id="872965948" name="Shape 8"/>
          <p:cNvSpPr/>
          <p:nvPr/>
        </p:nvSpPr>
        <p:spPr bwMode="auto">
          <a:xfrm>
            <a:off x="3830275" y="886968"/>
            <a:ext cx="512064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28237846" name="Text 9"/>
          <p:cNvSpPr/>
          <p:nvPr/>
        </p:nvSpPr>
        <p:spPr bwMode="auto">
          <a:xfrm>
            <a:off x="3894283" y="886968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Responsibility</a:t>
            </a:r>
            <a:endParaRPr lang="en-US" sz="1200"/>
          </a:p>
        </p:txBody>
      </p:sp>
      <p:sp>
        <p:nvSpPr>
          <p:cNvPr id="2044333791" name="Shape 10"/>
          <p:cNvSpPr/>
          <p:nvPr/>
        </p:nvSpPr>
        <p:spPr bwMode="auto">
          <a:xfrm>
            <a:off x="264115" y="1682496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95979857" name="Text 11"/>
          <p:cNvSpPr/>
          <p:nvPr/>
        </p:nvSpPr>
        <p:spPr bwMode="auto">
          <a:xfrm>
            <a:off x="328123" y="1682496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Anagrafe </a:t>
            </a: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100"/>
          </a:p>
        </p:txBody>
      </p:sp>
      <p:sp>
        <p:nvSpPr>
          <p:cNvPr id="315641068" name="Shape 12"/>
          <p:cNvSpPr/>
          <p:nvPr/>
        </p:nvSpPr>
        <p:spPr bwMode="auto">
          <a:xfrm>
            <a:off x="1910035" y="1682496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58984854" name="Text 13"/>
          <p:cNvSpPr/>
          <p:nvPr/>
        </p:nvSpPr>
        <p:spPr bwMode="auto">
          <a:xfrm>
            <a:off x="1974043" y="1682496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SOAP (CXF)</a:t>
            </a:r>
            <a:endParaRPr lang="en-US" sz="1100"/>
          </a:p>
        </p:txBody>
      </p:sp>
      <p:sp>
        <p:nvSpPr>
          <p:cNvPr id="2071702848" name="Shape 14"/>
          <p:cNvSpPr/>
          <p:nvPr/>
        </p:nvSpPr>
        <p:spPr bwMode="auto">
          <a:xfrm>
            <a:off x="3098755" y="1682496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4364552" name="Text 15"/>
          <p:cNvSpPr/>
          <p:nvPr/>
        </p:nvSpPr>
        <p:spPr bwMode="auto">
          <a:xfrm>
            <a:off x="3162763" y="1682496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9101</a:t>
            </a:r>
            <a:endParaRPr lang="en-US" sz="1300"/>
          </a:p>
        </p:txBody>
      </p:sp>
      <p:sp>
        <p:nvSpPr>
          <p:cNvPr id="859679778" name="Shape 16"/>
          <p:cNvSpPr/>
          <p:nvPr/>
        </p:nvSpPr>
        <p:spPr bwMode="auto">
          <a:xfrm>
            <a:off x="3830275" y="1682496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04310073" name="Text 17"/>
          <p:cNvSpPr/>
          <p:nvPr/>
        </p:nvSpPr>
        <p:spPr bwMode="auto">
          <a:xfrm>
            <a:off x="3894283" y="1682496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 demographics, medical history (conditions)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and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known allergies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b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</a:b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ontract-first WSDL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100"/>
          </a:p>
        </p:txBody>
      </p:sp>
      <p:sp>
        <p:nvSpPr>
          <p:cNvPr id="899174146" name="Shape 18"/>
          <p:cNvSpPr/>
          <p:nvPr/>
        </p:nvSpPr>
        <p:spPr bwMode="auto">
          <a:xfrm>
            <a:off x="264115" y="2478024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66726598" name="Text 19"/>
          <p:cNvSpPr/>
          <p:nvPr/>
        </p:nvSpPr>
        <p:spPr bwMode="auto">
          <a:xfrm>
            <a:off x="328123" y="2478024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Laboratorio </a:t>
            </a: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100"/>
          </a:p>
        </p:txBody>
      </p:sp>
      <p:sp>
        <p:nvSpPr>
          <p:cNvPr id="276814742" name="Shape 20"/>
          <p:cNvSpPr/>
          <p:nvPr/>
        </p:nvSpPr>
        <p:spPr bwMode="auto">
          <a:xfrm>
            <a:off x="1910035" y="2478024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62699013" name="Text 21"/>
          <p:cNvSpPr/>
          <p:nvPr/>
        </p:nvSpPr>
        <p:spPr bwMode="auto">
          <a:xfrm>
            <a:off x="1974043" y="2478024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 async</a:t>
            </a:r>
            <a:endParaRPr lang="en-US" sz="1100"/>
          </a:p>
        </p:txBody>
      </p:sp>
      <p:sp>
        <p:nvSpPr>
          <p:cNvPr id="1346816014" name="Shape 22"/>
          <p:cNvSpPr/>
          <p:nvPr/>
        </p:nvSpPr>
        <p:spPr bwMode="auto">
          <a:xfrm>
            <a:off x="3098755" y="2478024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6710619" name="Text 23"/>
          <p:cNvSpPr/>
          <p:nvPr/>
        </p:nvSpPr>
        <p:spPr bwMode="auto">
          <a:xfrm>
            <a:off x="3162763" y="2478024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9102</a:t>
            </a:r>
            <a:endParaRPr lang="en-US" sz="1300"/>
          </a:p>
        </p:txBody>
      </p:sp>
      <p:sp>
        <p:nvSpPr>
          <p:cNvPr id="1675955335" name="Shape 24"/>
          <p:cNvSpPr/>
          <p:nvPr/>
        </p:nvSpPr>
        <p:spPr bwMode="auto">
          <a:xfrm>
            <a:off x="3830275" y="2478024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30345915" name="Text 25"/>
          <p:cNvSpPr/>
          <p:nvPr/>
        </p:nvSpPr>
        <p:spPr bwMode="auto">
          <a:xfrm>
            <a:off x="3894283" y="2478024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Lab test orders 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and measurements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status polling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for 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result retrieval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100"/>
          </a:p>
        </p:txBody>
      </p:sp>
      <p:sp>
        <p:nvSpPr>
          <p:cNvPr id="1665574160" name="Shape 26"/>
          <p:cNvSpPr/>
          <p:nvPr/>
        </p:nvSpPr>
        <p:spPr bwMode="auto">
          <a:xfrm>
            <a:off x="264115" y="3273552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13122723" name="Text 27"/>
          <p:cNvSpPr/>
          <p:nvPr/>
        </p:nvSpPr>
        <p:spPr bwMode="auto">
          <a:xfrm>
            <a:off x="328123" y="3273552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Farmacia </a:t>
            </a: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100"/>
          </a:p>
        </p:txBody>
      </p:sp>
      <p:sp>
        <p:nvSpPr>
          <p:cNvPr id="744823054" name="Shape 28"/>
          <p:cNvSpPr/>
          <p:nvPr/>
        </p:nvSpPr>
        <p:spPr bwMode="auto">
          <a:xfrm>
            <a:off x="1910035" y="3273552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86835652" name="Text 29"/>
          <p:cNvSpPr/>
          <p:nvPr/>
        </p:nvSpPr>
        <p:spPr bwMode="auto">
          <a:xfrm>
            <a:off x="1974043" y="3273552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</a:t>
            </a:r>
            <a:endParaRPr lang="en-US" sz="1100"/>
          </a:p>
        </p:txBody>
      </p:sp>
      <p:sp>
        <p:nvSpPr>
          <p:cNvPr id="250903888" name="Shape 30"/>
          <p:cNvSpPr/>
          <p:nvPr/>
        </p:nvSpPr>
        <p:spPr bwMode="auto">
          <a:xfrm>
            <a:off x="3098755" y="3273552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22167120" name="Text 31"/>
          <p:cNvSpPr/>
          <p:nvPr/>
        </p:nvSpPr>
        <p:spPr bwMode="auto">
          <a:xfrm>
            <a:off x="3162763" y="3273552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9103</a:t>
            </a:r>
            <a:endParaRPr lang="en-US" sz="1300"/>
          </a:p>
        </p:txBody>
      </p:sp>
      <p:sp>
        <p:nvSpPr>
          <p:cNvPr id="209717801" name="Shape 32"/>
          <p:cNvSpPr/>
          <p:nvPr/>
        </p:nvSpPr>
        <p:spPr bwMode="auto">
          <a:xfrm>
            <a:off x="3830275" y="3273552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63556941" name="Text 33"/>
          <p:cNvSpPr/>
          <p:nvPr/>
        </p:nvSpPr>
        <p:spPr bwMode="auto">
          <a:xfrm>
            <a:off x="3894283" y="3273552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Active prescriptions per patient, drug interaction check endpoint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100"/>
          </a:p>
        </p:txBody>
      </p:sp>
      <p:sp>
        <p:nvSpPr>
          <p:cNvPr id="1350583074" name="Shape 34"/>
          <p:cNvSpPr/>
          <p:nvPr/>
        </p:nvSpPr>
        <p:spPr bwMode="auto">
          <a:xfrm>
            <a:off x="264115" y="4069080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60569138" name="Text 35"/>
          <p:cNvSpPr/>
          <p:nvPr/>
        </p:nvSpPr>
        <p:spPr bwMode="auto">
          <a:xfrm>
            <a:off x="328123" y="406908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Imaging Service</a:t>
            </a:r>
            <a:endParaRPr lang="en-US" sz="1100"/>
          </a:p>
        </p:txBody>
      </p:sp>
      <p:sp>
        <p:nvSpPr>
          <p:cNvPr id="645155426" name="Shape 36"/>
          <p:cNvSpPr/>
          <p:nvPr/>
        </p:nvSpPr>
        <p:spPr bwMode="auto">
          <a:xfrm>
            <a:off x="1910035" y="4069080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3941413" name="Text 37"/>
          <p:cNvSpPr/>
          <p:nvPr/>
        </p:nvSpPr>
        <p:spPr bwMode="auto">
          <a:xfrm>
            <a:off x="1974043" y="406908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async</a:t>
            </a:r>
            <a:endParaRPr lang="en-US" sz="1100"/>
          </a:p>
        </p:txBody>
      </p:sp>
      <p:sp>
        <p:nvSpPr>
          <p:cNvPr id="842330806" name="Shape 38"/>
          <p:cNvSpPr/>
          <p:nvPr/>
        </p:nvSpPr>
        <p:spPr bwMode="auto">
          <a:xfrm>
            <a:off x="3098755" y="4069080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70419986" name="Text 39"/>
          <p:cNvSpPr/>
          <p:nvPr/>
        </p:nvSpPr>
        <p:spPr bwMode="auto">
          <a:xfrm>
            <a:off x="3162763" y="4069080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9104</a:t>
            </a:r>
            <a:endParaRPr lang="en-US" sz="1300"/>
          </a:p>
        </p:txBody>
      </p:sp>
      <p:sp>
        <p:nvSpPr>
          <p:cNvPr id="558879650" name="Shape 40"/>
          <p:cNvSpPr/>
          <p:nvPr/>
        </p:nvSpPr>
        <p:spPr bwMode="auto">
          <a:xfrm>
            <a:off x="3830275" y="4069080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36388467" name="Text 41"/>
          <p:cNvSpPr/>
          <p:nvPr/>
        </p:nvSpPr>
        <p:spPr bwMode="auto">
          <a:xfrm>
            <a:off x="3894283" y="406908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Radiology and imaging reports 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same async model as Laboratorio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Service.</a:t>
            </a:r>
            <a:endParaRPr lang="en-US" sz="1100"/>
          </a:p>
        </p:txBody>
      </p:sp>
      <p:sp>
        <p:nvSpPr>
          <p:cNvPr id="432627972" name="Text 42"/>
          <p:cNvSpPr/>
          <p:nvPr/>
        </p:nvSpPr>
        <p:spPr bwMode="auto">
          <a:xfrm>
            <a:off x="457200" y="4791456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725894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Service Prosumers</a:t>
            </a:r>
            <a:endParaRPr lang="en-US" sz="3400"/>
          </a:p>
        </p:txBody>
      </p:sp>
      <p:sp>
        <p:nvSpPr>
          <p:cNvPr id="2097708445" name="Shape 1"/>
          <p:cNvSpPr/>
          <p:nvPr/>
        </p:nvSpPr>
        <p:spPr bwMode="auto">
          <a:xfrm>
            <a:off x="429768" y="772668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29470638" name="Shape 2"/>
          <p:cNvSpPr/>
          <p:nvPr/>
        </p:nvSpPr>
        <p:spPr bwMode="auto">
          <a:xfrm>
            <a:off x="274319" y="882396"/>
            <a:ext cx="128016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04213276" name="Text 3"/>
          <p:cNvSpPr/>
          <p:nvPr/>
        </p:nvSpPr>
        <p:spPr bwMode="auto">
          <a:xfrm>
            <a:off x="338327" y="882396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200"/>
          </a:p>
        </p:txBody>
      </p:sp>
      <p:sp>
        <p:nvSpPr>
          <p:cNvPr id="1310798287" name="Shape 4"/>
          <p:cNvSpPr/>
          <p:nvPr/>
        </p:nvSpPr>
        <p:spPr bwMode="auto">
          <a:xfrm>
            <a:off x="1554479" y="882396"/>
            <a:ext cx="64008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76446068" name="Text 5"/>
          <p:cNvSpPr/>
          <p:nvPr/>
        </p:nvSpPr>
        <p:spPr bwMode="auto">
          <a:xfrm>
            <a:off x="1618487" y="882396"/>
            <a:ext cx="548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Port</a:t>
            </a:r>
            <a:endParaRPr lang="en-US" sz="1200"/>
          </a:p>
        </p:txBody>
      </p:sp>
      <p:sp>
        <p:nvSpPr>
          <p:cNvPr id="1692948499" name="Shape 6"/>
          <p:cNvSpPr/>
          <p:nvPr/>
        </p:nvSpPr>
        <p:spPr bwMode="auto">
          <a:xfrm>
            <a:off x="2194559" y="882396"/>
            <a:ext cx="228600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27936962" name="Text 7"/>
          <p:cNvSpPr/>
          <p:nvPr/>
        </p:nvSpPr>
        <p:spPr bwMode="auto">
          <a:xfrm>
            <a:off x="2258567" y="882396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Providers Consumed</a:t>
            </a:r>
            <a:endParaRPr lang="en-US" sz="1200"/>
          </a:p>
        </p:txBody>
      </p:sp>
      <p:sp>
        <p:nvSpPr>
          <p:cNvPr id="146450562" name="Shape 8"/>
          <p:cNvSpPr/>
          <p:nvPr/>
        </p:nvSpPr>
        <p:spPr bwMode="auto">
          <a:xfrm>
            <a:off x="4480559" y="882396"/>
            <a:ext cx="448056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7804515" name="Text 9"/>
          <p:cNvSpPr/>
          <p:nvPr/>
        </p:nvSpPr>
        <p:spPr bwMode="auto">
          <a:xfrm>
            <a:off x="4544568" y="882396"/>
            <a:ext cx="4389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</a:t>
            </a:r>
            <a:endParaRPr lang="en-US" sz="1200"/>
          </a:p>
        </p:txBody>
      </p:sp>
      <p:sp>
        <p:nvSpPr>
          <p:cNvPr id="1851710657" name="Shape 10"/>
          <p:cNvSpPr/>
          <p:nvPr/>
        </p:nvSpPr>
        <p:spPr bwMode="auto">
          <a:xfrm>
            <a:off x="274319" y="132130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43248749" name="Text 11"/>
          <p:cNvSpPr/>
          <p:nvPr/>
        </p:nvSpPr>
        <p:spPr bwMode="auto">
          <a:xfrm>
            <a:off x="338327" y="132130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Diagnostic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Aggregator</a:t>
            </a:r>
            <a:endParaRPr lang="en-US" sz="1050"/>
          </a:p>
        </p:txBody>
      </p:sp>
      <p:sp>
        <p:nvSpPr>
          <p:cNvPr id="1701708771" name="Shape 12"/>
          <p:cNvSpPr/>
          <p:nvPr/>
        </p:nvSpPr>
        <p:spPr bwMode="auto">
          <a:xfrm>
            <a:off x="1554479" y="132130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57433080" name="Text 13"/>
          <p:cNvSpPr/>
          <p:nvPr/>
        </p:nvSpPr>
        <p:spPr bwMode="auto">
          <a:xfrm>
            <a:off x="1618487" y="132130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9201</a:t>
            </a:r>
            <a:endParaRPr lang="en-US" sz="1200"/>
          </a:p>
        </p:txBody>
      </p:sp>
      <p:sp>
        <p:nvSpPr>
          <p:cNvPr id="774918762" name="Shape 14"/>
          <p:cNvSpPr/>
          <p:nvPr/>
        </p:nvSpPr>
        <p:spPr bwMode="auto">
          <a:xfrm>
            <a:off x="2194559" y="132130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95825899" name="Text 15"/>
          <p:cNvSpPr/>
          <p:nvPr/>
        </p:nvSpPr>
        <p:spPr bwMode="auto">
          <a:xfrm>
            <a:off x="2258567" y="132130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Laboratorio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Serivce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(REST async) +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Imaging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(REST async)</a:t>
            </a:r>
            <a:endParaRPr lang="en-US" sz="1050"/>
          </a:p>
        </p:txBody>
      </p:sp>
      <p:sp>
        <p:nvSpPr>
          <p:cNvPr id="448807774" name="Shape 16"/>
          <p:cNvSpPr/>
          <p:nvPr/>
        </p:nvSpPr>
        <p:spPr bwMode="auto">
          <a:xfrm>
            <a:off x="4480559" y="132130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62394464" name="Text 17"/>
          <p:cNvSpPr/>
          <p:nvPr/>
        </p:nvSpPr>
        <p:spPr bwMode="auto">
          <a:xfrm>
            <a:off x="4544568" y="132130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UC-3: Order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diagnostic panel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process the request asynchronously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compose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TestResults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ImagingReports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filtered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by 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the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panel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value, to build a Diagno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stic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Bundle.</a:t>
            </a:r>
            <a:endParaRPr lang="en-US" sz="1050"/>
          </a:p>
        </p:txBody>
      </p:sp>
      <p:sp>
        <p:nvSpPr>
          <p:cNvPr id="499975514" name="Shape 18"/>
          <p:cNvSpPr/>
          <p:nvPr/>
        </p:nvSpPr>
        <p:spPr bwMode="auto">
          <a:xfrm>
            <a:off x="274319" y="251002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68469552" name="Text 19"/>
          <p:cNvSpPr/>
          <p:nvPr/>
        </p:nvSpPr>
        <p:spPr bwMode="auto">
          <a:xfrm>
            <a:off x="338327" y="251002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Clinical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Aggregator</a:t>
            </a:r>
            <a:endParaRPr lang="en-US" sz="1050"/>
          </a:p>
        </p:txBody>
      </p:sp>
      <p:sp>
        <p:nvSpPr>
          <p:cNvPr id="973835694" name="Shape 20"/>
          <p:cNvSpPr/>
          <p:nvPr/>
        </p:nvSpPr>
        <p:spPr bwMode="auto">
          <a:xfrm>
            <a:off x="1554479" y="251002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4332666" name="Text 21"/>
          <p:cNvSpPr/>
          <p:nvPr/>
        </p:nvSpPr>
        <p:spPr bwMode="auto">
          <a:xfrm>
            <a:off x="1618487" y="251002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9202</a:t>
            </a:r>
            <a:endParaRPr lang="en-US" sz="1200"/>
          </a:p>
        </p:txBody>
      </p:sp>
      <p:sp>
        <p:nvSpPr>
          <p:cNvPr id="1147797485" name="Shape 22"/>
          <p:cNvSpPr/>
          <p:nvPr/>
        </p:nvSpPr>
        <p:spPr bwMode="auto">
          <a:xfrm>
            <a:off x="2194559" y="251002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21505319" name="Text 23"/>
          <p:cNvSpPr/>
          <p:nvPr/>
        </p:nvSpPr>
        <p:spPr bwMode="auto">
          <a:xfrm>
            <a:off x="2258567" y="251002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Anagrafe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(SOAP/CXF) +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Farmacia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(REST)</a:t>
            </a:r>
            <a:endParaRPr lang="en-US" sz="1050"/>
          </a:p>
        </p:txBody>
      </p:sp>
      <p:sp>
        <p:nvSpPr>
          <p:cNvPr id="1582092092" name="Shape 24"/>
          <p:cNvSpPr/>
          <p:nvPr/>
        </p:nvSpPr>
        <p:spPr bwMode="auto">
          <a:xfrm>
            <a:off x="4480559" y="251002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80633928" name="Text 25"/>
          <p:cNvSpPr/>
          <p:nvPr/>
        </p:nvSpPr>
        <p:spPr bwMode="auto">
          <a:xfrm>
            <a:off x="4544568" y="251002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UC-2: Bridge SOAP↔RES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compose demographics + history + prescriptions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to build a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ClinicalProfile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050"/>
          </a:p>
        </p:txBody>
      </p:sp>
      <p:sp>
        <p:nvSpPr>
          <p:cNvPr id="1471890208" name="Shape 26"/>
          <p:cNvSpPr/>
          <p:nvPr/>
        </p:nvSpPr>
        <p:spPr bwMode="auto">
          <a:xfrm>
            <a:off x="274319" y="369874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7618246" name="Text 27"/>
          <p:cNvSpPr/>
          <p:nvPr/>
        </p:nvSpPr>
        <p:spPr bwMode="auto">
          <a:xfrm>
            <a:off x="338327" y="369874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Care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Coordinator</a:t>
            </a:r>
            <a:endParaRPr lang="en-US" sz="1050"/>
          </a:p>
        </p:txBody>
      </p:sp>
      <p:sp>
        <p:nvSpPr>
          <p:cNvPr id="176276464" name="Shape 28"/>
          <p:cNvSpPr/>
          <p:nvPr/>
        </p:nvSpPr>
        <p:spPr bwMode="auto">
          <a:xfrm>
            <a:off x="1554479" y="369874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19470732" name="Text 29"/>
          <p:cNvSpPr/>
          <p:nvPr/>
        </p:nvSpPr>
        <p:spPr bwMode="auto">
          <a:xfrm>
            <a:off x="1618487" y="369874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9203</a:t>
            </a:r>
            <a:endParaRPr lang="en-US" sz="1200"/>
          </a:p>
        </p:txBody>
      </p:sp>
      <p:sp>
        <p:nvSpPr>
          <p:cNvPr id="1962946022" name="Shape 30"/>
          <p:cNvSpPr/>
          <p:nvPr/>
        </p:nvSpPr>
        <p:spPr bwMode="auto">
          <a:xfrm>
            <a:off x="2194559" y="369874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99422827" name="Text 31"/>
          <p:cNvSpPr/>
          <p:nvPr/>
        </p:nvSpPr>
        <p:spPr bwMode="auto">
          <a:xfrm>
            <a:off x="2258567" y="369874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 Aggregator (REST) +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Diagnostic Aggregator (REST)</a:t>
            </a:r>
            <a:endParaRPr lang="en-US" sz="1050">
              <a:solidFill>
                <a:srgbClr val="595959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  <a:defRPr/>
            </a:pPr>
            <a:r>
              <a:rPr lang="it-IT" sz="1050" i="1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Here we consume Prosumers!</a:t>
            </a:r>
            <a:endParaRPr sz="1050" i="1">
              <a:solidFill>
                <a:srgbClr val="595959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3236138" name="Shape 32"/>
          <p:cNvSpPr/>
          <p:nvPr/>
        </p:nvSpPr>
        <p:spPr bwMode="auto">
          <a:xfrm>
            <a:off x="4480559" y="369874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2052362" name="Text 33"/>
          <p:cNvSpPr/>
          <p:nvPr/>
        </p:nvSpPr>
        <p:spPr bwMode="auto">
          <a:xfrm>
            <a:off x="4544568" y="369874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UC-1: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omplete fitness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assessment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for a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done with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arallel orchestration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- </a:t>
            </a:r>
            <a:r>
              <a:rPr>
                <a:solidFill>
                  <a:srgbClr val="595959"/>
                </a:solidFill>
              </a:rPr>
              <a:t> 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results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cross-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reference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 into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FitnessReport</a:t>
            </a:r>
            <a:r>
              <a:rPr lang="it-IT" sz="1050"/>
              <a:t>.</a:t>
            </a:r>
            <a:endParaRPr lang="en-US" sz="1050"/>
          </a:p>
        </p:txBody>
      </p:sp>
      <p:sp>
        <p:nvSpPr>
          <p:cNvPr id="1329106677" name="Text 34"/>
          <p:cNvSpPr/>
          <p:nvPr/>
        </p:nvSpPr>
        <p:spPr bwMode="auto">
          <a:xfrm>
            <a:off x="274319" y="4814316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8927272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Key Data Structures</a:t>
            </a:r>
            <a:endParaRPr lang="en-US" sz="3400"/>
          </a:p>
        </p:txBody>
      </p:sp>
      <p:sp>
        <p:nvSpPr>
          <p:cNvPr id="1053630615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3106968" name="Shape 2"/>
          <p:cNvSpPr/>
          <p:nvPr/>
        </p:nvSpPr>
        <p:spPr bwMode="auto">
          <a:xfrm>
            <a:off x="45720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79145593" name="Text 3"/>
          <p:cNvSpPr/>
          <p:nvPr/>
        </p:nvSpPr>
        <p:spPr bwMode="auto">
          <a:xfrm>
            <a:off x="64008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Domain Objects (Providers)</a:t>
            </a:r>
            <a:endParaRPr lang="en-US" sz="1300"/>
          </a:p>
        </p:txBody>
      </p:sp>
      <p:sp>
        <p:nvSpPr>
          <p:cNvPr id="1444576854" name="Text 4"/>
          <p:cNvSpPr/>
          <p:nvPr/>
        </p:nvSpPr>
        <p:spPr bwMode="auto">
          <a:xfrm>
            <a:off x="640079" y="1792223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Patient</a:t>
            </a:r>
            <a:endParaRPr lang="en-US" sz="1100"/>
          </a:p>
        </p:txBody>
      </p:sp>
      <p:sp>
        <p:nvSpPr>
          <p:cNvPr id="1093471643" name="Text 5"/>
          <p:cNvSpPr/>
          <p:nvPr/>
        </p:nvSpPr>
        <p:spPr bwMode="auto">
          <a:xfrm>
            <a:off x="1874519" y="1746503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id · fiscal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first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name 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last name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 of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b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irth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· gender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phone number</a:t>
            </a:r>
            <a:endParaRPr lang="en-US" sz="900"/>
          </a:p>
        </p:txBody>
      </p:sp>
      <p:sp>
        <p:nvSpPr>
          <p:cNvPr id="2105237510" name="Text 6"/>
          <p:cNvSpPr/>
          <p:nvPr/>
        </p:nvSpPr>
        <p:spPr bwMode="auto">
          <a:xfrm>
            <a:off x="640079" y="2249423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Condition</a:t>
            </a:r>
            <a:endParaRPr lang="en-US" sz="1100"/>
          </a:p>
        </p:txBody>
      </p:sp>
      <p:sp>
        <p:nvSpPr>
          <p:cNvPr id="122594552" name="Text 7"/>
          <p:cNvSpPr/>
          <p:nvPr/>
        </p:nvSpPr>
        <p:spPr bwMode="auto">
          <a:xfrm>
            <a:off x="1874519" y="2203703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icd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10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description · diagnosis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 · status (ACTIVE/RESOLVED)</a:t>
            </a:r>
            <a:endParaRPr lang="en-US" sz="900"/>
          </a:p>
        </p:txBody>
      </p:sp>
      <p:sp>
        <p:nvSpPr>
          <p:cNvPr id="3092876" name="Text 8"/>
          <p:cNvSpPr/>
          <p:nvPr/>
        </p:nvSpPr>
        <p:spPr bwMode="auto">
          <a:xfrm>
            <a:off x="640079" y="270662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Allergy</a:t>
            </a:r>
            <a:endParaRPr lang="en-US" sz="1100"/>
          </a:p>
        </p:txBody>
      </p:sp>
      <p:sp>
        <p:nvSpPr>
          <p:cNvPr id="1745477001" name="Text 9"/>
          <p:cNvSpPr/>
          <p:nvPr/>
        </p:nvSpPr>
        <p:spPr bwMode="auto">
          <a:xfrm>
            <a:off x="1874519" y="266090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substance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severity (MILD/SEVERE/ANAPHYLACTIC) · detected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</a:t>
            </a:r>
            <a:endParaRPr lang="en-US" sz="900"/>
          </a:p>
        </p:txBody>
      </p:sp>
      <p:sp>
        <p:nvSpPr>
          <p:cNvPr id="943954462" name="Text 10"/>
          <p:cNvSpPr/>
          <p:nvPr/>
        </p:nvSpPr>
        <p:spPr bwMode="auto">
          <a:xfrm>
            <a:off x="640079" y="316382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Prescription</a:t>
            </a:r>
            <a:endParaRPr lang="en-US" sz="1100"/>
          </a:p>
        </p:txBody>
      </p:sp>
      <p:sp>
        <p:nvSpPr>
          <p:cNvPr id="73571647" name="Text 11"/>
          <p:cNvSpPr/>
          <p:nvPr/>
        </p:nvSpPr>
        <p:spPr bwMode="auto">
          <a:xfrm>
            <a:off x="1874519" y="3127248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drug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ame · atc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dosage · frequency · start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date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end date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prescribing doctor.</a:t>
            </a:r>
            <a:endParaRPr lang="en-US" sz="900"/>
          </a:p>
        </p:txBody>
      </p:sp>
      <p:sp>
        <p:nvSpPr>
          <p:cNvPr id="660818060" name="Text 12"/>
          <p:cNvSpPr/>
          <p:nvPr/>
        </p:nvSpPr>
        <p:spPr bwMode="auto">
          <a:xfrm>
            <a:off x="640079" y="3621023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Test</a:t>
            </a:r>
            <a:r>
              <a:rPr lang="it-IT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Order</a:t>
            </a:r>
            <a:endParaRPr lang="en-US" sz="1100"/>
          </a:p>
        </p:txBody>
      </p:sp>
      <p:sp>
        <p:nvSpPr>
          <p:cNvPr id="392295263" name="Text 13"/>
          <p:cNvSpPr/>
          <p:nvPr/>
        </p:nvSpPr>
        <p:spPr bwMode="auto">
          <a:xfrm>
            <a:off x="1874519" y="3575303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 ·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patient id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exam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status (PENDING/PROCESSING/COMPLETED/ERROR)</a:t>
            </a:r>
            <a:r>
              <a:rPr lang="it-IT" sz="900"/>
              <a:t>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 of creation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date of update</a:t>
            </a:r>
            <a:endParaRPr lang="en-US" sz="900" b="0" i="0" u="none" strike="noStrike" cap="none" spc="0">
              <a:solidFill>
                <a:srgbClr val="595959"/>
              </a:solidFill>
              <a:latin typeface="Calibri"/>
              <a:cs typeface="Calibri"/>
            </a:endParaRPr>
          </a:p>
        </p:txBody>
      </p:sp>
      <p:sp>
        <p:nvSpPr>
          <p:cNvPr id="1346706004" name="Text 14"/>
          <p:cNvSpPr/>
          <p:nvPr/>
        </p:nvSpPr>
        <p:spPr bwMode="auto">
          <a:xfrm>
            <a:off x="640079" y="407822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Measurement</a:t>
            </a:r>
            <a:endParaRPr lang="en-US" sz="1100"/>
          </a:p>
        </p:txBody>
      </p:sp>
      <p:sp>
        <p:nvSpPr>
          <p:cNvPr id="1651755503" name="Text 15"/>
          <p:cNvSpPr/>
          <p:nvPr/>
        </p:nvSpPr>
        <p:spPr bwMode="auto">
          <a:xfrm>
            <a:off x="1874519" y="403250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order id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parameter · value · unit · ref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erence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ange · anomaly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lag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(TRUE/FALSE)</a:t>
            </a:r>
            <a:endParaRPr lang="en-US" sz="900"/>
          </a:p>
        </p:txBody>
      </p:sp>
      <p:sp>
        <p:nvSpPr>
          <p:cNvPr id="1355242964" name="Text 16"/>
          <p:cNvSpPr/>
          <p:nvPr/>
        </p:nvSpPr>
        <p:spPr bwMode="auto">
          <a:xfrm>
            <a:off x="640079" y="453542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Imaging</a:t>
            </a:r>
            <a:r>
              <a:rPr lang="it-IT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Report</a:t>
            </a:r>
            <a:endParaRPr lang="en-US" sz="1100"/>
          </a:p>
        </p:txBody>
      </p:sp>
      <p:sp>
        <p:nvSpPr>
          <p:cNvPr id="1422741477" name="Text 17"/>
          <p:cNvSpPr/>
          <p:nvPr/>
        </p:nvSpPr>
        <p:spPr bwMode="auto">
          <a:xfrm>
            <a:off x="1874519" y="448970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 id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exam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t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ype 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status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findings ·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conclusion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critical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lag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report date</a:t>
            </a:r>
            <a:endParaRPr lang="en-US" sz="900"/>
          </a:p>
        </p:txBody>
      </p:sp>
      <p:sp>
        <p:nvSpPr>
          <p:cNvPr id="1245351748" name="Shape 18"/>
          <p:cNvSpPr/>
          <p:nvPr/>
        </p:nvSpPr>
        <p:spPr bwMode="auto">
          <a:xfrm>
            <a:off x="4754880" y="1179575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22465975" name="Text 19"/>
          <p:cNvSpPr/>
          <p:nvPr/>
        </p:nvSpPr>
        <p:spPr bwMode="auto">
          <a:xfrm>
            <a:off x="493776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Composed Objects (Prosumers)</a:t>
            </a:r>
            <a:endParaRPr lang="en-US" sz="1300"/>
          </a:p>
        </p:txBody>
      </p:sp>
      <p:sp>
        <p:nvSpPr>
          <p:cNvPr id="208934186" name="Text 20"/>
          <p:cNvSpPr/>
          <p:nvPr/>
        </p:nvSpPr>
        <p:spPr bwMode="auto">
          <a:xfrm>
            <a:off x="4937760" y="1892806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Diagnostic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Bundle</a:t>
            </a:r>
            <a:endParaRPr lang="en-US" sz="1100"/>
          </a:p>
        </p:txBody>
      </p:sp>
      <p:sp>
        <p:nvSpPr>
          <p:cNvPr id="1346707400" name="Text 21"/>
          <p:cNvSpPr/>
          <p:nvPr/>
        </p:nvSpPr>
        <p:spPr bwMode="auto">
          <a:xfrm>
            <a:off x="6400800" y="1792222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TestResult (</a:t>
            </a:r>
            <a:r>
              <a:rPr lang="it-IT" sz="850" i="1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Test Order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)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List&lt;ImagingReport&gt;</a:t>
            </a:r>
            <a:endParaRPr lang="en-US" sz="850"/>
          </a:p>
        </p:txBody>
      </p:sp>
      <p:sp>
        <p:nvSpPr>
          <p:cNvPr id="311330918" name="Text 22"/>
          <p:cNvSpPr/>
          <p:nvPr/>
        </p:nvSpPr>
        <p:spPr bwMode="auto">
          <a:xfrm>
            <a:off x="4937760" y="2551173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Clinical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Profile</a:t>
            </a:r>
            <a:endParaRPr lang="en-US" sz="1100"/>
          </a:p>
        </p:txBody>
      </p:sp>
      <p:sp>
        <p:nvSpPr>
          <p:cNvPr id="214026803" name="Text 23"/>
          <p:cNvSpPr/>
          <p:nvPr/>
        </p:nvSpPr>
        <p:spPr bwMode="auto">
          <a:xfrm>
            <a:off x="6400800" y="2382010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List&lt;Condition&gt;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List&lt;Allergy&gt;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List&lt;Prescription&gt;</a:t>
            </a:r>
            <a:endParaRPr lang="en-US" sz="850"/>
          </a:p>
        </p:txBody>
      </p:sp>
      <p:sp>
        <p:nvSpPr>
          <p:cNvPr id="2046467529" name="Text 24"/>
          <p:cNvSpPr/>
          <p:nvPr/>
        </p:nvSpPr>
        <p:spPr bwMode="auto">
          <a:xfrm>
            <a:off x="4937760" y="3346704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Risk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Flag</a:t>
            </a:r>
            <a:endParaRPr lang="en-US" sz="1100"/>
          </a:p>
        </p:txBody>
      </p:sp>
      <p:sp>
        <p:nvSpPr>
          <p:cNvPr id="569182435" name="Text 25"/>
          <p:cNvSpPr/>
          <p:nvPr/>
        </p:nvSpPr>
        <p:spPr bwMode="auto">
          <a:xfrm>
            <a:off x="6400800" y="3145533"/>
            <a:ext cx="2148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type (DRUG_CONTRAINDICATION / CRITICAL_VALUE / ALLERGY / OTHER)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severity (INFO/WARNING/CRITICAL)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description</a:t>
            </a:r>
            <a:r>
              <a:rPr lang="it-IT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source</a:t>
            </a:r>
            <a:r>
              <a:rPr lang="it-IT"/>
              <a:t> </a:t>
            </a:r>
            <a:endParaRPr lang="en-US"/>
          </a:p>
        </p:txBody>
      </p:sp>
      <p:sp>
        <p:nvSpPr>
          <p:cNvPr id="2061953715" name="Text 26"/>
          <p:cNvSpPr/>
          <p:nvPr/>
        </p:nvSpPr>
        <p:spPr bwMode="auto">
          <a:xfrm>
            <a:off x="4937760" y="4297680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Fitness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Report</a:t>
            </a:r>
            <a:endParaRPr lang="en-US" sz="1100"/>
          </a:p>
        </p:txBody>
      </p:sp>
      <p:sp>
        <p:nvSpPr>
          <p:cNvPr id="2112306945" name="Text 27"/>
          <p:cNvSpPr/>
          <p:nvPr/>
        </p:nvSpPr>
        <p:spPr bwMode="auto">
          <a:xfrm>
            <a:off x="6400800" y="4078224"/>
            <a:ext cx="2148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outcome: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FIT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| WITH_RESERVATION |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UNFIT</a:t>
            </a:r>
            <a:endParaRPr lang="en-US" sz="850"/>
          </a:p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patientId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generatedAt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linicalProfile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iagnosticBundle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List&lt;RiskFlag&gt;</a:t>
            </a: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6005669" name="Text 0"/>
          <p:cNvSpPr/>
          <p:nvPr/>
        </p:nvSpPr>
        <p:spPr bwMode="auto"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 3 </a:t>
            </a:r>
            <a:r>
              <a:rPr lang="it-IT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Use Cases, Sequence Diagrams, Technological Stack</a:t>
            </a:r>
            <a:endParaRPr lang="en-US" sz="4200"/>
          </a:p>
        </p:txBody>
      </p:sp>
      <p:sp>
        <p:nvSpPr>
          <p:cNvPr id="2081088791" name="Text 1"/>
          <p:cNvSpPr/>
          <p:nvPr/>
        </p:nvSpPr>
        <p:spPr bwMode="auto"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2000"/>
          </a:p>
        </p:txBody>
      </p:sp>
      <p:sp>
        <p:nvSpPr>
          <p:cNvPr id="1638746806" name="Text 2"/>
          <p:cNvSpPr/>
          <p:nvPr/>
        </p:nvSpPr>
        <p:spPr bwMode="auto">
          <a:xfrm>
            <a:off x="731520" y="30175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400"/>
          </a:p>
        </p:txBody>
      </p:sp>
      <p:sp>
        <p:nvSpPr>
          <p:cNvPr id="1843853955" name="Text 1"/>
          <p:cNvSpPr/>
          <p:nvPr/>
        </p:nvSpPr>
        <p:spPr bwMode="auto">
          <a:xfrm>
            <a:off x="883919" y="2666999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20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Federico Capricci</a:t>
            </a: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175942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Use Cases Summary</a:t>
            </a:r>
            <a:endParaRPr lang="en-US" sz="3400"/>
          </a:p>
        </p:txBody>
      </p:sp>
      <p:sp>
        <p:nvSpPr>
          <p:cNvPr id="1798459174" name="Shape 1"/>
          <p:cNvSpPr/>
          <p:nvPr/>
        </p:nvSpPr>
        <p:spPr bwMode="auto">
          <a:xfrm>
            <a:off x="309489" y="694944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19262052" name="Shape 2"/>
          <p:cNvSpPr/>
          <p:nvPr/>
        </p:nvSpPr>
        <p:spPr bwMode="auto">
          <a:xfrm>
            <a:off x="309489" y="804672"/>
            <a:ext cx="64008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18550469" name="Text 3"/>
          <p:cNvSpPr/>
          <p:nvPr/>
        </p:nvSpPr>
        <p:spPr bwMode="auto">
          <a:xfrm>
            <a:off x="364353" y="804672"/>
            <a:ext cx="5669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UC</a:t>
            </a:r>
            <a:endParaRPr lang="en-US" sz="1200"/>
          </a:p>
        </p:txBody>
      </p:sp>
      <p:sp>
        <p:nvSpPr>
          <p:cNvPr id="1268273366" name="Shape 4"/>
          <p:cNvSpPr/>
          <p:nvPr/>
        </p:nvSpPr>
        <p:spPr bwMode="auto">
          <a:xfrm>
            <a:off x="949569" y="804672"/>
            <a:ext cx="13716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6382805" name="Text 5"/>
          <p:cNvSpPr/>
          <p:nvPr/>
        </p:nvSpPr>
        <p:spPr bwMode="auto">
          <a:xfrm>
            <a:off x="1004433" y="804672"/>
            <a:ext cx="1298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Name</a:t>
            </a:r>
            <a:endParaRPr lang="en-US" sz="1200"/>
          </a:p>
        </p:txBody>
      </p:sp>
      <p:sp>
        <p:nvSpPr>
          <p:cNvPr id="1661001019" name="Shape 6"/>
          <p:cNvSpPr/>
          <p:nvPr/>
        </p:nvSpPr>
        <p:spPr bwMode="auto">
          <a:xfrm>
            <a:off x="2321169" y="804672"/>
            <a:ext cx="41148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41706491" name="Text 7"/>
          <p:cNvSpPr/>
          <p:nvPr/>
        </p:nvSpPr>
        <p:spPr bwMode="auto">
          <a:xfrm>
            <a:off x="2376033" y="804672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Components</a:t>
            </a:r>
            <a:endParaRPr lang="en-US" sz="1200"/>
          </a:p>
        </p:txBody>
      </p:sp>
      <p:sp>
        <p:nvSpPr>
          <p:cNvPr id="1898871514" name="Shape 8"/>
          <p:cNvSpPr/>
          <p:nvPr/>
        </p:nvSpPr>
        <p:spPr bwMode="auto">
          <a:xfrm>
            <a:off x="6481689" y="804672"/>
            <a:ext cx="25146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9597653" name="Text 9"/>
          <p:cNvSpPr/>
          <p:nvPr/>
        </p:nvSpPr>
        <p:spPr bwMode="auto">
          <a:xfrm>
            <a:off x="6536553" y="804672"/>
            <a:ext cx="2441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Interaction</a:t>
            </a:r>
            <a:endParaRPr lang="en-US" sz="1200"/>
          </a:p>
        </p:txBody>
      </p:sp>
      <p:sp>
        <p:nvSpPr>
          <p:cNvPr id="1723815750" name="Shape 10"/>
          <p:cNvSpPr/>
          <p:nvPr/>
        </p:nvSpPr>
        <p:spPr bwMode="auto">
          <a:xfrm>
            <a:off x="309489" y="1188720"/>
            <a:ext cx="64008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4816083" name="Text 11"/>
          <p:cNvSpPr/>
          <p:nvPr/>
        </p:nvSpPr>
        <p:spPr bwMode="auto">
          <a:xfrm>
            <a:off x="364353" y="1188720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UC-1</a:t>
            </a:r>
            <a:endParaRPr lang="en-US" sz="1300"/>
          </a:p>
        </p:txBody>
      </p:sp>
      <p:sp>
        <p:nvSpPr>
          <p:cNvPr id="658631555" name="Shape 12"/>
          <p:cNvSpPr/>
          <p:nvPr/>
        </p:nvSpPr>
        <p:spPr bwMode="auto">
          <a:xfrm>
            <a:off x="949569" y="1188720"/>
            <a:ext cx="1371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74363514" name="Text 13"/>
          <p:cNvSpPr/>
          <p:nvPr/>
        </p:nvSpPr>
        <p:spPr bwMode="auto">
          <a:xfrm>
            <a:off x="1004433" y="1188720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Full Fitness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Assessment</a:t>
            </a:r>
            <a:endParaRPr lang="en-US" sz="1050"/>
          </a:p>
        </p:txBody>
      </p:sp>
      <p:sp>
        <p:nvSpPr>
          <p:cNvPr id="832125226" name="Shape 14"/>
          <p:cNvSpPr/>
          <p:nvPr/>
        </p:nvSpPr>
        <p:spPr bwMode="auto">
          <a:xfrm>
            <a:off x="2321169" y="1188720"/>
            <a:ext cx="41148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11693043" name="Text 15"/>
          <p:cNvSpPr/>
          <p:nvPr/>
        </p:nvSpPr>
        <p:spPr bwMode="auto">
          <a:xfrm>
            <a:off x="2376033" y="1188720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Care Coordinator →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 Agg + Diagnostic Agg → providers</a:t>
            </a:r>
            <a:endParaRPr lang="en-US" sz="1050"/>
          </a:p>
        </p:txBody>
      </p:sp>
      <p:sp>
        <p:nvSpPr>
          <p:cNvPr id="925834947" name="Shape 16"/>
          <p:cNvSpPr/>
          <p:nvPr/>
        </p:nvSpPr>
        <p:spPr bwMode="auto">
          <a:xfrm>
            <a:off x="6481689" y="1188720"/>
            <a:ext cx="2514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3906049" name="Text 17"/>
          <p:cNvSpPr/>
          <p:nvPr/>
        </p:nvSpPr>
        <p:spPr bwMode="auto">
          <a:xfrm>
            <a:off x="6536553" y="1188720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Parallel branches +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sync barrier (allOf)</a:t>
            </a:r>
            <a:endParaRPr lang="en-US" sz="1100"/>
          </a:p>
        </p:txBody>
      </p:sp>
      <p:sp>
        <p:nvSpPr>
          <p:cNvPr id="410651869" name="Shape 18"/>
          <p:cNvSpPr/>
          <p:nvPr/>
        </p:nvSpPr>
        <p:spPr bwMode="auto">
          <a:xfrm>
            <a:off x="309489" y="2167128"/>
            <a:ext cx="640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94977388" name="Text 19"/>
          <p:cNvSpPr/>
          <p:nvPr/>
        </p:nvSpPr>
        <p:spPr bwMode="auto">
          <a:xfrm>
            <a:off x="364353" y="2167128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UC-2</a:t>
            </a:r>
            <a:endParaRPr lang="en-US" sz="1300"/>
          </a:p>
        </p:txBody>
      </p:sp>
      <p:sp>
        <p:nvSpPr>
          <p:cNvPr id="524374096" name="Shape 20"/>
          <p:cNvSpPr/>
          <p:nvPr/>
        </p:nvSpPr>
        <p:spPr bwMode="auto">
          <a:xfrm>
            <a:off x="949569" y="2167128"/>
            <a:ext cx="1371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667107" name="Text 21"/>
          <p:cNvSpPr/>
          <p:nvPr/>
        </p:nvSpPr>
        <p:spPr bwMode="auto">
          <a:xfrm>
            <a:off x="1004433" y="2167128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 History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Consultation</a:t>
            </a:r>
            <a:endParaRPr lang="en-US" sz="1050"/>
          </a:p>
        </p:txBody>
      </p:sp>
      <p:sp>
        <p:nvSpPr>
          <p:cNvPr id="1072652990" name="Shape 22"/>
          <p:cNvSpPr/>
          <p:nvPr/>
        </p:nvSpPr>
        <p:spPr bwMode="auto">
          <a:xfrm>
            <a:off x="2321169" y="2167128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22991507" name="Text 23"/>
          <p:cNvSpPr/>
          <p:nvPr/>
        </p:nvSpPr>
        <p:spPr bwMode="auto">
          <a:xfrm>
            <a:off x="2376033" y="2167128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Clinical Aggregator →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Anagrafe (SOAP) + Farmacia (REST)</a:t>
            </a:r>
            <a:endParaRPr lang="en-US" sz="1050"/>
          </a:p>
        </p:txBody>
      </p:sp>
      <p:sp>
        <p:nvSpPr>
          <p:cNvPr id="141888254" name="Shape 24"/>
          <p:cNvSpPr/>
          <p:nvPr/>
        </p:nvSpPr>
        <p:spPr bwMode="auto">
          <a:xfrm>
            <a:off x="6481689" y="21671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68288281" name="Text 25"/>
          <p:cNvSpPr/>
          <p:nvPr/>
        </p:nvSpPr>
        <p:spPr bwMode="auto">
          <a:xfrm>
            <a:off x="6536553" y="2167128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Synchronous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composition</a:t>
            </a:r>
            <a:endParaRPr lang="en-US" sz="1100"/>
          </a:p>
        </p:txBody>
      </p:sp>
      <p:sp>
        <p:nvSpPr>
          <p:cNvPr id="1890285658" name="Shape 26"/>
          <p:cNvSpPr/>
          <p:nvPr/>
        </p:nvSpPr>
        <p:spPr bwMode="auto">
          <a:xfrm>
            <a:off x="309489" y="3145536"/>
            <a:ext cx="64008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89226932" name="Text 27"/>
          <p:cNvSpPr/>
          <p:nvPr/>
        </p:nvSpPr>
        <p:spPr bwMode="auto">
          <a:xfrm>
            <a:off x="364353" y="3145536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UC-3</a:t>
            </a:r>
            <a:endParaRPr lang="en-US" sz="1300"/>
          </a:p>
        </p:txBody>
      </p:sp>
      <p:sp>
        <p:nvSpPr>
          <p:cNvPr id="296217693" name="Shape 28"/>
          <p:cNvSpPr/>
          <p:nvPr/>
        </p:nvSpPr>
        <p:spPr bwMode="auto">
          <a:xfrm>
            <a:off x="949569" y="3145536"/>
            <a:ext cx="1371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20496298" name="Text 29"/>
          <p:cNvSpPr/>
          <p:nvPr/>
        </p:nvSpPr>
        <p:spPr bwMode="auto">
          <a:xfrm>
            <a:off x="1004433" y="3145536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Diagnostic Test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Order &amp; Poll</a:t>
            </a:r>
            <a:endParaRPr lang="en-US" sz="1050"/>
          </a:p>
        </p:txBody>
      </p:sp>
      <p:sp>
        <p:nvSpPr>
          <p:cNvPr id="1575242563" name="Shape 30"/>
          <p:cNvSpPr/>
          <p:nvPr/>
        </p:nvSpPr>
        <p:spPr bwMode="auto">
          <a:xfrm>
            <a:off x="2321169" y="3145536"/>
            <a:ext cx="41148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95066852" name="Text 31"/>
          <p:cNvSpPr/>
          <p:nvPr/>
        </p:nvSpPr>
        <p:spPr bwMode="auto">
          <a:xfrm>
            <a:off x="2376033" y="3145536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Diagnostic Aggregator →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Laboratorio (async) + Imaging (async)</a:t>
            </a:r>
            <a:endParaRPr lang="en-US" sz="1050"/>
          </a:p>
        </p:txBody>
      </p:sp>
      <p:sp>
        <p:nvSpPr>
          <p:cNvPr id="2031371518" name="Shape 32"/>
          <p:cNvSpPr/>
          <p:nvPr/>
        </p:nvSpPr>
        <p:spPr bwMode="auto">
          <a:xfrm>
            <a:off x="6481689" y="3145536"/>
            <a:ext cx="2514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81259456" name="Text 33"/>
          <p:cNvSpPr/>
          <p:nvPr/>
        </p:nvSpPr>
        <p:spPr bwMode="auto">
          <a:xfrm>
            <a:off x="6536553" y="3145536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Async request-reply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with polling/callback</a:t>
            </a:r>
            <a:endParaRPr lang="en-US" sz="1100"/>
          </a:p>
        </p:txBody>
      </p:sp>
      <p:sp>
        <p:nvSpPr>
          <p:cNvPr id="1170374085" name="Shape 34"/>
          <p:cNvSpPr/>
          <p:nvPr/>
        </p:nvSpPr>
        <p:spPr bwMode="auto">
          <a:xfrm>
            <a:off x="309489" y="4123944"/>
            <a:ext cx="640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57981033" name="Text 35"/>
          <p:cNvSpPr/>
          <p:nvPr/>
        </p:nvSpPr>
        <p:spPr bwMode="auto">
          <a:xfrm>
            <a:off x="364353" y="4123944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UC-4</a:t>
            </a:r>
            <a:endParaRPr lang="en-US" sz="1300"/>
          </a:p>
        </p:txBody>
      </p:sp>
      <p:sp>
        <p:nvSpPr>
          <p:cNvPr id="442488177" name="Shape 36"/>
          <p:cNvSpPr/>
          <p:nvPr/>
        </p:nvSpPr>
        <p:spPr bwMode="auto">
          <a:xfrm>
            <a:off x="949569" y="4123944"/>
            <a:ext cx="1371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6981697" name="Text 37"/>
          <p:cNvSpPr/>
          <p:nvPr/>
        </p:nvSpPr>
        <p:spPr bwMode="auto">
          <a:xfrm>
            <a:off x="1004433" y="4123944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New Prescription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(direct)</a:t>
            </a:r>
            <a:endParaRPr lang="en-US" sz="1050"/>
          </a:p>
        </p:txBody>
      </p:sp>
      <p:sp>
        <p:nvSpPr>
          <p:cNvPr id="1518044408" name="Shape 38"/>
          <p:cNvSpPr/>
          <p:nvPr/>
        </p:nvSpPr>
        <p:spPr bwMode="auto">
          <a:xfrm>
            <a:off x="2321169" y="4123944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82299284" name="Text 39"/>
          <p:cNvSpPr/>
          <p:nvPr/>
        </p:nvSpPr>
        <p:spPr bwMode="auto">
          <a:xfrm>
            <a:off x="2376033" y="4123944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Farmacia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(no prosumer involved)</a:t>
            </a:r>
            <a:endParaRPr lang="en-US" sz="1050"/>
          </a:p>
        </p:txBody>
      </p:sp>
      <p:sp>
        <p:nvSpPr>
          <p:cNvPr id="667300535" name="Shape 40"/>
          <p:cNvSpPr/>
          <p:nvPr/>
        </p:nvSpPr>
        <p:spPr bwMode="auto">
          <a:xfrm>
            <a:off x="6481689" y="4123944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76036917" name="Text 41"/>
          <p:cNvSpPr/>
          <p:nvPr/>
        </p:nvSpPr>
        <p:spPr bwMode="auto">
          <a:xfrm>
            <a:off x="6536553" y="4123944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Direct client→provider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 CRUD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057536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UC-1  Full Fitness Assessment</a:t>
            </a:r>
            <a:endParaRPr/>
          </a:p>
        </p:txBody>
      </p:sp>
      <p:sp>
        <p:nvSpPr>
          <p:cNvPr id="1453032393" name="ScenCard"/>
          <p:cNvSpPr/>
          <p:nvPr/>
        </p:nvSpPr>
        <p:spPr bwMode="auto">
          <a:xfrm>
            <a:off x="457200" y="1508759"/>
            <a:ext cx="35661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500" b="1">
                <a:solidFill>
                  <a:srgbClr val="1F4E79"/>
                </a:solidFill>
                <a:latin typeface="Calibri"/>
              </a:rPr>
              <a:t>The Physician Requests</a:t>
            </a:r>
            <a:endParaRPr/>
          </a:p>
          <a:p>
            <a:pPr marL="0" indent="0" algn="l">
              <a:buNone/>
              <a:defRPr/>
            </a:pPr>
            <a:r>
              <a:rPr lang="en-US" sz="1250">
                <a:solidFill>
                  <a:srgbClr val="595959"/>
                </a:solidFill>
                <a:latin typeface="Calibri"/>
              </a:rPr>
              <a:t>A complete fitness assessment for a surgical or medical procedure.</a:t>
            </a:r>
            <a:endParaRPr/>
          </a:p>
          <a:p>
            <a:pPr marL="0" indent="0" algn="l">
              <a:buNone/>
              <a:defRPr/>
            </a:pPr>
            <a:r>
              <a:rPr lang="en-US" sz="1250">
                <a:solidFill>
                  <a:srgbClr val="595959"/>
                </a:solidFill>
                <a:latin typeface="Calibri"/>
              </a:rPr>
              <a:t>The system collects data from multiple services in parallel and aggregates them into a single clinical response.</a:t>
            </a:r>
            <a:endParaRPr/>
          </a:p>
          <a:p>
            <a:pPr marL="0" indent="0" algn="l">
              <a:buNone/>
              <a:defRPr/>
            </a:pPr>
            <a:r>
              <a:rPr lang="en-US" sz="1300" b="1">
                <a:solidFill>
                  <a:srgbClr val="0F6E56"/>
                </a:solidFill>
                <a:latin typeface="Calibri"/>
              </a:rPr>
              <a:t>Assessment outcome:</a:t>
            </a:r>
            <a:endParaRPr/>
          </a:p>
        </p:txBody>
      </p:sp>
      <p:sp>
        <p:nvSpPr>
          <p:cNvPr id="2073971474" name="Bar201"/>
          <p:cNvSpPr/>
          <p:nvPr/>
        </p:nvSpPr>
        <p:spPr bwMode="auto">
          <a:xfrm>
            <a:off x="457200" y="1508759"/>
            <a:ext cx="64008" cy="3108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19381537" name="Badge210"/>
          <p:cNvSpPr/>
          <p:nvPr/>
        </p:nvSpPr>
        <p:spPr bwMode="auto">
          <a:xfrm>
            <a:off x="640080" y="3383279"/>
            <a:ext cx="583387" cy="384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</a:rPr>
              <a:t>FIT</a:t>
            </a:r>
            <a:endParaRPr/>
          </a:p>
        </p:txBody>
      </p:sp>
      <p:sp>
        <p:nvSpPr>
          <p:cNvPr id="1913585551" name="Badge211"/>
          <p:cNvSpPr/>
          <p:nvPr/>
        </p:nvSpPr>
        <p:spPr bwMode="auto">
          <a:xfrm>
            <a:off x="1600200" y="3394525"/>
            <a:ext cx="1133856" cy="384048"/>
          </a:xfrm>
          <a:prstGeom prst="rect">
            <a:avLst/>
          </a:prstGeom>
          <a:solidFill>
            <a:srgbClr val="7B5EA7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Calibri"/>
              </a:rPr>
              <a:t>FIT WITH RESERVATION</a:t>
            </a:r>
            <a:endParaRPr/>
          </a:p>
        </p:txBody>
      </p:sp>
      <p:sp>
        <p:nvSpPr>
          <p:cNvPr id="1819318748" name="Badge212"/>
          <p:cNvSpPr/>
          <p:nvPr/>
        </p:nvSpPr>
        <p:spPr bwMode="auto">
          <a:xfrm>
            <a:off x="3148279" y="3383279"/>
            <a:ext cx="652882" cy="38404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</a:rPr>
              <a:t>UNFIT</a:t>
            </a:r>
            <a:endParaRPr/>
          </a:p>
        </p:txBody>
      </p:sp>
      <p:sp>
        <p:nvSpPr>
          <p:cNvPr id="1276114264" name="RepLbl"/>
          <p:cNvSpPr/>
          <p:nvPr/>
        </p:nvSpPr>
        <p:spPr bwMode="auto">
          <a:xfrm>
            <a:off x="4572000" y="834205"/>
            <a:ext cx="4343400" cy="384048"/>
          </a:xfrm>
          <a:prstGeom prst="rect">
            <a:avLst/>
          </a:prstGeom>
          <a:solidFill>
            <a:srgbClr val="D6E4F0"/>
          </a:solidFill>
          <a:ln w="12700">
            <a:solidFill>
              <a:srgbClr val="1F4E79"/>
            </a:solidFill>
          </a:ln>
        </p:spPr>
        <p:txBody>
          <a:bodyPr wrap="square" lIns="13000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1F4E79"/>
                </a:solidFill>
                <a:latin typeface="Calibri"/>
              </a:rPr>
              <a:t>FitnessReport · Response Contents</a:t>
            </a:r>
            <a:endParaRPr/>
          </a:p>
        </p:txBody>
      </p:sp>
      <p:sp>
        <p:nvSpPr>
          <p:cNvPr id="779360615" name="Bar300"/>
          <p:cNvSpPr/>
          <p:nvPr/>
        </p:nvSpPr>
        <p:spPr bwMode="auto">
          <a:xfrm>
            <a:off x="4572000" y="1291405"/>
            <a:ext cx="64008" cy="402336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7531394" name="Item0"/>
          <p:cNvSpPr/>
          <p:nvPr/>
        </p:nvSpPr>
        <p:spPr bwMode="auto">
          <a:xfrm>
            <a:off x="4572000" y="12914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Overall outcome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FIT / FIT WITH RESERVATION / UNFIT</a:t>
            </a:r>
            <a:endParaRPr/>
          </a:p>
        </p:txBody>
      </p:sp>
      <p:sp>
        <p:nvSpPr>
          <p:cNvPr id="818596165" name="Bar310"/>
          <p:cNvSpPr/>
          <p:nvPr/>
        </p:nvSpPr>
        <p:spPr bwMode="auto">
          <a:xfrm>
            <a:off x="4572000" y="1748605"/>
            <a:ext cx="64008" cy="402336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6919533" name="Item1"/>
          <p:cNvSpPr/>
          <p:nvPr/>
        </p:nvSpPr>
        <p:spPr bwMode="auto">
          <a:xfrm>
            <a:off x="4572000" y="17486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Patient summary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Identifying data of the patient</a:t>
            </a:r>
            <a:endParaRPr/>
          </a:p>
        </p:txBody>
      </p:sp>
      <p:sp>
        <p:nvSpPr>
          <p:cNvPr id="2056726085" name="Bar320"/>
          <p:cNvSpPr/>
          <p:nvPr/>
        </p:nvSpPr>
        <p:spPr bwMode="auto">
          <a:xfrm>
            <a:off x="4572000" y="2205805"/>
            <a:ext cx="64008" cy="402336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7642694" name="Item2"/>
          <p:cNvSpPr/>
          <p:nvPr/>
        </p:nvSpPr>
        <p:spPr bwMode="auto">
          <a:xfrm>
            <a:off x="4572000" y="22058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Known conditions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Active and past diagnoses (ICD codes)</a:t>
            </a:r>
            <a:endParaRPr/>
          </a:p>
        </p:txBody>
      </p:sp>
      <p:sp>
        <p:nvSpPr>
          <p:cNvPr id="2022535330" name="Bar330"/>
          <p:cNvSpPr/>
          <p:nvPr/>
        </p:nvSpPr>
        <p:spPr bwMode="auto">
          <a:xfrm>
            <a:off x="4572000" y="2663005"/>
            <a:ext cx="64008" cy="402336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49092401" name="Item3"/>
          <p:cNvSpPr/>
          <p:nvPr/>
        </p:nvSpPr>
        <p:spPr bwMode="auto">
          <a:xfrm>
            <a:off x="4572000" y="26630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Registered allergies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Allergen, severity, date detected</a:t>
            </a:r>
            <a:endParaRPr/>
          </a:p>
        </p:txBody>
      </p:sp>
      <p:sp>
        <p:nvSpPr>
          <p:cNvPr id="1666431322" name="Bar340"/>
          <p:cNvSpPr/>
          <p:nvPr/>
        </p:nvSpPr>
        <p:spPr bwMode="auto">
          <a:xfrm>
            <a:off x="4572000" y="3120205"/>
            <a:ext cx="64008" cy="402336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88853890" name="Item4"/>
          <p:cNvSpPr/>
          <p:nvPr/>
        </p:nvSpPr>
        <p:spPr bwMode="auto">
          <a:xfrm>
            <a:off x="4572000" y="31202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Active prescriptions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Drug, dosage, frequency</a:t>
            </a:r>
            <a:endParaRPr/>
          </a:p>
        </p:txBody>
      </p:sp>
      <p:sp>
        <p:nvSpPr>
          <p:cNvPr id="1400640189" name="Bar350"/>
          <p:cNvSpPr/>
          <p:nvPr/>
        </p:nvSpPr>
        <p:spPr bwMode="auto">
          <a:xfrm>
            <a:off x="4572000" y="3577404"/>
            <a:ext cx="64008" cy="402336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06057623" name="Item5"/>
          <p:cNvSpPr/>
          <p:nvPr/>
        </p:nvSpPr>
        <p:spPr bwMode="auto">
          <a:xfrm>
            <a:off x="4572000" y="3577404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Laboratory results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Measurements with anomalyFlag</a:t>
            </a:r>
            <a:endParaRPr/>
          </a:p>
        </p:txBody>
      </p:sp>
      <p:sp>
        <p:nvSpPr>
          <p:cNvPr id="734939828" name="Bar360"/>
          <p:cNvSpPr/>
          <p:nvPr/>
        </p:nvSpPr>
        <p:spPr bwMode="auto">
          <a:xfrm>
            <a:off x="4572000" y="4034605"/>
            <a:ext cx="64008" cy="402336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82319963" name="Item6"/>
          <p:cNvSpPr/>
          <p:nvPr/>
        </p:nvSpPr>
        <p:spPr bwMode="auto">
          <a:xfrm>
            <a:off x="4572000" y="40346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Diagnostic reports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Imaging: findings, criticalFlag</a:t>
            </a:r>
            <a:endParaRPr/>
          </a:p>
        </p:txBody>
      </p:sp>
      <p:sp>
        <p:nvSpPr>
          <p:cNvPr id="562650861" name="Bar370"/>
          <p:cNvSpPr/>
          <p:nvPr/>
        </p:nvSpPr>
        <p:spPr bwMode="auto">
          <a:xfrm>
            <a:off x="4572000" y="4491805"/>
            <a:ext cx="64008" cy="402336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8785004" name="Item7"/>
          <p:cNvSpPr/>
          <p:nvPr/>
        </p:nvSpPr>
        <p:spPr bwMode="auto">
          <a:xfrm>
            <a:off x="4572000" y="44918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Risk factors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Drug contraindication · Critical value · Allergy</a:t>
            </a:r>
            <a:endParaRPr/>
          </a:p>
        </p:txBody>
      </p:sp>
      <p:sp>
        <p:nvSpPr>
          <p:cNvPr id="1955037965" name="Shape 1"/>
          <p:cNvSpPr/>
          <p:nvPr/>
        </p:nvSpPr>
        <p:spPr bwMode="auto">
          <a:xfrm>
            <a:off x="489203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378228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UC-2  Clinical History Consultation</a:t>
            </a:r>
            <a:endParaRPr/>
          </a:p>
        </p:txBody>
      </p:sp>
      <p:sp>
        <p:nvSpPr>
          <p:cNvPr id="988175346" name="Intro"/>
          <p:cNvSpPr/>
          <p:nvPr/>
        </p:nvSpPr>
        <p:spPr bwMode="auto">
          <a:xfrm>
            <a:off x="457200" y="959996"/>
            <a:ext cx="2743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</a:rPr>
              <a:t>Scenario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physician needs to review the patient's medical history without requesting a full fitness assessment.</a:t>
            </a:r>
            <a:endParaRPr/>
          </a:p>
        </p:txBody>
      </p:sp>
      <p:sp>
        <p:nvSpPr>
          <p:cNvPr id="1287813341" name="Bar201"/>
          <p:cNvSpPr/>
          <p:nvPr/>
        </p:nvSpPr>
        <p:spPr bwMode="auto">
          <a:xfrm>
            <a:off x="457200" y="959996"/>
            <a:ext cx="45719" cy="10515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65726613" name="CPLbl"/>
          <p:cNvSpPr/>
          <p:nvPr/>
        </p:nvSpPr>
        <p:spPr bwMode="auto">
          <a:xfrm>
            <a:off x="3680460" y="1497639"/>
            <a:ext cx="5166360" cy="384048"/>
          </a:xfrm>
          <a:prstGeom prst="rect">
            <a:avLst/>
          </a:prstGeom>
          <a:solidFill>
            <a:srgbClr val="D6EFE8"/>
          </a:solidFill>
          <a:ln w="12700">
            <a:solidFill>
              <a:srgbClr val="0F6E56"/>
            </a:solidFill>
          </a:ln>
        </p:spPr>
        <p:txBody>
          <a:bodyPr wrap="square" lIns="13000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1F4E79"/>
                </a:solidFill>
                <a:latin typeface="Calibri"/>
              </a:rPr>
              <a:t>ClinicalProfile · Object returned to the physician</a:t>
            </a:r>
            <a:endParaRPr/>
          </a:p>
        </p:txBody>
      </p:sp>
      <p:sp>
        <p:nvSpPr>
          <p:cNvPr id="187499558" name="Bar220"/>
          <p:cNvSpPr/>
          <p:nvPr/>
        </p:nvSpPr>
        <p:spPr bwMode="auto">
          <a:xfrm>
            <a:off x="3680460" y="1954839"/>
            <a:ext cx="64008" cy="45720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58253251" name="CP0"/>
          <p:cNvSpPr/>
          <p:nvPr/>
        </p:nvSpPr>
        <p:spPr bwMode="auto">
          <a:xfrm>
            <a:off x="3680460" y="1954839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Patient data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id, name, fiscal code, date of birth, gender</a:t>
            </a:r>
            <a:endParaRPr/>
          </a:p>
        </p:txBody>
      </p:sp>
      <p:sp>
        <p:nvSpPr>
          <p:cNvPr id="244759577" name="Bar230"/>
          <p:cNvSpPr/>
          <p:nvPr/>
        </p:nvSpPr>
        <p:spPr bwMode="auto">
          <a:xfrm>
            <a:off x="3680460" y="2476047"/>
            <a:ext cx="64008" cy="45720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57446168" name="CP1"/>
          <p:cNvSpPr/>
          <p:nvPr/>
        </p:nvSpPr>
        <p:spPr bwMode="auto">
          <a:xfrm>
            <a:off x="3680460" y="2476047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Past diagnoses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List of ICD conditions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 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status ACTIVE / RESOLVED</a:t>
            </a:r>
            <a:endParaRPr/>
          </a:p>
        </p:txBody>
      </p:sp>
      <p:sp>
        <p:nvSpPr>
          <p:cNvPr id="1566816841" name="Bar240"/>
          <p:cNvSpPr/>
          <p:nvPr/>
        </p:nvSpPr>
        <p:spPr bwMode="auto">
          <a:xfrm>
            <a:off x="3680460" y="2997255"/>
            <a:ext cx="64008" cy="4572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0857568" name="CP2"/>
          <p:cNvSpPr/>
          <p:nvPr/>
        </p:nvSpPr>
        <p:spPr bwMode="auto">
          <a:xfrm>
            <a:off x="3680460" y="2997255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Known allergies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Allergen, severity (MILD / SEVERE / ANAPHYLACTIC)</a:t>
            </a:r>
            <a:endParaRPr/>
          </a:p>
        </p:txBody>
      </p:sp>
      <p:sp>
        <p:nvSpPr>
          <p:cNvPr id="406814731" name="Bar250"/>
          <p:cNvSpPr/>
          <p:nvPr/>
        </p:nvSpPr>
        <p:spPr bwMode="auto">
          <a:xfrm>
            <a:off x="3680460" y="3518463"/>
            <a:ext cx="64008" cy="4572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61755411" name="CP3"/>
          <p:cNvSpPr/>
          <p:nvPr/>
        </p:nvSpPr>
        <p:spPr bwMode="auto">
          <a:xfrm>
            <a:off x="3680460" y="3518463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Active prescriptions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Drug, ATC code, dosage, frequency, dates</a:t>
            </a:r>
            <a:endParaRPr/>
          </a:p>
        </p:txBody>
      </p:sp>
      <p:sp>
        <p:nvSpPr>
          <p:cNvPr id="1926806801" name="AnaSource"/>
          <p:cNvSpPr/>
          <p:nvPr/>
        </p:nvSpPr>
        <p:spPr bwMode="auto">
          <a:xfrm>
            <a:off x="457200" y="2370520"/>
            <a:ext cx="2743200" cy="1051560"/>
          </a:xfrm>
          <a:prstGeom prst="rect">
            <a:avLst/>
          </a:prstGeom>
          <a:solidFill>
            <a:srgbClr val="D6EFE8"/>
          </a:solidFill>
          <a:ln w="12700">
            <a:solidFill>
              <a:srgbClr val="0F6E56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0F6E56"/>
                </a:solidFill>
                <a:latin typeface="Calibri"/>
              </a:rPr>
              <a:t>Anagrafe</a:t>
            </a:r>
            <a:r>
              <a:rPr lang="en-US" sz="1400" b="1">
                <a:solidFill>
                  <a:srgbClr val="0F6E56"/>
                </a:solidFill>
                <a:latin typeface="Calibri"/>
              </a:rPr>
              <a:t> Service</a:t>
            </a:r>
            <a:endParaRPr/>
          </a:p>
          <a:p>
            <a:pPr marL="0" indent="0" algn="l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</a:rPr>
              <a:t>Protocol: SOAP / CXF  ·  :9101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Patient data · medical history · allergies</a:t>
            </a:r>
            <a:endParaRPr/>
          </a:p>
        </p:txBody>
      </p:sp>
      <p:sp>
        <p:nvSpPr>
          <p:cNvPr id="1245132609" name="Bar301"/>
          <p:cNvSpPr/>
          <p:nvPr/>
        </p:nvSpPr>
        <p:spPr bwMode="auto">
          <a:xfrm>
            <a:off x="457200" y="2370520"/>
            <a:ext cx="64008" cy="10515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3928862" name="FarmSource"/>
          <p:cNvSpPr/>
          <p:nvPr/>
        </p:nvSpPr>
        <p:spPr bwMode="auto">
          <a:xfrm>
            <a:off x="489204" y="3813172"/>
            <a:ext cx="2711196" cy="1051560"/>
          </a:xfrm>
          <a:prstGeom prst="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C55A11"/>
                </a:solidFill>
                <a:latin typeface="Calibri"/>
              </a:rPr>
              <a:t>Farmacia Service</a:t>
            </a:r>
            <a:endParaRPr/>
          </a:p>
          <a:p>
            <a:pPr marL="0" indent="0" algn="l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</a:rPr>
              <a:t>Protocol: REST  ·  :9103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Active prescriptions per patient</a:t>
            </a:r>
            <a:endParaRPr/>
          </a:p>
        </p:txBody>
      </p:sp>
      <p:sp>
        <p:nvSpPr>
          <p:cNvPr id="1526456874" name="Bar311"/>
          <p:cNvSpPr/>
          <p:nvPr/>
        </p:nvSpPr>
        <p:spPr bwMode="auto">
          <a:xfrm>
            <a:off x="457200" y="3813172"/>
            <a:ext cx="65556" cy="1051560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72794734" name="Shape 1"/>
          <p:cNvSpPr/>
          <p:nvPr/>
        </p:nvSpPr>
        <p:spPr bwMode="auto">
          <a:xfrm>
            <a:off x="480059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4346003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UC-3  Diagnostic Test Order &amp; Monitoring</a:t>
            </a:r>
            <a:endParaRPr/>
          </a:p>
        </p:txBody>
      </p:sp>
      <p:sp>
        <p:nvSpPr>
          <p:cNvPr id="117678732" name="Badge200"/>
          <p:cNvSpPr/>
          <p:nvPr/>
        </p:nvSpPr>
        <p:spPr bwMode="auto">
          <a:xfrm>
            <a:off x="685800" y="1508759"/>
            <a:ext cx="2468880" cy="411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Calibri"/>
              </a:rPr>
              <a:t>① Order</a:t>
            </a:r>
            <a:endParaRPr/>
          </a:p>
        </p:txBody>
      </p:sp>
      <p:sp>
        <p:nvSpPr>
          <p:cNvPr id="1327677566" name="P1"/>
          <p:cNvSpPr/>
          <p:nvPr/>
        </p:nvSpPr>
        <p:spPr bwMode="auto">
          <a:xfrm>
            <a:off x="685800" y="1920240"/>
            <a:ext cx="24688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physician requests a diagnostic panel (e.g. renal panel, metabolic panel).</a:t>
            </a:r>
            <a:endParaRPr/>
          </a:p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The system responds immediately: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0F6E56"/>
                </a:solidFill>
                <a:latin typeface="Calibri"/>
              </a:rPr>
              <a:t>• trackingId  (tracking code)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0F6E56"/>
                </a:solidFill>
                <a:latin typeface="Calibri"/>
              </a:rPr>
              <a:t>• HTTP 202 Accepted</a:t>
            </a:r>
            <a:endParaRPr/>
          </a:p>
          <a:p>
            <a:pPr marL="0" indent="0" algn="l">
              <a:buNone/>
              <a:defRPr/>
            </a:pPr>
            <a:r>
              <a:rPr lang="en-US" sz="1200" i="1">
                <a:solidFill>
                  <a:srgbClr val="595959"/>
                </a:solidFill>
                <a:latin typeface="Calibri"/>
              </a:rPr>
              <a:t>The physician can continue working without waiting.</a:t>
            </a:r>
            <a:endParaRPr/>
          </a:p>
        </p:txBody>
      </p:sp>
      <p:sp>
        <p:nvSpPr>
          <p:cNvPr id="1113847698" name="Bar202"/>
          <p:cNvSpPr/>
          <p:nvPr/>
        </p:nvSpPr>
        <p:spPr bwMode="auto">
          <a:xfrm>
            <a:off x="685800" y="1920240"/>
            <a:ext cx="64008" cy="23317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0533519" name="Badge210"/>
          <p:cNvSpPr/>
          <p:nvPr/>
        </p:nvSpPr>
        <p:spPr bwMode="auto">
          <a:xfrm>
            <a:off x="3337560" y="1508759"/>
            <a:ext cx="2468880" cy="41148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Calibri"/>
              </a:rPr>
              <a:t>② Processing</a:t>
            </a:r>
            <a:endParaRPr/>
          </a:p>
        </p:txBody>
      </p:sp>
      <p:sp>
        <p:nvSpPr>
          <p:cNvPr id="1576662058" name="P2"/>
          <p:cNvSpPr/>
          <p:nvPr/>
        </p:nvSpPr>
        <p:spPr bwMode="auto">
          <a:xfrm>
            <a:off x="3337560" y="1920240"/>
            <a:ext cx="24688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client polls the system using the trackingId.</a:t>
            </a:r>
            <a:endParaRPr/>
          </a:p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While processing, the response shows:</a:t>
            </a:r>
            <a:endParaRPr/>
          </a:p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status: PROCESSING</a:t>
            </a:r>
            <a:endParaRPr/>
          </a:p>
          <a:p>
            <a:pPr marL="0" indent="0" algn="l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</a:rPr>
              <a:t>In the background: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Laboratorio :9102  processes lab tests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Imaging :9104  processes radiology reports</a:t>
            </a:r>
            <a:endParaRPr/>
          </a:p>
        </p:txBody>
      </p:sp>
      <p:sp>
        <p:nvSpPr>
          <p:cNvPr id="161514497" name="Bar212"/>
          <p:cNvSpPr/>
          <p:nvPr/>
        </p:nvSpPr>
        <p:spPr bwMode="auto">
          <a:xfrm>
            <a:off x="3337560" y="1920240"/>
            <a:ext cx="64008" cy="2331720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76351374" name="Badge220"/>
          <p:cNvSpPr/>
          <p:nvPr/>
        </p:nvSpPr>
        <p:spPr bwMode="auto">
          <a:xfrm>
            <a:off x="5989320" y="1508759"/>
            <a:ext cx="2468880" cy="41148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Calibri"/>
              </a:rPr>
              <a:t>③ Final Result</a:t>
            </a:r>
            <a:endParaRPr/>
          </a:p>
        </p:txBody>
      </p:sp>
      <p:sp>
        <p:nvSpPr>
          <p:cNvPr id="767810756" name="P3"/>
          <p:cNvSpPr/>
          <p:nvPr/>
        </p:nvSpPr>
        <p:spPr bwMode="auto">
          <a:xfrm>
            <a:off x="5989320" y="1920240"/>
            <a:ext cx="24688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Once processing is complete, the system returns the DiagnosticBundle:</a:t>
            </a:r>
            <a:endParaRPr/>
          </a:p>
          <a:p>
            <a:pPr marL="0" indent="0" algn="l">
              <a:buNone/>
              <a:defRPr/>
            </a:pPr>
            <a:r>
              <a:rPr lang="en-US" sz="1300" b="1">
                <a:solidFill>
                  <a:srgbClr val="0F6E56"/>
                </a:solidFill>
                <a:latin typeface="Calibri"/>
              </a:rPr>
              <a:t>DiagnosticBundle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List&lt;TestResult&gt;  (lab results)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List&lt;ImagingReport&gt;  (diagnostic reports)</a:t>
            </a:r>
            <a:endParaRPr/>
          </a:p>
          <a:p>
            <a:pPr marL="0" indent="0" algn="l">
              <a:buNone/>
              <a:defRPr/>
            </a:pPr>
            <a:r>
              <a:rPr lang="en-US" sz="1200" i="1">
                <a:solidFill>
                  <a:srgbClr val="595959"/>
                </a:solidFill>
                <a:latin typeface="Calibri"/>
              </a:rPr>
              <a:t>The physician always interacts with a single entry point and receives an aggregated response.</a:t>
            </a:r>
            <a:endParaRPr/>
          </a:p>
        </p:txBody>
      </p:sp>
      <p:sp>
        <p:nvSpPr>
          <p:cNvPr id="1244192367" name="Bar222"/>
          <p:cNvSpPr/>
          <p:nvPr/>
        </p:nvSpPr>
        <p:spPr bwMode="auto">
          <a:xfrm>
            <a:off x="5989320" y="1920240"/>
            <a:ext cx="64008" cy="233172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27932541" name="Shape 1"/>
          <p:cNvSpPr/>
          <p:nvPr/>
        </p:nvSpPr>
        <p:spPr bwMode="auto">
          <a:xfrm>
            <a:off x="480058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765551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UC-4  New Prescription</a:t>
            </a:r>
            <a:endParaRPr/>
          </a:p>
        </p:txBody>
      </p:sp>
      <p:sp>
        <p:nvSpPr>
          <p:cNvPr id="1381433079" name="Sub"/>
          <p:cNvSpPr/>
          <p:nvPr/>
        </p:nvSpPr>
        <p:spPr bwMode="auto">
          <a:xfrm>
            <a:off x="345989" y="4700016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250" i="1">
                <a:solidFill>
                  <a:srgbClr val="595959"/>
                </a:solidFill>
                <a:latin typeface="Calibri"/>
              </a:rPr>
              <a:t>Direct client → provider interaction: not every operation requires an aggregator</a:t>
            </a:r>
            <a:endParaRPr/>
          </a:p>
        </p:txBody>
      </p:sp>
      <p:sp>
        <p:nvSpPr>
          <p:cNvPr id="1438284202" name="Scenario"/>
          <p:cNvSpPr/>
          <p:nvPr/>
        </p:nvSpPr>
        <p:spPr bwMode="auto">
          <a:xfrm>
            <a:off x="457200" y="1042416"/>
            <a:ext cx="3108960" cy="2083843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50" b="1">
                <a:solidFill>
                  <a:srgbClr val="1F4E79"/>
                </a:solidFill>
                <a:latin typeface="Calibri"/>
              </a:rPr>
              <a:t>Scenario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physician enters a new pharmacological prescription for a patient.</a:t>
            </a:r>
            <a:endParaRPr/>
          </a:p>
          <a:p>
            <a:pPr marL="0" indent="0" algn="l">
              <a:buNone/>
              <a:defRPr/>
            </a:pPr>
            <a:r>
              <a:rPr lang="en-US" sz="1300" b="1">
                <a:solidFill>
                  <a:srgbClr val="C55A11"/>
                </a:solidFill>
                <a:latin typeface="Calibri"/>
              </a:rPr>
              <a:t>No prosumer involved: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Farmacia is the direct provider, responsible for its own domain.</a:t>
            </a:r>
            <a:endParaRPr/>
          </a:p>
          <a:p>
            <a:pPr marL="0" indent="0" algn="l">
              <a:buNone/>
              <a:defRPr/>
            </a:pPr>
            <a:r>
              <a:rPr lang="en-US" sz="1200" i="1">
                <a:solidFill>
                  <a:srgbClr val="595959"/>
                </a:solidFill>
                <a:latin typeface="Calibri"/>
              </a:rPr>
              <a:t>This use case shows that SOA does not always mandate aggregation: when an operation belongs to a single domain, the client reaches that provider directly.</a:t>
            </a:r>
            <a:endParaRPr/>
          </a:p>
        </p:txBody>
      </p:sp>
      <p:sp>
        <p:nvSpPr>
          <p:cNvPr id="1692182694" name="Bar201"/>
          <p:cNvSpPr/>
          <p:nvPr/>
        </p:nvSpPr>
        <p:spPr bwMode="auto">
          <a:xfrm>
            <a:off x="457200" y="1042416"/>
            <a:ext cx="64008" cy="2083843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8772723" name="ReqLbl"/>
          <p:cNvSpPr/>
          <p:nvPr/>
        </p:nvSpPr>
        <p:spPr bwMode="auto">
          <a:xfrm>
            <a:off x="3886200" y="1431036"/>
            <a:ext cx="4800600" cy="384048"/>
          </a:xfrm>
          <a:prstGeom prst="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</p:spPr>
        <p:txBody>
          <a:bodyPr wrap="square" lIns="13000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1F4E79"/>
                </a:solidFill>
                <a:latin typeface="Calibri"/>
              </a:rPr>
              <a:t>Request Payload</a:t>
            </a:r>
            <a:endParaRPr/>
          </a:p>
        </p:txBody>
      </p:sp>
      <p:sp>
        <p:nvSpPr>
          <p:cNvPr id="669428482" name="Bar220"/>
          <p:cNvSpPr/>
          <p:nvPr/>
        </p:nvSpPr>
        <p:spPr bwMode="auto">
          <a:xfrm>
            <a:off x="3886200" y="1888236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45413131" name="Req0"/>
          <p:cNvSpPr/>
          <p:nvPr/>
        </p:nvSpPr>
        <p:spPr bwMode="auto">
          <a:xfrm>
            <a:off x="3886200" y="1888236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drug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Drug name + ATC code</a:t>
            </a:r>
            <a:endParaRPr/>
          </a:p>
        </p:txBody>
      </p:sp>
      <p:sp>
        <p:nvSpPr>
          <p:cNvPr id="1492641186" name="Bar230"/>
          <p:cNvSpPr/>
          <p:nvPr/>
        </p:nvSpPr>
        <p:spPr bwMode="auto">
          <a:xfrm>
            <a:off x="3886200" y="2327148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39235060" name="Req1"/>
          <p:cNvSpPr/>
          <p:nvPr/>
        </p:nvSpPr>
        <p:spPr bwMode="auto">
          <a:xfrm>
            <a:off x="3886200" y="2327148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dosage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Quantity per administration</a:t>
            </a:r>
            <a:endParaRPr/>
          </a:p>
        </p:txBody>
      </p:sp>
      <p:sp>
        <p:nvSpPr>
          <p:cNvPr id="1989232472" name="Bar240"/>
          <p:cNvSpPr/>
          <p:nvPr/>
        </p:nvSpPr>
        <p:spPr bwMode="auto">
          <a:xfrm>
            <a:off x="3886200" y="2766060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9005001" name="Req2"/>
          <p:cNvSpPr/>
          <p:nvPr/>
        </p:nvSpPr>
        <p:spPr bwMode="auto">
          <a:xfrm>
            <a:off x="3886200" y="2766060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frequency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Administration schedule</a:t>
            </a:r>
            <a:endParaRPr/>
          </a:p>
        </p:txBody>
      </p:sp>
      <p:sp>
        <p:nvSpPr>
          <p:cNvPr id="1983213880" name="Bar250"/>
          <p:cNvSpPr/>
          <p:nvPr/>
        </p:nvSpPr>
        <p:spPr bwMode="auto">
          <a:xfrm>
            <a:off x="3886200" y="3204972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22959436" name="Req3"/>
          <p:cNvSpPr/>
          <p:nvPr/>
        </p:nvSpPr>
        <p:spPr bwMode="auto">
          <a:xfrm>
            <a:off x="3886200" y="3204972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validity dates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startDate · endDate</a:t>
            </a:r>
            <a:endParaRPr/>
          </a:p>
        </p:txBody>
      </p:sp>
      <p:sp>
        <p:nvSpPr>
          <p:cNvPr id="698288763" name="Bar260"/>
          <p:cNvSpPr/>
          <p:nvPr/>
        </p:nvSpPr>
        <p:spPr bwMode="auto">
          <a:xfrm>
            <a:off x="3886200" y="3643884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16170545" name="Req4"/>
          <p:cNvSpPr/>
          <p:nvPr/>
        </p:nvSpPr>
        <p:spPr bwMode="auto">
          <a:xfrm>
            <a:off x="3886200" y="3643884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prescribing physician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Physician identifier</a:t>
            </a:r>
            <a:endParaRPr/>
          </a:p>
        </p:txBody>
      </p:sp>
      <p:sp>
        <p:nvSpPr>
          <p:cNvPr id="640934663" name="ResLbl"/>
          <p:cNvSpPr/>
          <p:nvPr/>
        </p:nvSpPr>
        <p:spPr bwMode="auto">
          <a:xfrm>
            <a:off x="457199" y="3451860"/>
            <a:ext cx="3108961" cy="918972"/>
          </a:xfrm>
          <a:prstGeom prst="rect">
            <a:avLst/>
          </a:prstGeom>
          <a:solidFill>
            <a:srgbClr val="D6EFE8"/>
          </a:solidFill>
          <a:ln w="12700">
            <a:solidFill>
              <a:srgbClr val="0F6E56"/>
            </a:solidFill>
          </a:ln>
        </p:spPr>
        <p:txBody>
          <a:bodyPr wrap="square" lIns="130000" tIns="64008" rIns="91440" bIns="64008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0F6E56"/>
                </a:solidFill>
                <a:latin typeface="Calibri"/>
              </a:rPr>
              <a:t>HTTP 201 Created  →  Prescription saved</a:t>
            </a:r>
            <a:endParaRPr/>
          </a:p>
          <a:p>
            <a:pPr marL="0" indent="0" algn="l">
              <a:buNone/>
              <a:defRPr/>
            </a:pPr>
            <a:r>
              <a:rPr lang="en-US" sz="1150">
                <a:solidFill>
                  <a:srgbClr val="595959"/>
                </a:solidFill>
                <a:latin typeface="Calibri"/>
              </a:rPr>
              <a:t>id · drugName · atcCode · dosage · frequency · startDate · endDate · prescribingPhysician</a:t>
            </a:r>
            <a:endParaRPr/>
          </a:p>
        </p:txBody>
      </p:sp>
      <p:sp>
        <p:nvSpPr>
          <p:cNvPr id="178442577" name="Bar271"/>
          <p:cNvSpPr/>
          <p:nvPr/>
        </p:nvSpPr>
        <p:spPr bwMode="auto">
          <a:xfrm>
            <a:off x="457199" y="3451860"/>
            <a:ext cx="45719" cy="918972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26885622" name="Shape 1"/>
          <p:cNvSpPr/>
          <p:nvPr/>
        </p:nvSpPr>
        <p:spPr bwMode="auto">
          <a:xfrm>
            <a:off x="480058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6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0716437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Technology Stack</a:t>
            </a:r>
            <a:endParaRPr lang="en-US" sz="3400"/>
          </a:p>
        </p:txBody>
      </p:sp>
      <p:sp>
        <p:nvSpPr>
          <p:cNvPr id="934984186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47149792" name="Shape 2"/>
          <p:cNvSpPr/>
          <p:nvPr/>
        </p:nvSpPr>
        <p:spPr bwMode="auto">
          <a:xfrm>
            <a:off x="45720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93319810" name="Text 3"/>
          <p:cNvSpPr/>
          <p:nvPr/>
        </p:nvSpPr>
        <p:spPr bwMode="auto">
          <a:xfrm>
            <a:off x="64008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Frameworks &amp; Libraries</a:t>
            </a:r>
            <a:endParaRPr lang="en-US" sz="1300"/>
          </a:p>
        </p:txBody>
      </p:sp>
      <p:sp>
        <p:nvSpPr>
          <p:cNvPr id="302704488" name="Text 4"/>
          <p:cNvSpPr/>
          <p:nvPr/>
        </p:nvSpPr>
        <p:spPr bwMode="auto">
          <a:xfrm>
            <a:off x="640080" y="166420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Java 17</a:t>
            </a:r>
            <a:endParaRPr lang="en-US" sz="1050"/>
          </a:p>
        </p:txBody>
      </p:sp>
      <p:sp>
        <p:nvSpPr>
          <p:cNvPr id="1428402717" name="Text 5"/>
          <p:cNvSpPr/>
          <p:nvPr/>
        </p:nvSpPr>
        <p:spPr bwMode="auto">
          <a:xfrm>
            <a:off x="2487168" y="16642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LTS runtime (pinned)</a:t>
            </a:r>
            <a:endParaRPr lang="en-US" sz="950"/>
          </a:p>
        </p:txBody>
      </p:sp>
      <p:sp>
        <p:nvSpPr>
          <p:cNvPr id="215642386" name="Text 6"/>
          <p:cNvSpPr/>
          <p:nvPr/>
        </p:nvSpPr>
        <p:spPr bwMode="auto">
          <a:xfrm>
            <a:off x="640080" y="208483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 Boot 3.2.x</a:t>
            </a:r>
            <a:endParaRPr lang="en-US" sz="1050"/>
          </a:p>
        </p:txBody>
      </p:sp>
      <p:sp>
        <p:nvSpPr>
          <p:cNvPr id="1202159032" name="Text 7"/>
          <p:cNvSpPr/>
          <p:nvPr/>
        </p:nvSpPr>
        <p:spPr bwMode="auto">
          <a:xfrm>
            <a:off x="2487168" y="208483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base + embedded Tomcat</a:t>
            </a:r>
            <a:endParaRPr lang="en-US" sz="950"/>
          </a:p>
        </p:txBody>
      </p:sp>
      <p:sp>
        <p:nvSpPr>
          <p:cNvPr id="396953811" name="Text 8"/>
          <p:cNvSpPr/>
          <p:nvPr/>
        </p:nvSpPr>
        <p:spPr bwMode="auto">
          <a:xfrm>
            <a:off x="640080" y="250545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 Cloud 2023.0.x</a:t>
            </a:r>
            <a:endParaRPr lang="en-US" sz="1050"/>
          </a:p>
        </p:txBody>
      </p:sp>
      <p:sp>
        <p:nvSpPr>
          <p:cNvPr id="514214300" name="Text 9"/>
          <p:cNvSpPr/>
          <p:nvPr/>
        </p:nvSpPr>
        <p:spPr bwMode="auto">
          <a:xfrm>
            <a:off x="2487168" y="250545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Eureka, Gateway, Config, OpenFeign, LoadBalancer</a:t>
            </a:r>
            <a:endParaRPr lang="en-US" sz="950"/>
          </a:p>
        </p:txBody>
      </p:sp>
      <p:sp>
        <p:nvSpPr>
          <p:cNvPr id="1342055705" name="Text 10"/>
          <p:cNvSpPr/>
          <p:nvPr/>
        </p:nvSpPr>
        <p:spPr bwMode="auto">
          <a:xfrm>
            <a:off x="640080" y="2926080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Apache CXF 4.0.x</a:t>
            </a:r>
            <a:endParaRPr lang="en-US" sz="1050"/>
          </a:p>
        </p:txBody>
      </p:sp>
      <p:sp>
        <p:nvSpPr>
          <p:cNvPr id="294574654" name="Text 11"/>
          <p:cNvSpPr/>
          <p:nvPr/>
        </p:nvSpPr>
        <p:spPr bwMode="auto">
          <a:xfrm>
            <a:off x="2487168" y="29260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SOAP contract-first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Anagrafe service + JAX-WS client</a:t>
            </a:r>
            <a:endParaRPr lang="en-US" sz="950"/>
          </a:p>
        </p:txBody>
      </p:sp>
      <p:sp>
        <p:nvSpPr>
          <p:cNvPr id="1168650952" name="Text 12"/>
          <p:cNvSpPr/>
          <p:nvPr/>
        </p:nvSpPr>
        <p:spPr bwMode="auto">
          <a:xfrm>
            <a:off x="640080" y="33467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Resilience4j 2.2.x</a:t>
            </a:r>
            <a:endParaRPr lang="en-US" sz="1050"/>
          </a:p>
        </p:txBody>
      </p:sp>
      <p:sp>
        <p:nvSpPr>
          <p:cNvPr id="1003086493" name="Text 13"/>
          <p:cNvSpPr/>
          <p:nvPr/>
        </p:nvSpPr>
        <p:spPr bwMode="auto">
          <a:xfrm>
            <a:off x="2487168" y="334670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Circuit breaker on Care Coordinator Feign calls</a:t>
            </a:r>
            <a:endParaRPr lang="en-US" sz="950"/>
          </a:p>
        </p:txBody>
      </p:sp>
      <p:sp>
        <p:nvSpPr>
          <p:cNvPr id="292881521" name="Text 14"/>
          <p:cNvSpPr/>
          <p:nvPr/>
        </p:nvSpPr>
        <p:spPr bwMode="auto">
          <a:xfrm>
            <a:off x="640080" y="37673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springdoc-openapi 2.3.x</a:t>
            </a:r>
            <a:endParaRPr lang="en-US" sz="1050"/>
          </a:p>
        </p:txBody>
      </p:sp>
      <p:sp>
        <p:nvSpPr>
          <p:cNvPr id="2068147868" name="Text 15"/>
          <p:cNvSpPr/>
          <p:nvPr/>
        </p:nvSpPr>
        <p:spPr bwMode="auto">
          <a:xfrm>
            <a:off x="2487168" y="376732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Swagger UI on all REST services</a:t>
            </a:r>
            <a:endParaRPr lang="en-US" sz="950"/>
          </a:p>
        </p:txBody>
      </p:sp>
      <p:sp>
        <p:nvSpPr>
          <p:cNvPr id="145320871" name="Text 16"/>
          <p:cNvSpPr/>
          <p:nvPr/>
        </p:nvSpPr>
        <p:spPr bwMode="auto">
          <a:xfrm>
            <a:off x="640080" y="418795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 Data JPA</a:t>
            </a:r>
            <a:endParaRPr lang="en-US" sz="1050"/>
          </a:p>
        </p:txBody>
      </p:sp>
      <p:sp>
        <p:nvSpPr>
          <p:cNvPr id="1271254835" name="Text 17"/>
          <p:cNvSpPr/>
          <p:nvPr/>
        </p:nvSpPr>
        <p:spPr bwMode="auto">
          <a:xfrm>
            <a:off x="2487168" y="41879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Repository layer over MySQL</a:t>
            </a:r>
            <a:endParaRPr lang="en-US" sz="950"/>
          </a:p>
        </p:txBody>
      </p:sp>
      <p:sp>
        <p:nvSpPr>
          <p:cNvPr id="1971914246" name="Text 18"/>
          <p:cNvSpPr/>
          <p:nvPr/>
        </p:nvSpPr>
        <p:spPr bwMode="auto">
          <a:xfrm>
            <a:off x="640080" y="460857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Apache Maven 3.9.x</a:t>
            </a:r>
            <a:endParaRPr lang="en-US" sz="1050"/>
          </a:p>
        </p:txBody>
      </p:sp>
      <p:sp>
        <p:nvSpPr>
          <p:cNvPr id="368269614" name="Text 19"/>
          <p:cNvSpPr/>
          <p:nvPr/>
        </p:nvSpPr>
        <p:spPr bwMode="auto">
          <a:xfrm>
            <a:off x="2487168" y="460857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Build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independent per-service POMs (no parent)</a:t>
            </a:r>
            <a:endParaRPr lang="en-US" sz="950"/>
          </a:p>
        </p:txBody>
      </p:sp>
      <p:sp>
        <p:nvSpPr>
          <p:cNvPr id="1492593805" name="Shape 20"/>
          <p:cNvSpPr/>
          <p:nvPr/>
        </p:nvSpPr>
        <p:spPr bwMode="auto">
          <a:xfrm>
            <a:off x="475488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85505115" name="Text 21"/>
          <p:cNvSpPr/>
          <p:nvPr/>
        </p:nvSpPr>
        <p:spPr bwMode="auto">
          <a:xfrm>
            <a:off x="493776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Infrastructure</a:t>
            </a:r>
            <a:endParaRPr lang="en-US" sz="1300"/>
          </a:p>
        </p:txBody>
      </p:sp>
      <p:sp>
        <p:nvSpPr>
          <p:cNvPr id="942715663" name="Text 22"/>
          <p:cNvSpPr/>
          <p:nvPr/>
        </p:nvSpPr>
        <p:spPr bwMode="auto">
          <a:xfrm>
            <a:off x="4937760" y="1664208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MySQL 8</a:t>
            </a:r>
            <a:endParaRPr lang="en-US" sz="1050"/>
          </a:p>
        </p:txBody>
      </p:sp>
      <p:sp>
        <p:nvSpPr>
          <p:cNvPr id="812053831" name="Text 23"/>
          <p:cNvSpPr/>
          <p:nvPr/>
        </p:nvSpPr>
        <p:spPr bwMode="auto">
          <a:xfrm>
            <a:off x="6656832" y="1664208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Relational persistence, one schema per provider</a:t>
            </a:r>
            <a:endParaRPr lang="en-US" sz="950"/>
          </a:p>
        </p:txBody>
      </p:sp>
      <p:sp>
        <p:nvSpPr>
          <p:cNvPr id="1167855798" name="Text 24"/>
          <p:cNvSpPr/>
          <p:nvPr/>
        </p:nvSpPr>
        <p:spPr bwMode="auto">
          <a:xfrm>
            <a:off x="4937760" y="2084832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Docker + Compose</a:t>
            </a:r>
            <a:endParaRPr lang="en-US" sz="1050"/>
          </a:p>
        </p:txBody>
      </p:sp>
      <p:sp>
        <p:nvSpPr>
          <p:cNvPr id="1356975714" name="Text 25"/>
          <p:cNvSpPr/>
          <p:nvPr/>
        </p:nvSpPr>
        <p:spPr bwMode="auto">
          <a:xfrm>
            <a:off x="6656832" y="2084832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Single-command full-stack deployment</a:t>
            </a:r>
            <a:endParaRPr lang="en-US" sz="950"/>
          </a:p>
        </p:txBody>
      </p:sp>
      <p:sp>
        <p:nvSpPr>
          <p:cNvPr id="1499500837" name="Text 26"/>
          <p:cNvSpPr/>
          <p:nvPr/>
        </p:nvSpPr>
        <p:spPr bwMode="auto">
          <a:xfrm>
            <a:off x="4937760" y="2505456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Netflix Eureka</a:t>
            </a:r>
            <a:endParaRPr lang="en-US" sz="1050"/>
          </a:p>
        </p:txBody>
      </p:sp>
      <p:sp>
        <p:nvSpPr>
          <p:cNvPr id="334194542" name="Text 27"/>
          <p:cNvSpPr/>
          <p:nvPr/>
        </p:nvSpPr>
        <p:spPr bwMode="auto">
          <a:xfrm>
            <a:off x="6656832" y="2505456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registry, self-registration, health checks</a:t>
            </a:r>
            <a:endParaRPr lang="en-US" sz="950"/>
          </a:p>
        </p:txBody>
      </p:sp>
      <p:sp>
        <p:nvSpPr>
          <p:cNvPr id="245702325" name="Text 28"/>
          <p:cNvSpPr/>
          <p:nvPr/>
        </p:nvSpPr>
        <p:spPr bwMode="auto">
          <a:xfrm>
            <a:off x="4937760" y="292608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Spring Cloud Gateway</a:t>
            </a:r>
            <a:endParaRPr lang="en-US" sz="1050"/>
          </a:p>
        </p:txBody>
      </p:sp>
      <p:sp>
        <p:nvSpPr>
          <p:cNvPr id="734368084" name="Text 29"/>
          <p:cNvSpPr/>
          <p:nvPr/>
        </p:nvSpPr>
        <p:spPr bwMode="auto">
          <a:xfrm>
            <a:off x="6656832" y="2926080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API Gateway, lb:// routing, path rewriting</a:t>
            </a:r>
            <a:endParaRPr lang="en-US" sz="950"/>
          </a:p>
        </p:txBody>
      </p:sp>
      <p:sp>
        <p:nvSpPr>
          <p:cNvPr id="12822807" name="Text 30"/>
          <p:cNvSpPr/>
          <p:nvPr/>
        </p:nvSpPr>
        <p:spPr bwMode="auto">
          <a:xfrm>
            <a:off x="4937760" y="334670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Spring Cloud Config</a:t>
            </a:r>
            <a:endParaRPr lang="en-US" sz="1050"/>
          </a:p>
        </p:txBody>
      </p:sp>
      <p:sp>
        <p:nvSpPr>
          <p:cNvPr id="16845815" name="Text 31"/>
          <p:cNvSpPr/>
          <p:nvPr/>
        </p:nvSpPr>
        <p:spPr bwMode="auto">
          <a:xfrm>
            <a:off x="6656832" y="3346704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Centralised externalised config from git repo</a:t>
            </a:r>
            <a:endParaRPr lang="en-US" sz="950"/>
          </a:p>
        </p:txBody>
      </p:sp>
      <p:sp>
        <p:nvSpPr>
          <p:cNvPr id="130216726" name="Text 32"/>
          <p:cNvSpPr/>
          <p:nvPr/>
        </p:nvSpPr>
        <p:spPr bwMode="auto">
          <a:xfrm>
            <a:off x="4937760" y="3767328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Spring Cloud OpenFeign</a:t>
            </a:r>
            <a:endParaRPr lang="en-US" sz="1050"/>
          </a:p>
        </p:txBody>
      </p:sp>
      <p:sp>
        <p:nvSpPr>
          <p:cNvPr id="1708941806" name="Text 33"/>
          <p:cNvSpPr/>
          <p:nvPr/>
        </p:nvSpPr>
        <p:spPr bwMode="auto">
          <a:xfrm>
            <a:off x="6656832" y="3767328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 client with Eureka name resolution</a:t>
            </a:r>
            <a:endParaRPr lang="en-US" sz="950"/>
          </a:p>
        </p:txBody>
      </p:sp>
      <p:sp>
        <p:nvSpPr>
          <p:cNvPr id="560963437" name="Text 34"/>
          <p:cNvSpPr/>
          <p:nvPr/>
        </p:nvSpPr>
        <p:spPr bwMode="auto">
          <a:xfrm>
            <a:off x="4937760" y="4187952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@Async / ThreadPool</a:t>
            </a:r>
            <a:endParaRPr lang="en-US" sz="1050"/>
          </a:p>
        </p:txBody>
      </p:sp>
      <p:sp>
        <p:nvSpPr>
          <p:cNvPr id="1734938894" name="Text 35"/>
          <p:cNvSpPr/>
          <p:nvPr/>
        </p:nvSpPr>
        <p:spPr bwMode="auto">
          <a:xfrm>
            <a:off x="6656832" y="4187952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Non-blocking processing in Laboratorio &amp; Imaging</a:t>
            </a:r>
            <a:endParaRPr lang="en-US" sz="950"/>
          </a:p>
        </p:txBody>
      </p:sp>
      <p:sp>
        <p:nvSpPr>
          <p:cNvPr id="1418217081" name="Text 36"/>
          <p:cNvSpPr/>
          <p:nvPr/>
        </p:nvSpPr>
        <p:spPr bwMode="auto">
          <a:xfrm>
            <a:off x="4937760" y="4608576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CompletableFuture</a:t>
            </a:r>
            <a:endParaRPr lang="en-US" sz="1050"/>
          </a:p>
        </p:txBody>
      </p:sp>
      <p:sp>
        <p:nvSpPr>
          <p:cNvPr id="1952290762" name="Text 37"/>
          <p:cNvSpPr/>
          <p:nvPr/>
        </p:nvSpPr>
        <p:spPr bwMode="auto">
          <a:xfrm>
            <a:off x="6656832" y="4608576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Fork-join parallel orchestration in Care Coordinator</a:t>
            </a:r>
            <a:endParaRPr lang="en-US" sz="9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/>
  <cp:revision>8</cp:revision>
  <dcterms:created xsi:type="dcterms:W3CDTF">2026-06-22T13:52:18Z</dcterms:created>
  <dcterms:modified xsi:type="dcterms:W3CDTF">2026-06-25T07:17:10Z</dcterms:modified>
</cp:coreProperties>
</file>